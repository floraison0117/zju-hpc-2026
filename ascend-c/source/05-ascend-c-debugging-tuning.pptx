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8" r:id="rId1"/>
    <p:sldMasterId id="2147483797" r:id="rId2"/>
    <p:sldMasterId id="2147483816" r:id="rId3"/>
    <p:sldMasterId id="2147483897" r:id="rId4"/>
    <p:sldMasterId id="2147483683" r:id="rId5"/>
  </p:sldMasterIdLst>
  <p:notesMasterIdLst>
    <p:notesMasterId r:id="rId39"/>
  </p:notesMasterIdLst>
  <p:handoutMasterIdLst>
    <p:handoutMasterId r:id="rId40"/>
  </p:handoutMasterIdLst>
  <p:sldIdLst>
    <p:sldId id="307" r:id="rId6"/>
    <p:sldId id="306" r:id="rId7"/>
    <p:sldId id="308" r:id="rId8"/>
    <p:sldId id="320" r:id="rId9"/>
    <p:sldId id="321" r:id="rId10"/>
    <p:sldId id="322" r:id="rId11"/>
    <p:sldId id="323" r:id="rId12"/>
    <p:sldId id="324" r:id="rId13"/>
    <p:sldId id="328" r:id="rId14"/>
    <p:sldId id="329" r:id="rId15"/>
    <p:sldId id="330" r:id="rId16"/>
    <p:sldId id="331" r:id="rId17"/>
    <p:sldId id="317" r:id="rId18"/>
    <p:sldId id="332" r:id="rId19"/>
    <p:sldId id="333" r:id="rId20"/>
    <p:sldId id="343" r:id="rId21"/>
    <p:sldId id="334" r:id="rId22"/>
    <p:sldId id="318" r:id="rId23"/>
    <p:sldId id="335" r:id="rId24"/>
    <p:sldId id="336" r:id="rId25"/>
    <p:sldId id="337" r:id="rId26"/>
    <p:sldId id="338" r:id="rId27"/>
    <p:sldId id="339" r:id="rId28"/>
    <p:sldId id="340" r:id="rId29"/>
    <p:sldId id="319" r:id="rId30"/>
    <p:sldId id="341" r:id="rId31"/>
    <p:sldId id="344" r:id="rId32"/>
    <p:sldId id="345" r:id="rId33"/>
    <p:sldId id="342" r:id="rId34"/>
    <p:sldId id="325" r:id="rId35"/>
    <p:sldId id="326" r:id="rId36"/>
    <p:sldId id="327" r:id="rId37"/>
    <p:sldId id="280" r:id="rId38"/>
  </p:sldIdLst>
  <p:sldSz cx="12196763" cy="6858000"/>
  <p:notesSz cx="6858000" cy="91440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2" pos="372" userDrawn="1">
          <p15:clr>
            <a:srgbClr val="A4A3A4"/>
          </p15:clr>
        </p15:guide>
        <p15:guide id="3" orient="horz" pos="709" userDrawn="1">
          <p15:clr>
            <a:srgbClr val="A4A3A4"/>
          </p15:clr>
        </p15:guide>
        <p15:guide id="4" orient="horz" pos="3974" userDrawn="1">
          <p15:clr>
            <a:srgbClr val="A4A3A4"/>
          </p15:clr>
        </p15:guide>
        <p15:guide id="5" pos="731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a:srgbClr val="E9002F"/>
    <a:srgbClr val="595757"/>
    <a:srgbClr val="221815"/>
    <a:srgbClr val="888888"/>
    <a:srgbClr val="898989"/>
    <a:srgbClr val="B5B5B5"/>
    <a:srgbClr val="DDDDDD"/>
    <a:srgbClr val="D0E8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423" autoAdjust="0"/>
    <p:restoredTop sz="96291"/>
  </p:normalViewPr>
  <p:slideViewPr>
    <p:cSldViewPr snapToGrid="0" snapToObjects="1">
      <p:cViewPr varScale="1">
        <p:scale>
          <a:sx n="111" d="100"/>
          <a:sy n="111" d="100"/>
        </p:scale>
        <p:origin x="1140" y="114"/>
      </p:cViewPr>
      <p:guideLst>
        <p:guide orient="horz" pos="572"/>
        <p:guide pos="372"/>
        <p:guide orient="horz" pos="709"/>
        <p:guide orient="horz" pos="3974"/>
        <p:guide pos="7311"/>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p:cViewPr varScale="1">
        <p:scale>
          <a:sx n="89" d="100"/>
          <a:sy n="89" d="100"/>
        </p:scale>
        <p:origin x="3124" y="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CF71B8-DF2A-2E41-BE66-2E18A767DA8A}" type="datetimeFigureOut">
              <a:rPr lang="en-US" smtClean="0"/>
              <a:t>12/3/2024</a:t>
            </a:fld>
            <a:endParaRPr lang="en-US"/>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5F0CC5-85BE-A64A-BD47-54C66F7E93E3}" type="slidenum">
              <a:rPr lang="en-US" smtClean="0"/>
              <a:t>‹#›</a:t>
            </a:fld>
            <a:endParaRPr lang="en-US"/>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60A27-BF12-6744-9E93-932A0E34D8BB}" type="datetimeFigureOut">
              <a:rPr lang="en-US" smtClean="0"/>
              <a:t>12/3/2024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326F3-4732-B74B-9C70-D0992466E499}" type="slidenum">
              <a:rPr lang="en-US" smtClean="0"/>
              <a:t>‹#›</a:t>
            </a:fld>
            <a:endParaRPr lang="en-US"/>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0" algn="l" defTabSz="1219304" rtl="0" eaLnBrk="1" latinLnBrk="0" hangingPunct="1">
      <a:defRPr sz="1600" kern="1200">
        <a:solidFill>
          <a:schemeClr val="tx1"/>
        </a:solidFill>
        <a:latin typeface="+mn-lt"/>
        <a:ea typeface="+mn-ea"/>
        <a:cs typeface="+mn-cs"/>
      </a:defRPr>
    </a:lvl1pPr>
    <a:lvl2pPr marL="609651" algn="l" defTabSz="1219304" rtl="0" eaLnBrk="1" latinLnBrk="0" hangingPunct="1">
      <a:defRPr sz="1600" kern="1200">
        <a:solidFill>
          <a:schemeClr val="tx1"/>
        </a:solidFill>
        <a:latin typeface="+mn-lt"/>
        <a:ea typeface="+mn-ea"/>
        <a:cs typeface="+mn-cs"/>
      </a:defRPr>
    </a:lvl2pPr>
    <a:lvl3pPr marL="1219304" algn="l" defTabSz="1219304" rtl="0" eaLnBrk="1" latinLnBrk="0" hangingPunct="1">
      <a:defRPr sz="1600" kern="1200">
        <a:solidFill>
          <a:schemeClr val="tx1"/>
        </a:solidFill>
        <a:latin typeface="+mn-lt"/>
        <a:ea typeface="+mn-ea"/>
        <a:cs typeface="+mn-cs"/>
      </a:defRPr>
    </a:lvl3pPr>
    <a:lvl4pPr marL="1828957" algn="l" defTabSz="1219304" rtl="0" eaLnBrk="1" latinLnBrk="0" hangingPunct="1">
      <a:defRPr sz="1600" kern="1200">
        <a:solidFill>
          <a:schemeClr val="tx1"/>
        </a:solidFill>
        <a:latin typeface="+mn-lt"/>
        <a:ea typeface="+mn-ea"/>
        <a:cs typeface="+mn-cs"/>
      </a:defRPr>
    </a:lvl4pPr>
    <a:lvl5pPr marL="2438609" algn="l" defTabSz="1219304" rtl="0" eaLnBrk="1" latinLnBrk="0" hangingPunct="1">
      <a:defRPr sz="1600" kern="1200">
        <a:solidFill>
          <a:schemeClr val="tx1"/>
        </a:solidFill>
        <a:latin typeface="+mn-lt"/>
        <a:ea typeface="+mn-ea"/>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7326F3-4732-B74B-9C70-D0992466E499}" type="slidenum">
              <a:rPr lang="en-US" smtClean="0"/>
              <a:t>1</a:t>
            </a:fld>
            <a:endParaRPr lang="en-US"/>
          </a:p>
        </p:txBody>
      </p:sp>
    </p:spTree>
    <p:extLst>
      <p:ext uri="{BB962C8B-B14F-4D97-AF65-F5344CB8AC3E}">
        <p14:creationId xmlns:p14="http://schemas.microsoft.com/office/powerpoint/2010/main" val="3954106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7326F3-4732-B74B-9C70-D0992466E499}" type="slidenum">
              <a:rPr lang="en-US" smtClean="0"/>
              <a:t>33</a:t>
            </a:fld>
            <a:endParaRPr lang="en-US"/>
          </a:p>
        </p:txBody>
      </p:sp>
    </p:spTree>
    <p:extLst>
      <p:ext uri="{BB962C8B-B14F-4D97-AF65-F5344CB8AC3E}">
        <p14:creationId xmlns:p14="http://schemas.microsoft.com/office/powerpoint/2010/main" val="13118456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攀登">
    <p:bg>
      <p:bgPr>
        <a:solidFill>
          <a:srgbClr val="FFFFFF"/>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BB5F381-98AB-4934-A504-21ACFACA4F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81" y="0"/>
            <a:ext cx="12192000" cy="6858000"/>
          </a:xfrm>
          <a:prstGeom prst="rect">
            <a:avLst/>
          </a:prstGeom>
        </p:spPr>
      </p:pic>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6077" y="562718"/>
            <a:ext cx="1069222" cy="1025944"/>
          </a:xfrm>
          <a:prstGeom prst="rect">
            <a:avLst/>
          </a:prstGeom>
        </p:spPr>
      </p:pic>
      <p:pic>
        <p:nvPicPr>
          <p:cNvPr id="10" name="图片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6077" y="562718"/>
            <a:ext cx="1067473" cy="1026710"/>
          </a:xfrm>
          <a:prstGeom prst="rect">
            <a:avLst/>
          </a:prstGeom>
          <a:noFill/>
          <a:ln>
            <a:noFill/>
          </a:ln>
        </p:spPr>
      </p:pic>
      <p:sp>
        <p:nvSpPr>
          <p:cNvPr id="5"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666077" y="2738745"/>
            <a:ext cx="6559809" cy="690255"/>
          </a:xfrm>
          <a:prstGeom prst="rect">
            <a:avLst/>
          </a:prstGeom>
          <a:ln>
            <a:noFill/>
            <a:prstDash val="dash"/>
          </a:ln>
        </p:spPr>
        <p:txBody>
          <a:bodyPr lIns="0" tIns="0" rIns="0" bIns="0" anchor="t">
            <a:normAutofit/>
          </a:bodyPr>
          <a:lstStyle>
            <a:lvl1pPr algn="l">
              <a:lnSpc>
                <a:spcPct val="100000"/>
              </a:lnSpc>
              <a:defRPr sz="48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Tree>
    <p:extLst>
      <p:ext uri="{BB962C8B-B14F-4D97-AF65-F5344CB8AC3E}">
        <p14:creationId xmlns:p14="http://schemas.microsoft.com/office/powerpoint/2010/main" val="1757562615"/>
      </p:ext>
    </p:extLst>
  </p:cSld>
  <p:clrMapOvr>
    <a:masterClrMapping/>
  </p:clrMapOvr>
  <p:extLst>
    <p:ext uri="{DCECCB84-F9BA-43D5-87BE-67443E8EF086}">
      <p15:sldGuideLst xmlns:p15="http://schemas.microsoft.com/office/powerpoint/2012/main">
        <p15:guide id="1" orient="horz" pos="341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目录页">
    <p:bg>
      <p:bgPr>
        <a:solidFill>
          <a:srgbClr val="EBEBEB"/>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8F253EC-E992-90CA-66A0-0C07F09DFCCE}"/>
              </a:ext>
            </a:extLst>
          </p:cNvPr>
          <p:cNvSpPr/>
          <p:nvPr userDrawn="1"/>
        </p:nvSpPr>
        <p:spPr>
          <a:xfrm>
            <a:off x="0" y="0"/>
            <a:ext cx="12196763"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C8514F1A-C559-F4B2-5B39-6C21732C8287}"/>
              </a:ext>
            </a:extLst>
          </p:cNvPr>
          <p:cNvSpPr txBox="1"/>
          <p:nvPr userDrawn="1"/>
        </p:nvSpPr>
        <p:spPr>
          <a:xfrm>
            <a:off x="3048000" y="6407378"/>
            <a:ext cx="6100762" cy="230832"/>
          </a:xfrm>
          <a:prstGeom prst="rect">
            <a:avLst/>
          </a:prstGeom>
          <a:noFill/>
        </p:spPr>
        <p:txBody>
          <a:bodyPr wrap="square">
            <a:spAutoFit/>
          </a:bodyPr>
          <a:lstStyle/>
          <a:p>
            <a:pPr algn="ctr" defTabSz="822960">
              <a:defRPr sz="800">
                <a:latin typeface="Verdana"/>
                <a:ea typeface="Verdana"/>
                <a:cs typeface="Verdana"/>
                <a:sym typeface="Verdana"/>
              </a:defRPr>
            </a:pPr>
            <a:r>
              <a:rPr lang="zh-CN" altLang="en-US" sz="900" dirty="0">
                <a:latin typeface="Arial" panose="020B0604020202020204" pitchFamily="34" charset="0"/>
                <a:ea typeface="微软雅黑" panose="020B0503020204020204" pitchFamily="34" charset="-122"/>
                <a:cs typeface="Arial" panose="020B0604020202020204" pitchFamily="34" charset="0"/>
              </a:rPr>
              <a:t>哈尔滨工业大学软件学院 </a:t>
            </a:r>
            <a:r>
              <a:rPr lang="en-US" altLang="zh-CN" sz="900" dirty="0">
                <a:latin typeface="Arial" panose="020B0604020202020204" pitchFamily="34" charset="0"/>
                <a:ea typeface="微软雅黑" panose="020B0503020204020204" pitchFamily="34" charset="-122"/>
                <a:cs typeface="Arial" panose="020B0604020202020204" pitchFamily="34" charset="0"/>
              </a:rPr>
              <a:t>®</a:t>
            </a:r>
          </a:p>
        </p:txBody>
      </p:sp>
      <p:sp>
        <p:nvSpPr>
          <p:cNvPr id="2" name="矩形 1">
            <a:extLst>
              <a:ext uri="{FF2B5EF4-FFF2-40B4-BE49-F238E27FC236}">
                <a16:creationId xmlns:a16="http://schemas.microsoft.com/office/drawing/2014/main" id="{43F3CBD6-EDB9-1B8D-A051-A76DB7C6A6B7}"/>
              </a:ext>
            </a:extLst>
          </p:cNvPr>
          <p:cNvSpPr/>
          <p:nvPr userDrawn="1"/>
        </p:nvSpPr>
        <p:spPr>
          <a:xfrm>
            <a:off x="0" y="0"/>
            <a:ext cx="2590800" cy="453957"/>
          </a:xfrm>
          <a:prstGeom prst="rect">
            <a:avLst/>
          </a:prstGeom>
          <a:gradFill>
            <a:gsLst>
              <a:gs pos="0">
                <a:schemeClr val="bg1">
                  <a:lumMod val="20000"/>
                  <a:lumOff val="80000"/>
                </a:schemeClr>
              </a:gs>
              <a:gs pos="100000">
                <a:schemeClr val="bg1">
                  <a:lumMod val="20000"/>
                  <a:lumOff val="80000"/>
                  <a:alpha val="0"/>
                </a:schemeClr>
              </a:gs>
            </a:gsLst>
            <a:lin ang="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5" name="矩形 4">
            <a:extLst>
              <a:ext uri="{FF2B5EF4-FFF2-40B4-BE49-F238E27FC236}">
                <a16:creationId xmlns:a16="http://schemas.microsoft.com/office/drawing/2014/main" id="{F4D89F75-E7E2-0ECC-B8CB-3A67226DBA6C}"/>
              </a:ext>
            </a:extLst>
          </p:cNvPr>
          <p:cNvSpPr/>
          <p:nvPr userDrawn="1"/>
        </p:nvSpPr>
        <p:spPr>
          <a:xfrm flipH="1">
            <a:off x="9605963" y="0"/>
            <a:ext cx="2590800" cy="453957"/>
          </a:xfrm>
          <a:prstGeom prst="rect">
            <a:avLst/>
          </a:prstGeom>
          <a:gradFill>
            <a:gsLst>
              <a:gs pos="0">
                <a:schemeClr val="bg1">
                  <a:lumMod val="20000"/>
                  <a:lumOff val="80000"/>
                </a:schemeClr>
              </a:gs>
              <a:gs pos="100000">
                <a:schemeClr val="bg1">
                  <a:lumMod val="20000"/>
                  <a:lumOff val="80000"/>
                  <a:alpha val="0"/>
                </a:schemeClr>
              </a:gs>
            </a:gsLst>
            <a:lin ang="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6" name="TextBox 1">
            <a:extLst>
              <a:ext uri="{FF2B5EF4-FFF2-40B4-BE49-F238E27FC236}">
                <a16:creationId xmlns:a16="http://schemas.microsoft.com/office/drawing/2014/main" id="{DC9185F3-5FA6-8561-8A1F-EBA859609B6C}"/>
              </a:ext>
            </a:extLst>
          </p:cNvPr>
          <p:cNvSpPr txBox="1"/>
          <p:nvPr userDrawn="1"/>
        </p:nvSpPr>
        <p:spPr>
          <a:xfrm>
            <a:off x="150514" y="61942"/>
            <a:ext cx="1853759" cy="330072"/>
          </a:xfrm>
          <a:prstGeom prst="rect">
            <a:avLst/>
          </a:prstGeom>
          <a:noFill/>
        </p:spPr>
        <p:txBody>
          <a:bodyPr wrap="none" lIns="72000" tIns="72000" rIns="72000" bIns="72000" rtlCol="0">
            <a:spAutoFit/>
          </a:bodyPr>
          <a:lstStyle/>
          <a:p>
            <a:pPr defTabSz="914400"/>
            <a:r>
              <a:rPr lang="en-US" altLang="zh-CN" sz="1200" dirty="0">
                <a:solidFill>
                  <a:prstClr val="black"/>
                </a:solidFill>
                <a:latin typeface="Arial" panose="020B0604020202020204" pitchFamily="34" charset="0"/>
                <a:ea typeface="微软雅黑" panose="020B0503020204020204" pitchFamily="34" charset="-122"/>
                <a:cs typeface="Arial" panose="020B0604020202020204" pitchFamily="34" charset="0"/>
              </a:rPr>
              <a:t>5 Ascend C</a:t>
            </a:r>
            <a:r>
              <a:rPr lang="zh-CN" altLang="en-US" sz="1200" dirty="0">
                <a:solidFill>
                  <a:prstClr val="black"/>
                </a:solidFill>
                <a:latin typeface="Arial" panose="020B0604020202020204" pitchFamily="34" charset="0"/>
                <a:ea typeface="微软雅黑" panose="020B0503020204020204" pitchFamily="34" charset="-122"/>
                <a:cs typeface="Arial" panose="020B0604020202020204" pitchFamily="34" charset="0"/>
              </a:rPr>
              <a:t>算子调试调优</a:t>
            </a:r>
          </a:p>
        </p:txBody>
      </p:sp>
      <p:sp>
        <p:nvSpPr>
          <p:cNvPr id="7" name="TextBox 1">
            <a:extLst>
              <a:ext uri="{FF2B5EF4-FFF2-40B4-BE49-F238E27FC236}">
                <a16:creationId xmlns:a16="http://schemas.microsoft.com/office/drawing/2014/main" id="{120A125F-1FB9-6068-F37E-25A0FB03953F}"/>
              </a:ext>
            </a:extLst>
          </p:cNvPr>
          <p:cNvSpPr txBox="1"/>
          <p:nvPr userDrawn="1"/>
        </p:nvSpPr>
        <p:spPr>
          <a:xfrm>
            <a:off x="9982094" y="61942"/>
            <a:ext cx="2059392" cy="330072"/>
          </a:xfrm>
          <a:prstGeom prst="rect">
            <a:avLst/>
          </a:prstGeom>
          <a:noFill/>
        </p:spPr>
        <p:txBody>
          <a:bodyPr wrap="none" lIns="72000" tIns="72000" rIns="72000" bIns="72000" rtlCol="0">
            <a:spAutoFit/>
          </a:bodyPr>
          <a:lstStyle/>
          <a:p>
            <a:pPr defTabSz="914400"/>
            <a:r>
              <a:rPr lang="en-US" altLang="zh-CN" sz="1200" dirty="0">
                <a:solidFill>
                  <a:prstClr val="black"/>
                </a:solidFill>
                <a:latin typeface="Arial" panose="020B0604020202020204" pitchFamily="34" charset="0"/>
                <a:ea typeface="微软雅黑" panose="020B0503020204020204" pitchFamily="34" charset="-122"/>
                <a:cs typeface="Arial" panose="020B0604020202020204" pitchFamily="34" charset="0"/>
              </a:rPr>
              <a:t>Ascend C</a:t>
            </a:r>
            <a:r>
              <a:rPr lang="zh-CN" altLang="en-US" sz="1200" dirty="0">
                <a:solidFill>
                  <a:prstClr val="black"/>
                </a:solidFill>
                <a:latin typeface="Arial" panose="020B0604020202020204" pitchFamily="34" charset="0"/>
                <a:ea typeface="微软雅黑" panose="020B0503020204020204" pitchFamily="34" charset="-122"/>
                <a:cs typeface="Arial" panose="020B0604020202020204" pitchFamily="34" charset="0"/>
              </a:rPr>
              <a:t>异构并行程序设计</a:t>
            </a:r>
          </a:p>
        </p:txBody>
      </p:sp>
    </p:spTree>
    <p:extLst>
      <p:ext uri="{BB962C8B-B14F-4D97-AF65-F5344CB8AC3E}">
        <p14:creationId xmlns:p14="http://schemas.microsoft.com/office/powerpoint/2010/main" val="168422980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Microsoft YaHei" panose="020B0503020204020204" pitchFamily="34" charset="-122"/>
                <a:ea typeface="Microsoft YaHei" panose="020B0503020204020204" pitchFamily="34" charset="-122"/>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zh-CN" altLang="en-US" dirty="0"/>
              <a:t>单击此处添加标题</a:t>
            </a:r>
            <a:endParaRPr lang="en-US" dirty="0"/>
          </a:p>
        </p:txBody>
      </p:sp>
      <p:sp>
        <p:nvSpPr>
          <p:cNvPr id="5" name="Content Placeholder 2">
            <a:extLst>
              <a:ext uri="{FF2B5EF4-FFF2-40B4-BE49-F238E27FC236}">
                <a16:creationId xmlns:a16="http://schemas.microsoft.com/office/drawing/2014/main" id="{CA8B3F0C-616F-224A-B32F-9F9BF5EEE1BC}"/>
              </a:ext>
            </a:extLst>
          </p:cNvPr>
          <p:cNvSpPr>
            <a:spLocks noGrp="1"/>
          </p:cNvSpPr>
          <p:nvPr>
            <p:ph idx="12" hasCustomPrompt="1"/>
          </p:nvPr>
        </p:nvSpPr>
        <p:spPr>
          <a:xfrm>
            <a:off x="726021" y="1512875"/>
            <a:ext cx="10733557" cy="4690459"/>
          </a:xfrm>
          <a:prstGeom prst="rect">
            <a:avLst/>
          </a:prstGeom>
        </p:spPr>
        <p:txBody>
          <a:bodyPr lIns="0" tIns="0" rIns="0" bIns="0"/>
          <a:lstStyle>
            <a:lvl1pPr marL="179388" marR="0" indent="-168275" algn="l" defTabSz="1187798"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8088" algn="ctr"/>
              </a:tabLst>
              <a:defRPr sz="18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329026" marR="0" indent="-168275" algn="l" defTabSz="1187798" rtl="0" eaLnBrk="1" fontAlgn="auto" latinLnBrk="0" hangingPunct="1">
              <a:lnSpc>
                <a:spcPct val="100000"/>
              </a:lnSpc>
              <a:spcBef>
                <a:spcPts val="0"/>
              </a:spcBef>
              <a:spcAft>
                <a:spcPts val="600"/>
              </a:spcAft>
              <a:buClr>
                <a:schemeClr val="tx1"/>
              </a:buClr>
              <a:buSzTx/>
              <a:buFont typeface=".AppleSystemUIFont"/>
              <a:buChar char="&gt;"/>
              <a:tabLst>
                <a:tab pos="1208088" algn="ctr"/>
              </a:tabLst>
              <a:defRPr sz="1600" baseline="0">
                <a:latin typeface="Microsoft YaHei" panose="020B0503020204020204" pitchFamily="34" charset="-122"/>
                <a:ea typeface="Microsoft YaHei" panose="020B0503020204020204" pitchFamily="34" charset="-122"/>
              </a:defRPr>
            </a:lvl2pPr>
            <a:lvl3pPr marL="1098575" marR="0" indent="-168275" algn="l" defTabSz="1187798" rtl="0" eaLnBrk="1" fontAlgn="auto" latinLnBrk="0" hangingPunct="1">
              <a:lnSpc>
                <a:spcPct val="100000"/>
              </a:lnSpc>
              <a:spcBef>
                <a:spcPts val="0"/>
              </a:spcBef>
              <a:spcAft>
                <a:spcPts val="600"/>
              </a:spcAft>
              <a:buClr>
                <a:schemeClr val="tx1"/>
              </a:buClr>
              <a:buSzTx/>
              <a:buFont typeface=".AppleSystemUIFont"/>
              <a:buChar char="-"/>
              <a:tabLst>
                <a:tab pos="1208088" algn="ctr"/>
              </a:tabLst>
              <a:defRPr sz="1299" baseline="0">
                <a:latin typeface="Microsoft YaHei" panose="020B0503020204020204" pitchFamily="34" charset="-122"/>
                <a:ea typeface="Microsoft YaHei" panose="020B0503020204020204" pitchFamily="34" charset="-122"/>
              </a:defRPr>
            </a:lvl3pPr>
            <a:lvl4pPr marL="525850" indent="-171159">
              <a:buFont typeface="Arial" panose="020B0604020202020204" pitchFamily="34" charset="0"/>
              <a:buChar char="•"/>
              <a:tabLst>
                <a:tab pos="1208420" algn="ctr"/>
              </a:tabLst>
              <a:defRPr sz="1299" baseline="0"/>
            </a:lvl4pPr>
            <a:lvl5pPr marL="525850" indent="-171159">
              <a:buFont typeface="Arial" panose="020B0604020202020204" pitchFamily="34" charset="0"/>
              <a:buChar char="•"/>
              <a:tabLst>
                <a:tab pos="1208420" algn="ctr"/>
              </a:tabLst>
              <a:defRPr sz="1299" baseline="0"/>
            </a:lvl5pPr>
          </a:lstStyle>
          <a:p>
            <a:pPr lvl="0"/>
            <a:r>
              <a:rPr lang="zh-CN" altLang="en-US" dirty="0"/>
              <a:t>单击此处添加文本</a:t>
            </a:r>
            <a:endParaRPr lang="en-US" dirty="0"/>
          </a:p>
          <a:p>
            <a:pPr marL="329026" marR="0" lvl="1"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zh-CN" altLang="en-US" dirty="0"/>
              <a:t>单击此处添加文本</a:t>
            </a:r>
            <a:endParaRPr lang="en-US" dirty="0"/>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zh-CN" altLang="en-US" dirty="0"/>
              <a:t>单击此处添加文本</a:t>
            </a:r>
            <a:endParaRPr lang="en-US" dirty="0"/>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endParaRPr lang="en-US" altLang="zh-CN" dirty="0"/>
          </a:p>
        </p:txBody>
      </p:sp>
    </p:spTree>
    <p:extLst>
      <p:ext uri="{BB962C8B-B14F-4D97-AF65-F5344CB8AC3E}">
        <p14:creationId xmlns:p14="http://schemas.microsoft.com/office/powerpoint/2010/main" val="2185791374"/>
      </p:ext>
    </p:extLst>
  </p:cSld>
  <p:clrMapOvr>
    <a:masterClrMapping/>
  </p:clrMapOvr>
  <p:extLst>
    <p:ext uri="{DCECCB84-F9BA-43D5-87BE-67443E8EF086}">
      <p15:sldGuideLst xmlns:p15="http://schemas.microsoft.com/office/powerpoint/2012/main">
        <p15:guide id="2" pos="384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6970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AA04B147-2E7E-4917-8235-4561D75BDAB2}"/>
              </a:ext>
            </a:extLst>
          </p:cNvPr>
          <p:cNvSpPr/>
          <p:nvPr userDrawn="1"/>
        </p:nvSpPr>
        <p:spPr>
          <a:xfrm>
            <a:off x="0" y="1415045"/>
            <a:ext cx="12196763" cy="5442956"/>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noFill/>
              </a:ln>
            </a:endParaRPr>
          </a:p>
        </p:txBody>
      </p:sp>
    </p:spTree>
    <p:extLst>
      <p:ext uri="{BB962C8B-B14F-4D97-AF65-F5344CB8AC3E}">
        <p14:creationId xmlns:p14="http://schemas.microsoft.com/office/powerpoint/2010/main" val="1396469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束页">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960DD1-8AC3-8F46-9D2D-BF81187F43FC}"/>
              </a:ext>
            </a:extLst>
          </p:cNvPr>
          <p:cNvSpPr txBox="1"/>
          <p:nvPr userDrawn="1"/>
        </p:nvSpPr>
        <p:spPr>
          <a:xfrm>
            <a:off x="607486" y="1402064"/>
            <a:ext cx="3921034" cy="854717"/>
          </a:xfrm>
          <a:prstGeom prst="rect">
            <a:avLst/>
          </a:prstGeom>
          <a:noFill/>
        </p:spPr>
        <p:txBody>
          <a:bodyPr wrap="square" rtlCol="0">
            <a:spAutoFit/>
          </a:bodyPr>
          <a:lstStyle/>
          <a:p>
            <a:pPr algn="l"/>
            <a:r>
              <a:rPr lang="en-US" sz="4800" dirty="0">
                <a:solidFill>
                  <a:schemeClr val="tx1"/>
                </a:solidFill>
              </a:rPr>
              <a:t>Thank you.</a:t>
            </a:r>
          </a:p>
        </p:txBody>
      </p:sp>
    </p:spTree>
    <p:extLst>
      <p:ext uri="{BB962C8B-B14F-4D97-AF65-F5344CB8AC3E}">
        <p14:creationId xmlns:p14="http://schemas.microsoft.com/office/powerpoint/2010/main" val="366478601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4.tiff"/></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5.xml"/><Relationship Id="rId1" Type="http://schemas.openxmlformats.org/officeDocument/2006/relationships/slideLayout" Target="../slideLayouts/slideLayout6.xml"/><Relationship Id="rId4" Type="http://schemas.openxmlformats.org/officeDocument/2006/relationships/image" Target="../media/image7.tif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9181AA-8E93-7743-ADEB-8A06A0DFC13A}"/>
              </a:ext>
            </a:extLst>
          </p:cNvPr>
          <p:cNvSpPr/>
          <p:nvPr userDrawn="1"/>
        </p:nvSpPr>
        <p:spPr>
          <a:xfrm>
            <a:off x="0" y="5590903"/>
            <a:ext cx="12196763" cy="126709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4087104836"/>
      </p:ext>
    </p:extLst>
  </p:cSld>
  <p:clrMap bg1="lt1" tx1="dk1" bg2="lt2" tx2="dk2" accent1="accent1" accent2="accent2" accent3="accent3" accent4="accent4" accent5="accent5" accent6="accent6" hlink="hlink" folHlink="folHlink"/>
  <p:sldLayoutIdLst>
    <p:sldLayoutId id="2147483893" r:id="rId1"/>
  </p:sldLayoutIdLst>
  <p:hf hdr="0" ftr="0" dt="0"/>
  <p:txStyles>
    <p:titleStyle>
      <a:lvl1pPr algn="l" defTabSz="914400" rtl="0" eaLnBrk="1" latinLnBrk="0" hangingPunct="1">
        <a:lnSpc>
          <a:spcPts val="3440"/>
        </a:lnSpc>
        <a:spcBef>
          <a:spcPct val="0"/>
        </a:spcBef>
        <a:buNone/>
        <a:defRPr sz="32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1239436"/>
      </p:ext>
    </p:extLst>
  </p:cSld>
  <p:clrMap bg1="lt1" tx1="dk1" bg2="lt2" tx2="dk2" accent1="accent1" accent2="accent2" accent3="accent3" accent4="accent4" accent5="accent5" accent6="accent6" hlink="hlink" folHlink="folHlink"/>
  <p:sldLayoutIdLst>
    <p:sldLayoutId id="2147483887" r:id="rId1"/>
  </p:sldLayoutIdLst>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30832"/>
          </a:xfrm>
          <a:prstGeom prst="rect">
            <a:avLst/>
          </a:prstGeom>
          <a:noFill/>
        </p:spPr>
        <p:txBody>
          <a:bodyPr wrap="square" rtlCol="0">
            <a:spAutoFit/>
          </a:bodyPr>
          <a:lstStyle/>
          <a:p>
            <a:r>
              <a:rPr lang="en-US" sz="900" b="0" baseline="0" dirty="0">
                <a:solidFill>
                  <a:srgbClr val="1D1D1B"/>
                </a:solidFill>
                <a:latin typeface="Arial" panose="020B0604020202020204" pitchFamily="34" charset="0"/>
                <a:cs typeface="Arial" panose="020B0604020202020204" pitchFamily="34" charset="0"/>
              </a:rPr>
              <a:t>Huawei Confidential</a:t>
            </a: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131" y="6402806"/>
            <a:ext cx="499729" cy="138499"/>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99056531"/>
      </p:ext>
    </p:extLst>
  </p:cSld>
  <p:clrMap bg1="lt1" tx1="dk1" bg2="lt2" tx2="dk2" accent1="accent1" accent2="accent2" accent3="accent3" accent4="accent4" accent5="accent5" accent6="accent6" hlink="hlink" folHlink="folHlink"/>
  <p:sldLayoutIdLst>
    <p:sldLayoutId id="2147483891" r:id="rId1"/>
    <p:sldLayoutId id="2147483895" r:id="rId2"/>
  </p:sldLayoutIdLst>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userDrawn="1">
          <p15:clr>
            <a:srgbClr val="F26B43"/>
          </p15:clr>
        </p15:guide>
        <p15:guide id="2" pos="3842" userDrawn="1">
          <p15:clr>
            <a:srgbClr val="F26B43"/>
          </p15:clr>
        </p15:guide>
        <p15:guide id="3" pos="458" userDrawn="1">
          <p15:clr>
            <a:srgbClr val="F26B43"/>
          </p15:clr>
        </p15:guide>
        <p15:guide id="4" pos="7225" userDrawn="1">
          <p15:clr>
            <a:srgbClr val="F26B43"/>
          </p15:clr>
        </p15:guide>
        <p15:guide id="5" orient="horz" pos="410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2650023"/>
      </p:ext>
    </p:extLst>
  </p:cSld>
  <p:clrMap bg1="lt1" tx1="dk1" bg2="lt2" tx2="dk2" accent1="accent1" accent2="accent2" accent3="accent3" accent4="accent4" accent5="accent5" accent6="accent6" hlink="hlink" folHlink="folHlink"/>
  <p:sldLayoutIdLst>
    <p:sldLayoutId id="214748389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75" y="0"/>
            <a:ext cx="12195413" cy="6858000"/>
          </a:xfrm>
          <a:prstGeom prst="rect">
            <a:avLst/>
          </a:prstGeom>
        </p:spPr>
      </p:pic>
      <p:sp>
        <p:nvSpPr>
          <p:cNvPr id="2"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8969" y="1467870"/>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5"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Copyright©2018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6"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8" name="Picture 7">
            <a:extLst>
              <a:ext uri="{FF2B5EF4-FFF2-40B4-BE49-F238E27FC236}">
                <a16:creationId xmlns:a16="http://schemas.microsoft.com/office/drawing/2014/main" id="{BA792140-33FB-E045-9071-EE8DB65F2A1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973676" y="5237566"/>
            <a:ext cx="1875600" cy="405914"/>
          </a:xfrm>
          <a:prstGeom prst="rect">
            <a:avLst/>
          </a:prstGeom>
        </p:spPr>
      </p:pic>
    </p:spTree>
    <p:extLst>
      <p:ext uri="{BB962C8B-B14F-4D97-AF65-F5344CB8AC3E}">
        <p14:creationId xmlns:p14="http://schemas.microsoft.com/office/powerpoint/2010/main" val="2848406896"/>
      </p:ext>
    </p:extLst>
  </p:cSld>
  <p:clrMap bg1="lt1" tx1="dk1" bg2="lt2" tx2="dk2" accent1="accent1" accent2="accent2" accent3="accent3" accent4="accent4" accent5="accent5" accent6="accent6" hlink="hlink" folHlink="folHlink"/>
  <p:sldLayoutIdLst>
    <p:sldLayoutId id="2147483686" r:id="rId1"/>
  </p:sldLayoutIdLst>
  <p:hf hdr="0" ftr="0" dt="0"/>
  <p:txStyles>
    <p:titleStyle>
      <a:lvl1pPr algn="l" defTabSz="1187798" rtl="0" eaLnBrk="1" latinLnBrk="0" hangingPunct="1">
        <a:lnSpc>
          <a:spcPct val="90000"/>
        </a:lnSpc>
        <a:spcBef>
          <a:spcPct val="0"/>
        </a:spcBef>
        <a:buNone/>
        <a:defRPr sz="5000" b="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p:titleStyle>
    <p:bodyStyle>
      <a:lvl1pPr marL="0" indent="0" algn="l" defTabSz="1187798" rtl="0" eaLnBrk="1" latinLnBrk="0" hangingPunct="1">
        <a:lnSpc>
          <a:spcPct val="90000"/>
        </a:lnSpc>
        <a:spcBef>
          <a:spcPts val="1299"/>
        </a:spcBef>
        <a:buFont typeface="Arial" panose="020B0604020202020204" pitchFamily="34" charset="0"/>
        <a:buNone/>
        <a:defRPr sz="1819" kern="1200">
          <a:solidFill>
            <a:srgbClr val="FFFFFF"/>
          </a:solidFill>
          <a:latin typeface="Microsoft YaHei" panose="020B0503020204020204" pitchFamily="34" charset="-122"/>
          <a:ea typeface="Microsoft YaHei" panose="020B0503020204020204" pitchFamily="34" charset="-122"/>
          <a:cs typeface="+mn-cs"/>
        </a:defRPr>
      </a:lvl1pPr>
      <a:lvl2pPr marL="593900" indent="0" algn="l" defTabSz="1187798" rtl="0" eaLnBrk="1" latinLnBrk="0" hangingPunct="1">
        <a:lnSpc>
          <a:spcPct val="90000"/>
        </a:lnSpc>
        <a:spcBef>
          <a:spcPts val="650"/>
        </a:spcBef>
        <a:buFont typeface="Arial" panose="020B0604020202020204" pitchFamily="34" charset="0"/>
        <a:buNone/>
        <a:defRPr sz="3118" kern="1200">
          <a:solidFill>
            <a:schemeClr val="tx1"/>
          </a:solidFill>
          <a:latin typeface="+mn-lt"/>
          <a:ea typeface="+mn-ea"/>
          <a:cs typeface="+mn-cs"/>
        </a:defRPr>
      </a:lvl2pPr>
      <a:lvl3pPr marL="1187798" indent="0" algn="l" defTabSz="1187798" rtl="0" eaLnBrk="1" latinLnBrk="0" hangingPunct="1">
        <a:lnSpc>
          <a:spcPct val="90000"/>
        </a:lnSpc>
        <a:spcBef>
          <a:spcPts val="650"/>
        </a:spcBef>
        <a:buFont typeface="Arial" panose="020B0604020202020204" pitchFamily="34" charset="0"/>
        <a:buNone/>
        <a:defRPr sz="2598" kern="1200">
          <a:solidFill>
            <a:schemeClr val="tx1"/>
          </a:solidFill>
          <a:latin typeface="+mn-lt"/>
          <a:ea typeface="+mn-ea"/>
          <a:cs typeface="+mn-cs"/>
        </a:defRPr>
      </a:lvl3pPr>
      <a:lvl4pPr marL="1781699" indent="0" algn="l" defTabSz="1187798" rtl="0" eaLnBrk="1" latinLnBrk="0" hangingPunct="1">
        <a:lnSpc>
          <a:spcPct val="90000"/>
        </a:lnSpc>
        <a:spcBef>
          <a:spcPts val="650"/>
        </a:spcBef>
        <a:buFont typeface="Arial" panose="020B0604020202020204" pitchFamily="34" charset="0"/>
        <a:buNone/>
        <a:defRPr sz="2338" kern="1200">
          <a:solidFill>
            <a:schemeClr val="tx1"/>
          </a:solidFill>
          <a:latin typeface="+mn-lt"/>
          <a:ea typeface="+mn-ea"/>
          <a:cs typeface="+mn-cs"/>
        </a:defRPr>
      </a:lvl4pPr>
      <a:lvl5pPr marL="2375598" indent="0" algn="l" defTabSz="1187798" rtl="0" eaLnBrk="1" latinLnBrk="0" hangingPunct="1">
        <a:lnSpc>
          <a:spcPct val="90000"/>
        </a:lnSpc>
        <a:spcBef>
          <a:spcPts val="650"/>
        </a:spcBef>
        <a:buFont typeface="Arial" panose="020B0604020202020204" pitchFamily="34" charset="0"/>
        <a:buNone/>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userDrawn="1">
          <p15:clr>
            <a:srgbClr val="F26B43"/>
          </p15:clr>
        </p15:guide>
        <p15:guide id="2" pos="3842" userDrawn="1">
          <p15:clr>
            <a:srgbClr val="F26B43"/>
          </p15:clr>
        </p15:guide>
        <p15:guide id="3" pos="458" userDrawn="1">
          <p15:clr>
            <a:srgbClr val="F26B43"/>
          </p15:clr>
        </p15:guide>
        <p15:guide id="4" pos="721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3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a:cxnSpLocks/>
          </p:cNvCxnSpPr>
          <p:nvPr/>
        </p:nvCxnSpPr>
        <p:spPr>
          <a:xfrm>
            <a:off x="661930" y="3100912"/>
            <a:ext cx="1468795" cy="0"/>
          </a:xfrm>
          <a:prstGeom prst="line">
            <a:avLst/>
          </a:prstGeom>
          <a:ln w="25400">
            <a:solidFill>
              <a:srgbClr val="E9002F"/>
            </a:solidFill>
          </a:ln>
        </p:spPr>
        <p:style>
          <a:lnRef idx="1">
            <a:schemeClr val="accent1"/>
          </a:lnRef>
          <a:fillRef idx="0">
            <a:schemeClr val="accent1"/>
          </a:fillRef>
          <a:effectRef idx="0">
            <a:schemeClr val="accent1"/>
          </a:effectRef>
          <a:fontRef idx="minor">
            <a:schemeClr val="tx1"/>
          </a:fontRef>
        </p:style>
      </p:cxnSp>
      <p:sp>
        <p:nvSpPr>
          <p:cNvPr id="4" name="标题 3"/>
          <p:cNvSpPr>
            <a:spLocks noGrp="1"/>
          </p:cNvSpPr>
          <p:nvPr>
            <p:ph type="ctrTitle"/>
          </p:nvPr>
        </p:nvSpPr>
        <p:spPr>
          <a:xfrm>
            <a:off x="661930" y="2191924"/>
            <a:ext cx="8206025" cy="690255"/>
          </a:xfrm>
        </p:spPr>
        <p:txBody>
          <a:bodyPr>
            <a:normAutofit/>
          </a:bodyPr>
          <a:lstStyle/>
          <a:p>
            <a:r>
              <a:rPr lang="zh-CN" altLang="en-US" sz="4400" b="1" dirty="0">
                <a:latin typeface="+mn-lt"/>
              </a:rPr>
              <a:t>第</a:t>
            </a:r>
            <a:r>
              <a:rPr lang="en-US" altLang="zh-CN" sz="4400" b="1" dirty="0">
                <a:latin typeface="+mn-lt"/>
              </a:rPr>
              <a:t>5</a:t>
            </a:r>
            <a:r>
              <a:rPr lang="zh-CN" altLang="en-US" sz="4400" b="1" dirty="0">
                <a:latin typeface="+mn-lt"/>
              </a:rPr>
              <a:t>章 </a:t>
            </a:r>
            <a:r>
              <a:rPr lang="en-US" altLang="zh-CN" sz="4400" b="1" dirty="0">
                <a:latin typeface="+mn-lt"/>
              </a:rPr>
              <a:t>Ascend C</a:t>
            </a:r>
            <a:r>
              <a:rPr lang="zh-CN" altLang="en-US" sz="4400" b="1" dirty="0">
                <a:latin typeface="+mn-lt"/>
              </a:rPr>
              <a:t>算子调试调优</a:t>
            </a:r>
          </a:p>
        </p:txBody>
      </p:sp>
      <p:sp>
        <p:nvSpPr>
          <p:cNvPr id="10" name="文本占位符 4">
            <a:extLst>
              <a:ext uri="{FF2B5EF4-FFF2-40B4-BE49-F238E27FC236}">
                <a16:creationId xmlns:a16="http://schemas.microsoft.com/office/drawing/2014/main" id="{DFD77602-E5F7-4521-A54F-96BBD2B54A62}"/>
              </a:ext>
            </a:extLst>
          </p:cNvPr>
          <p:cNvSpPr txBox="1">
            <a:spLocks/>
          </p:cNvSpPr>
          <p:nvPr/>
        </p:nvSpPr>
        <p:spPr>
          <a:xfrm>
            <a:off x="661930" y="5097762"/>
            <a:ext cx="6535842" cy="643926"/>
          </a:xfrm>
          <a:prstGeom prst="rect">
            <a:avLst/>
          </a:prstGeom>
        </p:spPr>
        <p:txBody>
          <a:bodyPr/>
          <a:lst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t>华为</a:t>
            </a:r>
            <a:r>
              <a:rPr lang="en-US" altLang="zh-CN" sz="1800" dirty="0"/>
              <a:t>ICT</a:t>
            </a:r>
            <a:r>
              <a:rPr lang="zh-CN" altLang="en-US" sz="1800" dirty="0"/>
              <a:t>学院  播种新</a:t>
            </a:r>
            <a:r>
              <a:rPr lang="en-US" altLang="zh-CN" sz="1800" dirty="0"/>
              <a:t>ICT</a:t>
            </a:r>
            <a:r>
              <a:rPr lang="zh-CN" altLang="en-US" sz="1800" dirty="0"/>
              <a:t>未来</a:t>
            </a:r>
          </a:p>
        </p:txBody>
      </p:sp>
      <p:sp>
        <p:nvSpPr>
          <p:cNvPr id="3" name="文本占位符 4">
            <a:extLst>
              <a:ext uri="{FF2B5EF4-FFF2-40B4-BE49-F238E27FC236}">
                <a16:creationId xmlns:a16="http://schemas.microsoft.com/office/drawing/2014/main" id="{D19C6A6F-1306-0C68-2B32-A61AAF718306}"/>
              </a:ext>
            </a:extLst>
          </p:cNvPr>
          <p:cNvSpPr txBox="1">
            <a:spLocks/>
          </p:cNvSpPr>
          <p:nvPr/>
        </p:nvSpPr>
        <p:spPr>
          <a:xfrm>
            <a:off x="592920" y="3319646"/>
            <a:ext cx="1261884" cy="905761"/>
          </a:xfrm>
          <a:prstGeom prst="rect">
            <a:avLst/>
          </a:prstGeom>
        </p:spPr>
        <p:txBody>
          <a:bodyPr wrap="none">
            <a:spAutoFit/>
          </a:bodyPr>
          <a:lst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Aft>
                <a:spcPts val="600"/>
              </a:spcAft>
            </a:pPr>
            <a:r>
              <a:rPr lang="zh-CN" altLang="en-US" sz="1400" b="1" dirty="0"/>
              <a:t>苏统华</a:t>
            </a:r>
          </a:p>
          <a:p>
            <a:pPr>
              <a:lnSpc>
                <a:spcPct val="130000"/>
              </a:lnSpc>
            </a:pPr>
            <a:r>
              <a:rPr lang="zh-CN" altLang="en-US" sz="1200" dirty="0"/>
              <a:t>软件学院</a:t>
            </a:r>
          </a:p>
          <a:p>
            <a:pPr>
              <a:lnSpc>
                <a:spcPct val="130000"/>
              </a:lnSpc>
            </a:pPr>
            <a:r>
              <a:rPr lang="zh-CN" altLang="en-US" sz="1200" dirty="0"/>
              <a:t>哈尔滨工业大学</a:t>
            </a:r>
          </a:p>
        </p:txBody>
      </p:sp>
    </p:spTree>
    <p:extLst>
      <p:ext uri="{BB962C8B-B14F-4D97-AF65-F5344CB8AC3E}">
        <p14:creationId xmlns:p14="http://schemas.microsoft.com/office/powerpoint/2010/main" val="2012355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id="{3F8861DB-FC39-16C1-E8EB-34605AE0D1E5}"/>
              </a:ext>
            </a:extLst>
          </p:cNvPr>
          <p:cNvSpPr txBox="1">
            <a:spLocks/>
          </p:cNvSpPr>
          <p:nvPr/>
        </p:nvSpPr>
        <p:spPr>
          <a:xfrm>
            <a:off x="5185309" y="411900"/>
            <a:ext cx="182614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本章内容</a:t>
            </a:r>
          </a:p>
        </p:txBody>
      </p:sp>
      <p:pic>
        <p:nvPicPr>
          <p:cNvPr id="4" name="图片 3">
            <a:extLst>
              <a:ext uri="{FF2B5EF4-FFF2-40B4-BE49-F238E27FC236}">
                <a16:creationId xmlns:a16="http://schemas.microsoft.com/office/drawing/2014/main" id="{595A51E4-49F0-88F9-487F-0501A5E666E2}"/>
              </a:ext>
            </a:extLst>
          </p:cNvPr>
          <p:cNvPicPr>
            <a:picLocks noChangeAspect="1"/>
          </p:cNvPicPr>
          <p:nvPr/>
        </p:nvPicPr>
        <p:blipFill>
          <a:blip r:embed="rId2">
            <a:clrChange>
              <a:clrFrom>
                <a:srgbClr val="FFFFFF">
                  <a:alpha val="100000"/>
                </a:srgbClr>
              </a:clrFrom>
              <a:clrTo>
                <a:srgbClr val="FFFFFF">
                  <a:alpha val="100000"/>
                  <a:alpha val="0"/>
                </a:srgbClr>
              </a:clrTo>
            </a:clrChange>
            <a:duotone>
              <a:prstClr val="black"/>
              <a:schemeClr val="tx2">
                <a:tint val="45000"/>
                <a:satMod val="400000"/>
              </a:schemeClr>
            </a:duotone>
          </a:blip>
          <a:stretch>
            <a:fillRect/>
          </a:stretch>
        </p:blipFill>
        <p:spPr>
          <a:xfrm>
            <a:off x="2683233" y="1311218"/>
            <a:ext cx="6830296" cy="4850861"/>
          </a:xfrm>
          <a:prstGeom prst="rect">
            <a:avLst/>
          </a:prstGeom>
        </p:spPr>
      </p:pic>
      <p:sp>
        <p:nvSpPr>
          <p:cNvPr id="230" name="矩形: 圆角 229">
            <a:extLst>
              <a:ext uri="{FF2B5EF4-FFF2-40B4-BE49-F238E27FC236}">
                <a16:creationId xmlns:a16="http://schemas.microsoft.com/office/drawing/2014/main" id="{980EF461-AEEE-A330-15AF-DB950DFEEEDB}"/>
              </a:ext>
            </a:extLst>
          </p:cNvPr>
          <p:cNvSpPr/>
          <p:nvPr/>
        </p:nvSpPr>
        <p:spPr>
          <a:xfrm>
            <a:off x="2745169" y="3335903"/>
            <a:ext cx="2668972" cy="57240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400" b="1" dirty="0">
                <a:solidFill>
                  <a:schemeClr val="tx2"/>
                </a:solidFill>
                <a:latin typeface="Arial" panose="020B0604020202020204" pitchFamily="34" charset="0"/>
                <a:ea typeface="微软雅黑" panose="020B0503020204020204" pitchFamily="34" charset="-122"/>
                <a:cs typeface="Arial" panose="020B0604020202020204" pitchFamily="34" charset="0"/>
              </a:rPr>
              <a:t>第</a:t>
            </a:r>
            <a:r>
              <a:rPr lang="en-US" altLang="zh-CN" sz="1400" b="1" dirty="0">
                <a:solidFill>
                  <a:schemeClr val="tx2"/>
                </a:solidFill>
                <a:latin typeface="Arial" panose="020B0604020202020204" pitchFamily="34" charset="0"/>
                <a:ea typeface="微软雅黑" panose="020B0503020204020204" pitchFamily="34" charset="-122"/>
                <a:cs typeface="Arial" panose="020B0604020202020204" pitchFamily="34" charset="0"/>
              </a:rPr>
              <a:t>5</a:t>
            </a:r>
            <a:r>
              <a:rPr lang="zh-CN" altLang="en-US" sz="1400" b="1" dirty="0">
                <a:solidFill>
                  <a:schemeClr val="tx2"/>
                </a:solidFill>
                <a:latin typeface="Arial" panose="020B0604020202020204" pitchFamily="34" charset="0"/>
                <a:ea typeface="微软雅黑" panose="020B0503020204020204" pitchFamily="34" charset="-122"/>
                <a:cs typeface="Arial" panose="020B0604020202020204" pitchFamily="34" charset="0"/>
              </a:rPr>
              <a:t>章 </a:t>
            </a:r>
            <a:r>
              <a:rPr lang="en-US" altLang="zh-CN" sz="1400" b="1" dirty="0">
                <a:solidFill>
                  <a:schemeClr val="tx2"/>
                </a:solidFill>
                <a:latin typeface="Arial" panose="020B0604020202020204" pitchFamily="34" charset="0"/>
                <a:ea typeface="微软雅黑" panose="020B0503020204020204" pitchFamily="34" charset="-122"/>
                <a:cs typeface="Arial" panose="020B0604020202020204" pitchFamily="34" charset="0"/>
              </a:rPr>
              <a:t>Ascend C</a:t>
            </a:r>
            <a:r>
              <a:rPr lang="zh-CN" altLang="en-US" sz="1400" b="1" dirty="0">
                <a:solidFill>
                  <a:schemeClr val="tx2"/>
                </a:solidFill>
                <a:latin typeface="Arial" panose="020B0604020202020204" pitchFamily="34" charset="0"/>
                <a:ea typeface="微软雅黑" panose="020B0503020204020204" pitchFamily="34" charset="-122"/>
                <a:cs typeface="Arial" panose="020B0604020202020204" pitchFamily="34" charset="0"/>
              </a:rPr>
              <a:t>算子调试调优</a:t>
            </a:r>
          </a:p>
        </p:txBody>
      </p:sp>
    </p:spTree>
    <p:extLst>
      <p:ext uri="{BB962C8B-B14F-4D97-AF65-F5344CB8AC3E}">
        <p14:creationId xmlns:p14="http://schemas.microsoft.com/office/powerpoint/2010/main" val="2657417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BD1EF-9C9F-0A43-AA6B-F4BC130E6531}"/>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F1BF4B9B-1A06-7882-BDB1-210FBD2E0DB8}"/>
              </a:ext>
            </a:extLst>
          </p:cNvPr>
          <p:cNvSpPr txBox="1">
            <a:spLocks/>
          </p:cNvSpPr>
          <p:nvPr/>
        </p:nvSpPr>
        <p:spPr>
          <a:xfrm>
            <a:off x="5185309" y="411900"/>
            <a:ext cx="182614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本章内容</a:t>
            </a:r>
          </a:p>
        </p:txBody>
      </p:sp>
      <p:sp>
        <p:nvSpPr>
          <p:cNvPr id="21" name="矩形: 圆角 20">
            <a:extLst>
              <a:ext uri="{FF2B5EF4-FFF2-40B4-BE49-F238E27FC236}">
                <a16:creationId xmlns:a16="http://schemas.microsoft.com/office/drawing/2014/main" id="{47E62D1E-393D-BCDA-9DB3-E99D2821E41F}"/>
              </a:ext>
            </a:extLst>
          </p:cNvPr>
          <p:cNvSpPr/>
          <p:nvPr/>
        </p:nvSpPr>
        <p:spPr>
          <a:xfrm>
            <a:off x="4712642" y="2169545"/>
            <a:ext cx="457200" cy="45720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1</a:t>
            </a:r>
            <a:endParaRPr lang="zh-CN" altLang="en-US"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22" name="文本框 21">
            <a:extLst>
              <a:ext uri="{FF2B5EF4-FFF2-40B4-BE49-F238E27FC236}">
                <a16:creationId xmlns:a16="http://schemas.microsoft.com/office/drawing/2014/main" id="{318D92DA-4958-D785-5DB7-204C5EEE13D1}"/>
              </a:ext>
            </a:extLst>
          </p:cNvPr>
          <p:cNvSpPr txBox="1"/>
          <p:nvPr/>
        </p:nvSpPr>
        <p:spPr>
          <a:xfrm>
            <a:off x="5265051" y="2213479"/>
            <a:ext cx="1569660" cy="369332"/>
          </a:xfrm>
          <a:prstGeom prst="rect">
            <a:avLst/>
          </a:prstGeom>
          <a:noFill/>
        </p:spPr>
        <p:txBody>
          <a:bodyPr wrap="none">
            <a:spAutoFit/>
          </a:bodyPr>
          <a:lstStyle/>
          <a:p>
            <a:pPr marL="642915" indent="-822915">
              <a:buSzTx/>
              <a:buNone/>
              <a:defRPr sz="3600">
                <a:solidFill>
                  <a:srgbClr val="FF2600"/>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算子调试工具</a:t>
            </a:r>
          </a:p>
        </p:txBody>
      </p:sp>
      <p:sp>
        <p:nvSpPr>
          <p:cNvPr id="23" name="矩形: 圆角 22">
            <a:extLst>
              <a:ext uri="{FF2B5EF4-FFF2-40B4-BE49-F238E27FC236}">
                <a16:creationId xmlns:a16="http://schemas.microsoft.com/office/drawing/2014/main" id="{06BAC864-5E5C-03F3-E998-1E10F17F38E9}"/>
              </a:ext>
            </a:extLst>
          </p:cNvPr>
          <p:cNvSpPr/>
          <p:nvPr/>
        </p:nvSpPr>
        <p:spPr>
          <a:xfrm>
            <a:off x="4712642" y="2856782"/>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2</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4" name="文本框 23">
            <a:extLst>
              <a:ext uri="{FF2B5EF4-FFF2-40B4-BE49-F238E27FC236}">
                <a16:creationId xmlns:a16="http://schemas.microsoft.com/office/drawing/2014/main" id="{30C93014-38A0-9C1D-4DBD-77867E9A1699}"/>
              </a:ext>
            </a:extLst>
          </p:cNvPr>
          <p:cNvSpPr txBox="1"/>
          <p:nvPr/>
        </p:nvSpPr>
        <p:spPr>
          <a:xfrm>
            <a:off x="5265051" y="2900716"/>
            <a:ext cx="1569660" cy="369332"/>
          </a:xfrm>
          <a:prstGeom prst="rect">
            <a:avLst/>
          </a:prstGeom>
          <a:noFill/>
        </p:spPr>
        <p:txBody>
          <a:bodyPr wrap="none">
            <a:spAutoFit/>
          </a:bodyPr>
          <a:lstStyle/>
          <a:p>
            <a:pPr marL="642915" indent="-822915">
              <a:buSzTx/>
              <a:buNone/>
              <a:defRPr sz="3600">
                <a:solidFill>
                  <a:srgbClr val="FF2600"/>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算子调优工具</a:t>
            </a:r>
          </a:p>
        </p:txBody>
      </p:sp>
      <p:sp>
        <p:nvSpPr>
          <p:cNvPr id="25" name="矩形: 圆角 24">
            <a:extLst>
              <a:ext uri="{FF2B5EF4-FFF2-40B4-BE49-F238E27FC236}">
                <a16:creationId xmlns:a16="http://schemas.microsoft.com/office/drawing/2014/main" id="{22E2F14C-413A-ADCC-8DED-C56A04BEC070}"/>
              </a:ext>
            </a:extLst>
          </p:cNvPr>
          <p:cNvSpPr/>
          <p:nvPr/>
        </p:nvSpPr>
        <p:spPr>
          <a:xfrm>
            <a:off x="4712642" y="3544019"/>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3</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6" name="文本框 25">
            <a:extLst>
              <a:ext uri="{FF2B5EF4-FFF2-40B4-BE49-F238E27FC236}">
                <a16:creationId xmlns:a16="http://schemas.microsoft.com/office/drawing/2014/main" id="{B2370EA2-5F76-B7D3-9404-ABCDA7D6E08A}"/>
              </a:ext>
            </a:extLst>
          </p:cNvPr>
          <p:cNvSpPr txBox="1"/>
          <p:nvPr/>
        </p:nvSpPr>
        <p:spPr>
          <a:xfrm>
            <a:off x="5265051" y="3587953"/>
            <a:ext cx="2031325" cy="369332"/>
          </a:xfrm>
          <a:prstGeom prst="rect">
            <a:avLst/>
          </a:prstGeom>
          <a:noFill/>
        </p:spPr>
        <p:txBody>
          <a:bodyPr wrap="none">
            <a:spAutoFit/>
          </a:bodyPr>
          <a:lstStyle/>
          <a:p>
            <a:pPr marL="642915" indent="-822915">
              <a:buSzTx/>
              <a:buNone/>
              <a:defRPr sz="3600">
                <a:solidFill>
                  <a:srgbClr val="FF2600"/>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算子异常检测工具</a:t>
            </a:r>
          </a:p>
        </p:txBody>
      </p:sp>
      <p:sp>
        <p:nvSpPr>
          <p:cNvPr id="27" name="矩形: 圆角 26">
            <a:extLst>
              <a:ext uri="{FF2B5EF4-FFF2-40B4-BE49-F238E27FC236}">
                <a16:creationId xmlns:a16="http://schemas.microsoft.com/office/drawing/2014/main" id="{9D64C948-95A7-085B-7721-2569F24C280B}"/>
              </a:ext>
            </a:extLst>
          </p:cNvPr>
          <p:cNvSpPr/>
          <p:nvPr/>
        </p:nvSpPr>
        <p:spPr>
          <a:xfrm>
            <a:off x="4712642" y="4231256"/>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4</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8" name="文本框 27">
            <a:extLst>
              <a:ext uri="{FF2B5EF4-FFF2-40B4-BE49-F238E27FC236}">
                <a16:creationId xmlns:a16="http://schemas.microsoft.com/office/drawing/2014/main" id="{F3A1C633-2EA2-16F3-6ECF-688BD66A8432}"/>
              </a:ext>
            </a:extLst>
          </p:cNvPr>
          <p:cNvSpPr txBox="1"/>
          <p:nvPr/>
        </p:nvSpPr>
        <p:spPr>
          <a:xfrm>
            <a:off x="5265051" y="4275190"/>
            <a:ext cx="2723823" cy="369332"/>
          </a:xfrm>
          <a:prstGeom prst="rect">
            <a:avLst/>
          </a:prstGeom>
          <a:noFill/>
        </p:spPr>
        <p:txBody>
          <a:bodyPr wrap="none">
            <a:spAutoFit/>
          </a:bodyPr>
          <a:lstStyle/>
          <a:p>
            <a:pPr marL="642915" indent="-822915">
              <a:buSzTx/>
              <a:buNone/>
              <a:defRPr sz="3600">
                <a:solidFill>
                  <a:srgbClr val="0433FF"/>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昇腾算子性能的优化方法</a:t>
            </a:r>
          </a:p>
        </p:txBody>
      </p:sp>
    </p:spTree>
    <p:extLst>
      <p:ext uri="{BB962C8B-B14F-4D97-AF65-F5344CB8AC3E}">
        <p14:creationId xmlns:p14="http://schemas.microsoft.com/office/powerpoint/2010/main" val="2330878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9F8D44-5E55-DDB7-1379-45572089641F}"/>
              </a:ext>
            </a:extLst>
          </p:cNvPr>
          <p:cNvSpPr txBox="1">
            <a:spLocks/>
          </p:cNvSpPr>
          <p:nvPr/>
        </p:nvSpPr>
        <p:spPr>
          <a:xfrm>
            <a:off x="5185309" y="411900"/>
            <a:ext cx="182614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孪生调试</a:t>
            </a:r>
          </a:p>
        </p:txBody>
      </p:sp>
      <p:sp>
        <p:nvSpPr>
          <p:cNvPr id="3" name="文本占位符 2">
            <a:extLst>
              <a:ext uri="{FF2B5EF4-FFF2-40B4-BE49-F238E27FC236}">
                <a16:creationId xmlns:a16="http://schemas.microsoft.com/office/drawing/2014/main" id="{EC7747A1-31FF-7AD9-A246-F29C3B8D068F}"/>
              </a:ext>
            </a:extLst>
          </p:cNvPr>
          <p:cNvSpPr txBox="1">
            <a:spLocks/>
          </p:cNvSpPr>
          <p:nvPr/>
        </p:nvSpPr>
        <p:spPr>
          <a:xfrm>
            <a:off x="1408636" y="2038510"/>
            <a:ext cx="9379492" cy="341632"/>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gn="ctr">
              <a:buNone/>
            </a:pP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Ascend C</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提供孪生调试方法，相同的算子源码可以在</a:t>
            </a: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CPU</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域调试精度，</a:t>
            </a: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NPU</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域调试性能。</a:t>
            </a:r>
          </a:p>
        </p:txBody>
      </p:sp>
      <p:pic>
        <p:nvPicPr>
          <p:cNvPr id="4" name="图片 3">
            <a:extLst>
              <a:ext uri="{FF2B5EF4-FFF2-40B4-BE49-F238E27FC236}">
                <a16:creationId xmlns:a16="http://schemas.microsoft.com/office/drawing/2014/main" id="{F293DDA6-DF9E-1779-CB32-E3A8180EBC33}"/>
              </a:ext>
            </a:extLst>
          </p:cNvPr>
          <p:cNvPicPr>
            <a:picLocks noChangeAspect="1"/>
          </p:cNvPicPr>
          <p:nvPr/>
        </p:nvPicPr>
        <p:blipFill>
          <a:blip r:embed="rId2"/>
          <a:stretch>
            <a:fillRect/>
          </a:stretch>
        </p:blipFill>
        <p:spPr>
          <a:xfrm>
            <a:off x="3856372" y="2474003"/>
            <a:ext cx="4484018" cy="2345486"/>
          </a:xfrm>
          <a:prstGeom prst="rect">
            <a:avLst/>
          </a:prstGeom>
        </p:spPr>
      </p:pic>
    </p:spTree>
    <p:extLst>
      <p:ext uri="{BB962C8B-B14F-4D97-AF65-F5344CB8AC3E}">
        <p14:creationId xmlns:p14="http://schemas.microsoft.com/office/powerpoint/2010/main" val="1469595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6B4EE-D187-30B6-0194-7A07DEFA8D7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5E5F489-DAC9-E78B-348E-8CAD0522D16E}"/>
              </a:ext>
            </a:extLst>
          </p:cNvPr>
          <p:cNvSpPr txBox="1">
            <a:spLocks/>
          </p:cNvSpPr>
          <p:nvPr/>
        </p:nvSpPr>
        <p:spPr>
          <a:xfrm>
            <a:off x="4104885" y="411900"/>
            <a:ext cx="3986989"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CPU</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域调试</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3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gdb</a:t>
            </a:r>
            <a:endPar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a:extLst>
              <a:ext uri="{FF2B5EF4-FFF2-40B4-BE49-F238E27FC236}">
                <a16:creationId xmlns:a16="http://schemas.microsoft.com/office/drawing/2014/main" id="{A0637A23-F620-5CFD-4AFD-9B895AD1955B}"/>
              </a:ext>
            </a:extLst>
          </p:cNvPr>
          <p:cNvPicPr>
            <a:picLocks noChangeAspect="1"/>
          </p:cNvPicPr>
          <p:nvPr/>
        </p:nvPicPr>
        <p:blipFill>
          <a:blip r:embed="rId2"/>
          <a:stretch>
            <a:fillRect/>
          </a:stretch>
        </p:blipFill>
        <p:spPr>
          <a:xfrm>
            <a:off x="4944532" y="2532532"/>
            <a:ext cx="2307698" cy="325200"/>
          </a:xfrm>
          <a:prstGeom prst="rect">
            <a:avLst/>
          </a:prstGeom>
        </p:spPr>
      </p:pic>
      <p:pic>
        <p:nvPicPr>
          <p:cNvPr id="5" name="图片 4">
            <a:extLst>
              <a:ext uri="{FF2B5EF4-FFF2-40B4-BE49-F238E27FC236}">
                <a16:creationId xmlns:a16="http://schemas.microsoft.com/office/drawing/2014/main" id="{C0AAC888-350B-D5D7-2EAC-C187DF890EB9}"/>
              </a:ext>
            </a:extLst>
          </p:cNvPr>
          <p:cNvPicPr>
            <a:picLocks noChangeAspect="1"/>
          </p:cNvPicPr>
          <p:nvPr/>
        </p:nvPicPr>
        <p:blipFill>
          <a:blip r:embed="rId3"/>
          <a:stretch>
            <a:fillRect/>
          </a:stretch>
        </p:blipFill>
        <p:spPr>
          <a:xfrm>
            <a:off x="5099305" y="3648088"/>
            <a:ext cx="1998152" cy="322852"/>
          </a:xfrm>
          <a:prstGeom prst="rect">
            <a:avLst/>
          </a:prstGeom>
        </p:spPr>
      </p:pic>
      <p:pic>
        <p:nvPicPr>
          <p:cNvPr id="6" name="图片 5">
            <a:extLst>
              <a:ext uri="{FF2B5EF4-FFF2-40B4-BE49-F238E27FC236}">
                <a16:creationId xmlns:a16="http://schemas.microsoft.com/office/drawing/2014/main" id="{3A723C80-23AB-3078-5411-F6DAEB3903BD}"/>
              </a:ext>
            </a:extLst>
          </p:cNvPr>
          <p:cNvPicPr>
            <a:picLocks noChangeAspect="1"/>
          </p:cNvPicPr>
          <p:nvPr/>
        </p:nvPicPr>
        <p:blipFill>
          <a:blip r:embed="rId4"/>
          <a:stretch>
            <a:fillRect/>
          </a:stretch>
        </p:blipFill>
        <p:spPr>
          <a:xfrm>
            <a:off x="5099500" y="4110385"/>
            <a:ext cx="1997762" cy="272760"/>
          </a:xfrm>
          <a:prstGeom prst="rect">
            <a:avLst/>
          </a:prstGeom>
        </p:spPr>
      </p:pic>
      <p:pic>
        <p:nvPicPr>
          <p:cNvPr id="7" name="图片 6">
            <a:extLst>
              <a:ext uri="{FF2B5EF4-FFF2-40B4-BE49-F238E27FC236}">
                <a16:creationId xmlns:a16="http://schemas.microsoft.com/office/drawing/2014/main" id="{F7CE8101-8D66-EB77-33DA-20AC0EB60000}"/>
              </a:ext>
            </a:extLst>
          </p:cNvPr>
          <p:cNvPicPr>
            <a:picLocks noChangeAspect="1"/>
          </p:cNvPicPr>
          <p:nvPr/>
        </p:nvPicPr>
        <p:blipFill>
          <a:blip r:embed="rId5"/>
          <a:stretch>
            <a:fillRect/>
          </a:stretch>
        </p:blipFill>
        <p:spPr>
          <a:xfrm>
            <a:off x="5530164" y="4522589"/>
            <a:ext cx="1136434" cy="332244"/>
          </a:xfrm>
          <a:prstGeom prst="rect">
            <a:avLst/>
          </a:prstGeom>
        </p:spPr>
      </p:pic>
      <p:sp>
        <p:nvSpPr>
          <p:cNvPr id="3" name="文本占位符 2">
            <a:extLst>
              <a:ext uri="{FF2B5EF4-FFF2-40B4-BE49-F238E27FC236}">
                <a16:creationId xmlns:a16="http://schemas.microsoft.com/office/drawing/2014/main" id="{18EE4FB1-548D-CE89-95FA-48F1C262570F}"/>
              </a:ext>
            </a:extLst>
          </p:cNvPr>
          <p:cNvSpPr txBox="1">
            <a:spLocks/>
          </p:cNvSpPr>
          <p:nvPr/>
        </p:nvSpPr>
        <p:spPr>
          <a:xfrm>
            <a:off x="4967302" y="2175346"/>
            <a:ext cx="2262158" cy="341632"/>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gn="ctr">
              <a:buNone/>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调试一个单独子进程</a:t>
            </a:r>
          </a:p>
        </p:txBody>
      </p:sp>
      <p:sp>
        <p:nvSpPr>
          <p:cNvPr id="8" name="文本占位符 2">
            <a:extLst>
              <a:ext uri="{FF2B5EF4-FFF2-40B4-BE49-F238E27FC236}">
                <a16:creationId xmlns:a16="http://schemas.microsoft.com/office/drawing/2014/main" id="{90D2F6B1-FF6E-7F23-BCDB-AC8FA11C9E1A}"/>
              </a:ext>
            </a:extLst>
          </p:cNvPr>
          <p:cNvSpPr txBox="1">
            <a:spLocks/>
          </p:cNvSpPr>
          <p:nvPr/>
        </p:nvSpPr>
        <p:spPr>
          <a:xfrm>
            <a:off x="5198135" y="3250111"/>
            <a:ext cx="1800494" cy="341632"/>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gn="ctr">
              <a:buNone/>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调试多个子进程</a:t>
            </a:r>
          </a:p>
        </p:txBody>
      </p:sp>
    </p:spTree>
    <p:extLst>
      <p:ext uri="{BB962C8B-B14F-4D97-AF65-F5344CB8AC3E}">
        <p14:creationId xmlns:p14="http://schemas.microsoft.com/office/powerpoint/2010/main" val="3796051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B3CDC-74C0-241D-6618-821D26B626C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141E89C-56D6-8325-D1F6-879495A452CA}"/>
              </a:ext>
            </a:extLst>
          </p:cNvPr>
          <p:cNvSpPr txBox="1">
            <a:spLocks/>
          </p:cNvSpPr>
          <p:nvPr/>
        </p:nvSpPr>
        <p:spPr>
          <a:xfrm>
            <a:off x="4104885" y="411900"/>
            <a:ext cx="3986989"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CPU</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域调试</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3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gdb</a:t>
            </a:r>
            <a:endPar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3" name="文本占位符 2">
            <a:extLst>
              <a:ext uri="{FF2B5EF4-FFF2-40B4-BE49-F238E27FC236}">
                <a16:creationId xmlns:a16="http://schemas.microsoft.com/office/drawing/2014/main" id="{C70EC9F6-5155-4824-97F7-B44A47924C0B}"/>
              </a:ext>
            </a:extLst>
          </p:cNvPr>
          <p:cNvSpPr txBox="1">
            <a:spLocks/>
          </p:cNvSpPr>
          <p:nvPr/>
        </p:nvSpPr>
        <p:spPr>
          <a:xfrm>
            <a:off x="3032186" y="1943049"/>
            <a:ext cx="1800494" cy="341632"/>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gn="ctr">
              <a:buNone/>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调试多个子进程</a:t>
            </a:r>
          </a:p>
        </p:txBody>
      </p:sp>
      <p:grpSp>
        <p:nvGrpSpPr>
          <p:cNvPr id="9" name="组合 8">
            <a:extLst>
              <a:ext uri="{FF2B5EF4-FFF2-40B4-BE49-F238E27FC236}">
                <a16:creationId xmlns:a16="http://schemas.microsoft.com/office/drawing/2014/main" id="{15CA8421-7EF3-98A4-3351-BE4E4D3D66AA}"/>
              </a:ext>
            </a:extLst>
          </p:cNvPr>
          <p:cNvGrpSpPr/>
          <p:nvPr/>
        </p:nvGrpSpPr>
        <p:grpSpPr>
          <a:xfrm>
            <a:off x="3152629" y="2385725"/>
            <a:ext cx="5891505" cy="2927440"/>
            <a:chOff x="2738279" y="3010689"/>
            <a:chExt cx="5891505" cy="2927440"/>
          </a:xfrm>
        </p:grpSpPr>
        <p:grpSp>
          <p:nvGrpSpPr>
            <p:cNvPr id="8" name="组合 7">
              <a:extLst>
                <a:ext uri="{FF2B5EF4-FFF2-40B4-BE49-F238E27FC236}">
                  <a16:creationId xmlns:a16="http://schemas.microsoft.com/office/drawing/2014/main" id="{E526FAF0-C684-1434-A483-C18CCE4D658F}"/>
                </a:ext>
              </a:extLst>
            </p:cNvPr>
            <p:cNvGrpSpPr/>
            <p:nvPr/>
          </p:nvGrpSpPr>
          <p:grpSpPr>
            <a:xfrm>
              <a:off x="2738279" y="3010689"/>
              <a:ext cx="3360102" cy="2927440"/>
              <a:chOff x="2738279" y="3011010"/>
              <a:chExt cx="3360102" cy="2927440"/>
            </a:xfrm>
          </p:grpSpPr>
          <p:pic>
            <p:nvPicPr>
              <p:cNvPr id="4" name="图片 3">
                <a:extLst>
                  <a:ext uri="{FF2B5EF4-FFF2-40B4-BE49-F238E27FC236}">
                    <a16:creationId xmlns:a16="http://schemas.microsoft.com/office/drawing/2014/main" id="{07DAFC75-8A77-E217-5DDD-9EEFD4F4F7DD}"/>
                  </a:ext>
                </a:extLst>
              </p:cNvPr>
              <p:cNvPicPr>
                <a:picLocks noChangeAspect="1"/>
              </p:cNvPicPr>
              <p:nvPr/>
            </p:nvPicPr>
            <p:blipFill>
              <a:blip r:embed="rId2"/>
              <a:stretch>
                <a:fillRect/>
              </a:stretch>
            </p:blipFill>
            <p:spPr>
              <a:xfrm>
                <a:off x="2738279" y="3011010"/>
                <a:ext cx="1523778" cy="678340"/>
              </a:xfrm>
              <a:prstGeom prst="rect">
                <a:avLst/>
              </a:prstGeom>
            </p:spPr>
          </p:pic>
          <p:pic>
            <p:nvPicPr>
              <p:cNvPr id="5" name="图片 4">
                <a:extLst>
                  <a:ext uri="{FF2B5EF4-FFF2-40B4-BE49-F238E27FC236}">
                    <a16:creationId xmlns:a16="http://schemas.microsoft.com/office/drawing/2014/main" id="{88EE3CC3-C0A1-2F2C-994E-1E37DF16BFF1}"/>
                  </a:ext>
                </a:extLst>
              </p:cNvPr>
              <p:cNvPicPr>
                <a:picLocks noChangeAspect="1"/>
              </p:cNvPicPr>
              <p:nvPr/>
            </p:nvPicPr>
            <p:blipFill>
              <a:blip r:embed="rId3"/>
              <a:stretch>
                <a:fillRect/>
              </a:stretch>
            </p:blipFill>
            <p:spPr>
              <a:xfrm>
                <a:off x="2738279" y="3793335"/>
                <a:ext cx="1524212" cy="880502"/>
              </a:xfrm>
              <a:prstGeom prst="rect">
                <a:avLst/>
              </a:prstGeom>
            </p:spPr>
          </p:pic>
          <p:pic>
            <p:nvPicPr>
              <p:cNvPr id="6" name="图片 5">
                <a:extLst>
                  <a:ext uri="{FF2B5EF4-FFF2-40B4-BE49-F238E27FC236}">
                    <a16:creationId xmlns:a16="http://schemas.microsoft.com/office/drawing/2014/main" id="{3EF1117F-366E-623E-CC00-63AAB479D5C7}"/>
                  </a:ext>
                </a:extLst>
              </p:cNvPr>
              <p:cNvPicPr>
                <a:picLocks noChangeAspect="1"/>
              </p:cNvPicPr>
              <p:nvPr/>
            </p:nvPicPr>
            <p:blipFill>
              <a:blip r:embed="rId4"/>
              <a:stretch>
                <a:fillRect/>
              </a:stretch>
            </p:blipFill>
            <p:spPr>
              <a:xfrm>
                <a:off x="2738279" y="4784796"/>
                <a:ext cx="3360102" cy="1153654"/>
              </a:xfrm>
              <a:prstGeom prst="rect">
                <a:avLst/>
              </a:prstGeom>
            </p:spPr>
          </p:pic>
        </p:grpSp>
        <p:pic>
          <p:nvPicPr>
            <p:cNvPr id="7" name="图片 6">
              <a:extLst>
                <a:ext uri="{FF2B5EF4-FFF2-40B4-BE49-F238E27FC236}">
                  <a16:creationId xmlns:a16="http://schemas.microsoft.com/office/drawing/2014/main" id="{71F7055A-9DE0-690D-CDC3-2AD36DD2063B}"/>
                </a:ext>
              </a:extLst>
            </p:cNvPr>
            <p:cNvPicPr>
              <a:picLocks noChangeAspect="1"/>
            </p:cNvPicPr>
            <p:nvPr/>
          </p:nvPicPr>
          <p:blipFill>
            <a:blip r:embed="rId5"/>
            <a:stretch>
              <a:fillRect/>
            </a:stretch>
          </p:blipFill>
          <p:spPr>
            <a:xfrm>
              <a:off x="6323881" y="3011009"/>
              <a:ext cx="2305903" cy="2926800"/>
            </a:xfrm>
            <a:prstGeom prst="rect">
              <a:avLst/>
            </a:prstGeom>
          </p:spPr>
        </p:pic>
      </p:grpSp>
    </p:spTree>
    <p:extLst>
      <p:ext uri="{BB962C8B-B14F-4D97-AF65-F5344CB8AC3E}">
        <p14:creationId xmlns:p14="http://schemas.microsoft.com/office/powerpoint/2010/main" val="1197265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92A01-C8C4-3593-7654-9F2DA84AF59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CA847DD-DD4D-1D00-4AC1-9898967156C4}"/>
              </a:ext>
            </a:extLst>
          </p:cNvPr>
          <p:cNvSpPr txBox="1">
            <a:spLocks/>
          </p:cNvSpPr>
          <p:nvPr/>
        </p:nvSpPr>
        <p:spPr>
          <a:xfrm>
            <a:off x="3886877" y="411900"/>
            <a:ext cx="4423006"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CPU</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域调试</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3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printf</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a:t>
            </a:r>
            <a:endPar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3" name="文本占位符 2">
            <a:extLst>
              <a:ext uri="{FF2B5EF4-FFF2-40B4-BE49-F238E27FC236}">
                <a16:creationId xmlns:a16="http://schemas.microsoft.com/office/drawing/2014/main" id="{F598211F-82B9-0D58-3D22-464AAA9B8721}"/>
              </a:ext>
            </a:extLst>
          </p:cNvPr>
          <p:cNvSpPr txBox="1">
            <a:spLocks/>
          </p:cNvSpPr>
          <p:nvPr/>
        </p:nvSpPr>
        <p:spPr>
          <a:xfrm>
            <a:off x="1222688" y="2512505"/>
            <a:ext cx="9751387" cy="873957"/>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None/>
            </a:pPr>
            <a:r>
              <a:rPr lang="zh-CN" altLang="en-US" sz="1800" b="1" dirty="0">
                <a:latin typeface="Arial" panose="020B0604020202020204" pitchFamily="34" charset="0"/>
                <a:ea typeface="微软雅黑" panose="020B0503020204020204" pitchFamily="34" charset="-122"/>
                <a:cs typeface="Arial" panose="020B0604020202020204" pitchFamily="34" charset="0"/>
              </a:rPr>
              <a:t>在代码中直接编写</a:t>
            </a:r>
            <a:r>
              <a:rPr lang="en-US" altLang="zh-CN" sz="1800" b="1" dirty="0" err="1">
                <a:latin typeface="Arial" panose="020B0604020202020204" pitchFamily="34" charset="0"/>
                <a:ea typeface="微软雅黑" panose="020B0503020204020204" pitchFamily="34" charset="-122"/>
                <a:cs typeface="Arial" panose="020B0604020202020204" pitchFamily="34" charset="0"/>
              </a:rPr>
              <a:t>printf</a:t>
            </a:r>
            <a:r>
              <a:rPr lang="en-US" altLang="zh-CN" sz="1800" b="1" dirty="0">
                <a:latin typeface="Arial" panose="020B0604020202020204" pitchFamily="34" charset="0"/>
                <a:ea typeface="微软雅黑" panose="020B0503020204020204" pitchFamily="34" charset="-122"/>
                <a:cs typeface="Arial" panose="020B0604020202020204" pitchFamily="34" charset="0"/>
              </a:rPr>
              <a:t>(...)</a:t>
            </a:r>
            <a:r>
              <a:rPr lang="zh-CN" altLang="en-US" sz="1800" b="1" dirty="0">
                <a:latin typeface="Arial" panose="020B0604020202020204" pitchFamily="34" charset="0"/>
                <a:ea typeface="微软雅黑" panose="020B0503020204020204" pitchFamily="34" charset="-122"/>
                <a:cs typeface="Arial" panose="020B0604020202020204" pitchFamily="34" charset="0"/>
              </a:rPr>
              <a:t>来观察数值的输出。</a:t>
            </a:r>
            <a:endParaRPr lang="en-US" altLang="zh-CN" sz="1800" b="1" dirty="0">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r>
              <a:rPr lang="zh-CN" altLang="en-US" sz="1800" b="1" dirty="0">
                <a:latin typeface="Arial" panose="020B0604020202020204" pitchFamily="34" charset="0"/>
                <a:ea typeface="微软雅黑" panose="020B0503020204020204" pitchFamily="34" charset="-122"/>
                <a:cs typeface="Arial" panose="020B0604020202020204" pitchFamily="34" charset="0"/>
              </a:rPr>
              <a:t>注意：</a:t>
            </a:r>
            <a:r>
              <a:rPr lang="en-US" altLang="zh-CN" sz="1800" b="1" dirty="0">
                <a:latin typeface="Arial" panose="020B0604020202020204" pitchFamily="34" charset="0"/>
                <a:ea typeface="微软雅黑" panose="020B0503020204020204" pitchFamily="34" charset="-122"/>
                <a:cs typeface="Arial" panose="020B0604020202020204" pitchFamily="34" charset="0"/>
              </a:rPr>
              <a:t>NPU</a:t>
            </a:r>
            <a:r>
              <a:rPr lang="zh-CN" altLang="en-US" sz="1800" b="1" dirty="0">
                <a:latin typeface="Arial" panose="020B0604020202020204" pitchFamily="34" charset="0"/>
                <a:ea typeface="微软雅黑" panose="020B0503020204020204" pitchFamily="34" charset="-122"/>
                <a:cs typeface="Arial" panose="020B0604020202020204" pitchFamily="34" charset="0"/>
              </a:rPr>
              <a:t>模式下目前不支持打印语句，所以需要添加内置宏</a:t>
            </a:r>
            <a:r>
              <a:rPr lang="en-US" altLang="zh-CN" sz="1800" b="1" dirty="0">
                <a:latin typeface="Arial" panose="020B0604020202020204" pitchFamily="34" charset="0"/>
                <a:ea typeface="微软雅黑" panose="020B0503020204020204" pitchFamily="34" charset="-122"/>
                <a:cs typeface="Arial" panose="020B0604020202020204" pitchFamily="34" charset="0"/>
              </a:rPr>
              <a:t>__CCE_KT_TEST__</a:t>
            </a:r>
            <a:r>
              <a:rPr lang="zh-CN" altLang="en-US" sz="1800" b="1" dirty="0">
                <a:latin typeface="Arial" panose="020B0604020202020204" pitchFamily="34" charset="0"/>
                <a:ea typeface="微软雅黑" panose="020B0503020204020204" pitchFamily="34" charset="-122"/>
                <a:cs typeface="Arial" panose="020B0604020202020204" pitchFamily="34" charset="0"/>
              </a:rPr>
              <a:t>予以区分。</a:t>
            </a:r>
          </a:p>
        </p:txBody>
      </p:sp>
      <p:pic>
        <p:nvPicPr>
          <p:cNvPr id="4" name="图片 3">
            <a:extLst>
              <a:ext uri="{FF2B5EF4-FFF2-40B4-BE49-F238E27FC236}">
                <a16:creationId xmlns:a16="http://schemas.microsoft.com/office/drawing/2014/main" id="{42C140FF-002B-5F62-C177-C10685594632}"/>
              </a:ext>
            </a:extLst>
          </p:cNvPr>
          <p:cNvPicPr>
            <a:picLocks noChangeAspect="1"/>
          </p:cNvPicPr>
          <p:nvPr/>
        </p:nvPicPr>
        <p:blipFill>
          <a:blip r:embed="rId2"/>
          <a:stretch>
            <a:fillRect/>
          </a:stretch>
        </p:blipFill>
        <p:spPr>
          <a:xfrm>
            <a:off x="4227308" y="3484026"/>
            <a:ext cx="3742146" cy="537436"/>
          </a:xfrm>
          <a:prstGeom prst="rect">
            <a:avLst/>
          </a:prstGeom>
        </p:spPr>
      </p:pic>
    </p:spTree>
    <p:extLst>
      <p:ext uri="{BB962C8B-B14F-4D97-AF65-F5344CB8AC3E}">
        <p14:creationId xmlns:p14="http://schemas.microsoft.com/office/powerpoint/2010/main" val="3166060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1AAE7-088F-B77C-4BA4-7B8AC5360B1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3722D37-4805-F77F-AA0E-7B5B48B0C576}"/>
              </a:ext>
            </a:extLst>
          </p:cNvPr>
          <p:cNvSpPr txBox="1">
            <a:spLocks/>
          </p:cNvSpPr>
          <p:nvPr/>
        </p:nvSpPr>
        <p:spPr>
          <a:xfrm>
            <a:off x="2569209" y="411900"/>
            <a:ext cx="7058343"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NPU</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域调试</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3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DumpTensor</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3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printf</a:t>
            </a:r>
            <a:endPar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3" name="文本占位符 2">
            <a:extLst>
              <a:ext uri="{FF2B5EF4-FFF2-40B4-BE49-F238E27FC236}">
                <a16:creationId xmlns:a16="http://schemas.microsoft.com/office/drawing/2014/main" id="{1D270A76-3A4B-23B9-5E7D-1B0EEDBDC12D}"/>
              </a:ext>
            </a:extLst>
          </p:cNvPr>
          <p:cNvSpPr txBox="1">
            <a:spLocks/>
          </p:cNvSpPr>
          <p:nvPr/>
        </p:nvSpPr>
        <p:spPr>
          <a:xfrm>
            <a:off x="2378966" y="1709446"/>
            <a:ext cx="7438831" cy="3797643"/>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None/>
            </a:pPr>
            <a:r>
              <a:rPr lang="zh-CN" altLang="en-US" sz="1800" b="1" dirty="0">
                <a:latin typeface="Arial" panose="020B0604020202020204" pitchFamily="34" charset="0"/>
                <a:ea typeface="微软雅黑" panose="020B0503020204020204" pitchFamily="34" charset="-122"/>
                <a:cs typeface="Arial" panose="020B0604020202020204" pitchFamily="34" charset="0"/>
              </a:rPr>
              <a:t>核心步骤如下：</a:t>
            </a:r>
            <a:endParaRPr lang="en-US" altLang="zh-CN" sz="1800" b="1" dirty="0">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设置打开</a:t>
            </a: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DUMP</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开关的环境变量。</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r>
              <a:rPr lang="zh-CN" altLang="en-US" sz="1200" dirty="0">
                <a:latin typeface="Arial" panose="020B0604020202020204" pitchFamily="34" charset="0"/>
                <a:ea typeface="微软雅黑" panose="020B0503020204020204" pitchFamily="34" charset="-122"/>
                <a:cs typeface="Arial" panose="020B0604020202020204" pitchFamily="34" charset="0"/>
              </a:rPr>
              <a:t>算子工程</a:t>
            </a:r>
            <a:r>
              <a:rPr lang="en-US" altLang="zh-CN" sz="1200" dirty="0" err="1">
                <a:latin typeface="Arial" panose="020B0604020202020204" pitchFamily="34" charset="0"/>
                <a:ea typeface="微软雅黑" panose="020B0503020204020204" pitchFamily="34" charset="-122"/>
                <a:cs typeface="Arial" panose="020B0604020202020204" pitchFamily="34" charset="0"/>
              </a:rPr>
              <a:t>op_kernel</a:t>
            </a:r>
            <a:r>
              <a:rPr lang="zh-CN" altLang="en-US" sz="1200" dirty="0">
                <a:latin typeface="Arial" panose="020B0604020202020204" pitchFamily="34" charset="0"/>
                <a:ea typeface="微软雅黑" panose="020B0503020204020204" pitchFamily="34" charset="-122"/>
                <a:cs typeface="Arial" panose="020B0604020202020204" pitchFamily="34" charset="0"/>
              </a:rPr>
              <a:t>目录下的</a:t>
            </a:r>
            <a:r>
              <a:rPr lang="en-US" altLang="zh-CN" sz="1200" dirty="0">
                <a:latin typeface="Arial" panose="020B0604020202020204" pitchFamily="34" charset="0"/>
                <a:ea typeface="微软雅黑" panose="020B0503020204020204" pitchFamily="34" charset="-122"/>
                <a:cs typeface="Arial" panose="020B0604020202020204" pitchFamily="34" charset="0"/>
              </a:rPr>
              <a:t>CMakeLists.txt</a:t>
            </a:r>
            <a:r>
              <a:rPr lang="zh-CN" altLang="en-US" sz="1200" dirty="0">
                <a:latin typeface="Arial" panose="020B0604020202020204" pitchFamily="34" charset="0"/>
                <a:ea typeface="微软雅黑" panose="020B0503020204020204" pitchFamily="34" charset="-122"/>
                <a:cs typeface="Arial" panose="020B0604020202020204" pitchFamily="34" charset="0"/>
              </a:rPr>
              <a:t>文件，首行增加编译选项，打开</a:t>
            </a:r>
            <a:r>
              <a:rPr lang="en-US" altLang="zh-CN" sz="1200" dirty="0">
                <a:latin typeface="Arial" panose="020B0604020202020204" pitchFamily="34" charset="0"/>
                <a:ea typeface="微软雅黑" panose="020B0503020204020204" pitchFamily="34" charset="-122"/>
                <a:cs typeface="Arial" panose="020B0604020202020204" pitchFamily="34" charset="0"/>
              </a:rPr>
              <a:t>DUMP</a:t>
            </a:r>
            <a:r>
              <a:rPr lang="zh-CN" altLang="en-US" sz="1200" dirty="0">
                <a:latin typeface="Arial" panose="020B0604020202020204" pitchFamily="34" charset="0"/>
                <a:ea typeface="微软雅黑" panose="020B0503020204020204" pitchFamily="34" charset="-122"/>
                <a:cs typeface="Arial" panose="020B0604020202020204" pitchFamily="34" charset="0"/>
              </a:rPr>
              <a:t>开关：</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endParaRPr lang="en-US" altLang="zh-CN" sz="1200" dirty="0">
              <a:solidFill>
                <a:srgbClr val="FF0000"/>
              </a:solidFill>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打印相关信息</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r>
              <a:rPr lang="zh-CN" altLang="en-US" sz="1200" dirty="0">
                <a:latin typeface="Arial" panose="020B0604020202020204" pitchFamily="34" charset="0"/>
                <a:ea typeface="微软雅黑" panose="020B0503020204020204" pitchFamily="34" charset="-122"/>
                <a:cs typeface="Arial" panose="020B0604020202020204" pitchFamily="34" charset="0"/>
              </a:rPr>
              <a:t>在算子</a:t>
            </a:r>
            <a:r>
              <a:rPr lang="en-US" altLang="zh-CN" sz="1200" dirty="0">
                <a:latin typeface="Arial" panose="020B0604020202020204" pitchFamily="34" charset="0"/>
                <a:ea typeface="微软雅黑" panose="020B0503020204020204" pitchFamily="34" charset="-122"/>
                <a:cs typeface="Arial" panose="020B0604020202020204" pitchFamily="34" charset="0"/>
              </a:rPr>
              <a:t>Kernel</a:t>
            </a:r>
            <a:r>
              <a:rPr lang="zh-CN" altLang="en-US" sz="1200" dirty="0">
                <a:latin typeface="Arial" panose="020B0604020202020204" pitchFamily="34" charset="0"/>
                <a:ea typeface="微软雅黑" panose="020B0503020204020204" pitchFamily="34" charset="-122"/>
                <a:cs typeface="Arial" panose="020B0604020202020204" pitchFamily="34" charset="0"/>
              </a:rPr>
              <a:t>侧实现代码中需要输出日志信息的地方调用</a:t>
            </a:r>
            <a:r>
              <a:rPr lang="en-US" altLang="zh-CN" sz="1200" dirty="0" err="1">
                <a:latin typeface="Arial" panose="020B0604020202020204" pitchFamily="34" charset="0"/>
                <a:ea typeface="微软雅黑" panose="020B0503020204020204" pitchFamily="34" charset="-122"/>
                <a:cs typeface="Arial" panose="020B0604020202020204" pitchFamily="34" charset="0"/>
              </a:rPr>
              <a:t>DumpTensor</a:t>
            </a:r>
            <a:r>
              <a:rPr lang="zh-CN" altLang="en-US" sz="1200" dirty="0">
                <a:latin typeface="Arial" panose="020B0604020202020204" pitchFamily="34" charset="0"/>
                <a:ea typeface="微软雅黑" panose="020B0503020204020204" pitchFamily="34" charset="-122"/>
                <a:cs typeface="Arial" panose="020B0604020202020204" pitchFamily="34" charset="0"/>
              </a:rPr>
              <a:t>接口或者</a:t>
            </a:r>
            <a:r>
              <a:rPr lang="en-US" altLang="zh-CN" sz="1200" dirty="0">
                <a:latin typeface="Arial" panose="020B0604020202020204" pitchFamily="34" charset="0"/>
                <a:ea typeface="微软雅黑" panose="020B0503020204020204" pitchFamily="34" charset="-122"/>
                <a:cs typeface="Arial" panose="020B0604020202020204" pitchFamily="34" charset="0"/>
              </a:rPr>
              <a:t>PRINTF</a:t>
            </a:r>
            <a:r>
              <a:rPr lang="zh-CN" altLang="en-US" sz="1200" dirty="0">
                <a:latin typeface="Arial" panose="020B0604020202020204" pitchFamily="34" charset="0"/>
                <a:ea typeface="微软雅黑" panose="020B0503020204020204" pitchFamily="34" charset="-122"/>
                <a:cs typeface="Arial" panose="020B0604020202020204" pitchFamily="34" charset="0"/>
              </a:rPr>
              <a:t>接口打印相关内容。</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r>
              <a:rPr lang="en-US" altLang="zh-CN" sz="1200" dirty="0" err="1">
                <a:latin typeface="Arial" panose="020B0604020202020204" pitchFamily="34" charset="0"/>
                <a:ea typeface="微软雅黑" panose="020B0503020204020204" pitchFamily="34" charset="-122"/>
                <a:cs typeface="Arial" panose="020B0604020202020204" pitchFamily="34" charset="0"/>
              </a:rPr>
              <a:t>DumpTensor</a:t>
            </a:r>
            <a:r>
              <a:rPr lang="zh-CN" altLang="en-US" sz="1200" dirty="0">
                <a:latin typeface="Arial" panose="020B0604020202020204" pitchFamily="34" charset="0"/>
                <a:ea typeface="微软雅黑" panose="020B0503020204020204" pitchFamily="34" charset="-122"/>
                <a:cs typeface="Arial" panose="020B0604020202020204" pitchFamily="34" charset="0"/>
              </a:rPr>
              <a:t>使用示例：</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r>
              <a:rPr lang="en-US" altLang="zh-CN" sz="1200" dirty="0" err="1">
                <a:latin typeface="Arial" panose="020B0604020202020204" pitchFamily="34" charset="0"/>
                <a:ea typeface="微软雅黑" panose="020B0503020204020204" pitchFamily="34" charset="-122"/>
                <a:cs typeface="Arial" panose="020B0604020202020204" pitchFamily="34" charset="0"/>
              </a:rPr>
              <a:t>printf</a:t>
            </a:r>
            <a:r>
              <a:rPr lang="zh-CN" altLang="en-US" sz="1200" dirty="0">
                <a:latin typeface="Arial" panose="020B0604020202020204" pitchFamily="34" charset="0"/>
                <a:ea typeface="微软雅黑" panose="020B0503020204020204" pitchFamily="34" charset="-122"/>
                <a:cs typeface="Arial" panose="020B0604020202020204" pitchFamily="34" charset="0"/>
              </a:rPr>
              <a:t>使用示例：</a:t>
            </a:r>
          </a:p>
          <a:p>
            <a:pPr marL="0" indent="0">
              <a:lnSpc>
                <a:spcPct val="150000"/>
              </a:lnSpc>
              <a:spcBef>
                <a:spcPts val="0"/>
              </a:spcBef>
              <a:buNone/>
            </a:pP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endParaRPr lang="zh-CN" altLang="en-US" sz="1200" dirty="0">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a:extLst>
              <a:ext uri="{FF2B5EF4-FFF2-40B4-BE49-F238E27FC236}">
                <a16:creationId xmlns:a16="http://schemas.microsoft.com/office/drawing/2014/main" id="{A1A4B84C-9504-3549-3ADE-E47DFF8880FC}"/>
              </a:ext>
            </a:extLst>
          </p:cNvPr>
          <p:cNvPicPr>
            <a:picLocks noChangeAspect="1"/>
          </p:cNvPicPr>
          <p:nvPr/>
        </p:nvPicPr>
        <p:blipFill>
          <a:blip r:embed="rId2"/>
          <a:stretch>
            <a:fillRect/>
          </a:stretch>
        </p:blipFill>
        <p:spPr>
          <a:xfrm>
            <a:off x="2476482" y="2935475"/>
            <a:ext cx="4688753" cy="257994"/>
          </a:xfrm>
          <a:prstGeom prst="rect">
            <a:avLst/>
          </a:prstGeom>
        </p:spPr>
      </p:pic>
      <p:pic>
        <p:nvPicPr>
          <p:cNvPr id="5" name="图片 4">
            <a:extLst>
              <a:ext uri="{FF2B5EF4-FFF2-40B4-BE49-F238E27FC236}">
                <a16:creationId xmlns:a16="http://schemas.microsoft.com/office/drawing/2014/main" id="{4FD55D0A-6A92-1900-3E54-3B40176ABDD6}"/>
              </a:ext>
            </a:extLst>
          </p:cNvPr>
          <p:cNvPicPr>
            <a:picLocks noChangeAspect="1"/>
          </p:cNvPicPr>
          <p:nvPr/>
        </p:nvPicPr>
        <p:blipFill>
          <a:blip r:embed="rId3"/>
          <a:stretch>
            <a:fillRect/>
          </a:stretch>
        </p:blipFill>
        <p:spPr>
          <a:xfrm>
            <a:off x="2476482" y="4994510"/>
            <a:ext cx="2914017" cy="203304"/>
          </a:xfrm>
          <a:prstGeom prst="rect">
            <a:avLst/>
          </a:prstGeom>
        </p:spPr>
      </p:pic>
      <p:pic>
        <p:nvPicPr>
          <p:cNvPr id="6" name="图片 5">
            <a:extLst>
              <a:ext uri="{FF2B5EF4-FFF2-40B4-BE49-F238E27FC236}">
                <a16:creationId xmlns:a16="http://schemas.microsoft.com/office/drawing/2014/main" id="{793A087C-5329-FE36-2D87-0F7C4731A42F}"/>
              </a:ext>
            </a:extLst>
          </p:cNvPr>
          <p:cNvPicPr>
            <a:picLocks noChangeAspect="1"/>
          </p:cNvPicPr>
          <p:nvPr/>
        </p:nvPicPr>
        <p:blipFill>
          <a:blip r:embed="rId4"/>
          <a:stretch>
            <a:fillRect/>
          </a:stretch>
        </p:blipFill>
        <p:spPr>
          <a:xfrm>
            <a:off x="2476482" y="5285576"/>
            <a:ext cx="1670057" cy="235531"/>
          </a:xfrm>
          <a:prstGeom prst="rect">
            <a:avLst/>
          </a:prstGeom>
        </p:spPr>
      </p:pic>
    </p:spTree>
    <p:extLst>
      <p:ext uri="{BB962C8B-B14F-4D97-AF65-F5344CB8AC3E}">
        <p14:creationId xmlns:p14="http://schemas.microsoft.com/office/powerpoint/2010/main" val="2606720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47241-D6B9-EEA5-FD03-48494AB79DF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0DC6ABB-2DC0-516B-0F79-C7477E9935CB}"/>
              </a:ext>
            </a:extLst>
          </p:cNvPr>
          <p:cNvSpPr txBox="1">
            <a:spLocks/>
          </p:cNvSpPr>
          <p:nvPr/>
        </p:nvSpPr>
        <p:spPr>
          <a:xfrm>
            <a:off x="3225638" y="411900"/>
            <a:ext cx="5745484"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NPU</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域调试工具</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3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msdebug</a:t>
            </a:r>
            <a:endPar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3" name="文本占位符 2">
            <a:extLst>
              <a:ext uri="{FF2B5EF4-FFF2-40B4-BE49-F238E27FC236}">
                <a16:creationId xmlns:a16="http://schemas.microsoft.com/office/drawing/2014/main" id="{C4FB11FF-4891-C01D-DECC-9FEC30A76DD0}"/>
              </a:ext>
            </a:extLst>
          </p:cNvPr>
          <p:cNvSpPr txBox="1">
            <a:spLocks/>
          </p:cNvSpPr>
          <p:nvPr/>
        </p:nvSpPr>
        <p:spPr>
          <a:xfrm>
            <a:off x="2166036" y="1835706"/>
            <a:ext cx="7864690" cy="1952201"/>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126000" indent="-126000">
              <a:lnSpc>
                <a:spcPct val="150000"/>
              </a:lnSpc>
              <a:spcBef>
                <a:spcPts val="0"/>
              </a:spcBef>
              <a:spcAft>
                <a:spcPts val="600"/>
              </a:spcAft>
            </a:pPr>
            <a:r>
              <a:rPr lang="zh-CN" altLang="en-US" sz="1200" dirty="0">
                <a:latin typeface="Arial" panose="020B0604020202020204" pitchFamily="34" charset="0"/>
                <a:ea typeface="微软雅黑" panose="020B0503020204020204" pitchFamily="34" charset="-122"/>
                <a:cs typeface="Arial" panose="020B0604020202020204" pitchFamily="34" charset="0"/>
              </a:rPr>
              <a:t>在上板调试时，可以使用</a:t>
            </a:r>
            <a:r>
              <a:rPr lang="en-US" altLang="zh-CN" sz="1200" dirty="0">
                <a:latin typeface="Arial" panose="020B0604020202020204" pitchFamily="34" charset="0"/>
                <a:ea typeface="微软雅黑" panose="020B0503020204020204" pitchFamily="34" charset="-122"/>
                <a:cs typeface="Arial" panose="020B0604020202020204" pitchFamily="34" charset="0"/>
              </a:rPr>
              <a:t>CANN</a:t>
            </a:r>
            <a:r>
              <a:rPr lang="zh-CN" altLang="en-US" sz="1200" dirty="0">
                <a:latin typeface="Arial" panose="020B0604020202020204" pitchFamily="34" charset="0"/>
                <a:ea typeface="微软雅黑" panose="020B0503020204020204" pitchFamily="34" charset="-122"/>
                <a:cs typeface="Arial" panose="020B0604020202020204" pitchFamily="34" charset="0"/>
              </a:rPr>
              <a:t>提供的算子调试工具</a:t>
            </a:r>
            <a:r>
              <a:rPr lang="en-US" altLang="zh-CN" sz="12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msdebug</a:t>
            </a:r>
            <a:r>
              <a:rPr lang="zh-CN" altLang="en-US" sz="1200" dirty="0">
                <a:latin typeface="Arial" panose="020B0604020202020204" pitchFamily="34" charset="0"/>
                <a:ea typeface="微软雅黑" panose="020B0503020204020204" pitchFamily="34" charset="-122"/>
                <a:cs typeface="Arial" panose="020B0604020202020204" pitchFamily="34" charset="0"/>
              </a:rPr>
              <a:t>。</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Bef>
                <a:spcPts val="0"/>
              </a:spcBef>
              <a:spcAft>
                <a:spcPts val="600"/>
              </a:spcAft>
            </a:pPr>
            <a:r>
              <a:rPr lang="en-US" altLang="zh-CN" sz="1200" dirty="0" err="1">
                <a:latin typeface="Arial" panose="020B0604020202020204" pitchFamily="34" charset="0"/>
                <a:ea typeface="微软雅黑" panose="020B0503020204020204" pitchFamily="34" charset="-122"/>
                <a:cs typeface="Arial" panose="020B0604020202020204" pitchFamily="34" charset="0"/>
              </a:rPr>
              <a:t>msdebug</a:t>
            </a:r>
            <a:r>
              <a:rPr lang="zh-CN" altLang="en-US" sz="1200" dirty="0">
                <a:latin typeface="Arial" panose="020B0604020202020204" pitchFamily="34" charset="0"/>
                <a:ea typeface="微软雅黑" panose="020B0503020204020204" pitchFamily="34" charset="-122"/>
                <a:cs typeface="Arial" panose="020B0604020202020204" pitchFamily="34" charset="0"/>
              </a:rPr>
              <a:t>是面向算子开发场景的代码调试工具，支持在昇腾系列</a:t>
            </a:r>
            <a:r>
              <a:rPr lang="en-US" altLang="zh-CN" sz="1200" dirty="0">
                <a:latin typeface="Arial" panose="020B0604020202020204" pitchFamily="34" charset="0"/>
                <a:ea typeface="微软雅黑" panose="020B0503020204020204" pitchFamily="34" charset="-122"/>
                <a:cs typeface="Arial" panose="020B0604020202020204" pitchFamily="34" charset="0"/>
              </a:rPr>
              <a:t>AI</a:t>
            </a:r>
            <a:r>
              <a:rPr lang="zh-CN" altLang="en-US" sz="1200" dirty="0">
                <a:latin typeface="Arial" panose="020B0604020202020204" pitchFamily="34" charset="0"/>
                <a:ea typeface="微软雅黑" panose="020B0503020204020204" pitchFamily="34" charset="-122"/>
                <a:cs typeface="Arial" panose="020B0604020202020204" pitchFamily="34" charset="0"/>
              </a:rPr>
              <a:t>处理器上，对算子编程语言</a:t>
            </a:r>
            <a:r>
              <a:rPr lang="en-US" altLang="zh-CN" sz="1200" dirty="0">
                <a:latin typeface="Arial" panose="020B0604020202020204" pitchFamily="34" charset="0"/>
                <a:ea typeface="微软雅黑" panose="020B0503020204020204" pitchFamily="34" charset="-122"/>
                <a:cs typeface="Arial" panose="020B0604020202020204" pitchFamily="34" charset="0"/>
              </a:rPr>
              <a:t>Ascend C</a:t>
            </a:r>
            <a:r>
              <a:rPr lang="zh-CN" altLang="en-US" sz="1200" dirty="0">
                <a:latin typeface="Arial" panose="020B0604020202020204" pitchFamily="34" charset="0"/>
                <a:ea typeface="微软雅黑" panose="020B0503020204020204" pitchFamily="34" charset="-122"/>
                <a:cs typeface="Arial" panose="020B0604020202020204" pitchFamily="34" charset="0"/>
              </a:rPr>
              <a:t>开发的算子核函数，进行如断点设置、单步运行、变量打印等功能调试，协助算子开发者高效完成代码编写与功能纠正。</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Bef>
                <a:spcPts val="0"/>
              </a:spcBef>
              <a:spcAft>
                <a:spcPts val="600"/>
              </a:spcAft>
            </a:pPr>
            <a:r>
              <a:rPr lang="en-US" altLang="zh-CN" sz="1200" kern="100" dirty="0" err="1">
                <a:latin typeface="Arial" panose="020B0604020202020204" pitchFamily="34" charset="0"/>
                <a:ea typeface="微软雅黑" panose="020B0503020204020204" pitchFamily="34" charset="-122"/>
                <a:cs typeface="Arial" panose="020B0604020202020204" pitchFamily="34" charset="0"/>
              </a:rPr>
              <a:t>msdebug</a:t>
            </a:r>
            <a:r>
              <a:rPr lang="zh-CN" altLang="zh-CN" sz="1200" kern="100" dirty="0">
                <a:latin typeface="Arial" panose="020B0604020202020204" pitchFamily="34" charset="0"/>
                <a:ea typeface="微软雅黑" panose="020B0503020204020204" pitchFamily="34" charset="-122"/>
                <a:cs typeface="Arial" panose="020B0604020202020204" pitchFamily="34" charset="0"/>
              </a:rPr>
              <a:t>作为代码调试器，本质上把用户输入的调试命令翻译为了机器语言，并完成了程序控制。</a:t>
            </a:r>
            <a:endParaRPr lang="en-US" altLang="zh-CN" sz="1200" kern="100" dirty="0">
              <a:latin typeface="Arial" panose="020B0604020202020204" pitchFamily="34" charset="0"/>
              <a:ea typeface="微软雅黑" panose="020B0503020204020204" pitchFamily="34" charset="-122"/>
              <a:cs typeface="Arial" panose="020B0604020202020204" pitchFamily="34" charset="0"/>
            </a:endParaRPr>
          </a:p>
          <a:p>
            <a:pPr marL="126000" indent="0">
              <a:lnSpc>
                <a:spcPct val="150000"/>
              </a:lnSpc>
              <a:spcBef>
                <a:spcPts val="0"/>
              </a:spcBef>
              <a:spcAft>
                <a:spcPts val="600"/>
              </a:spcAft>
              <a:buFont typeface="Arial" panose="020B0604020202020204" pitchFamily="34" charset="0"/>
              <a:buNone/>
            </a:pPr>
            <a:r>
              <a:rPr lang="zh-CN" altLang="zh-CN" sz="1200" kern="100" dirty="0">
                <a:latin typeface="Arial" panose="020B0604020202020204" pitchFamily="34" charset="0"/>
                <a:ea typeface="微软雅黑" panose="020B0503020204020204" pitchFamily="34" charset="-122"/>
                <a:cs typeface="Arial" panose="020B0604020202020204" pitchFamily="34" charset="0"/>
              </a:rPr>
              <a:t>类似于使用</a:t>
            </a:r>
            <a:r>
              <a:rPr lang="en-US" altLang="zh-CN" sz="1200" kern="100" dirty="0" err="1">
                <a:latin typeface="Arial" panose="020B0604020202020204" pitchFamily="34" charset="0"/>
                <a:ea typeface="微软雅黑" panose="020B0503020204020204" pitchFamily="34" charset="-122"/>
                <a:cs typeface="Arial" panose="020B0604020202020204" pitchFamily="34" charset="0"/>
              </a:rPr>
              <a:t>ptrace</a:t>
            </a:r>
            <a:r>
              <a:rPr lang="en-US" altLang="zh-CN" sz="1200" kern="100" dirty="0">
                <a:latin typeface="Arial" panose="020B0604020202020204" pitchFamily="34" charset="0"/>
                <a:ea typeface="微软雅黑" panose="020B0503020204020204" pitchFamily="34" charset="-122"/>
                <a:cs typeface="Arial" panose="020B0604020202020204" pitchFamily="34" charset="0"/>
              </a:rPr>
              <a:t> API</a:t>
            </a:r>
            <a:r>
              <a:rPr lang="zh-CN" altLang="zh-CN" sz="1200" kern="100" dirty="0">
                <a:latin typeface="Arial" panose="020B0604020202020204" pitchFamily="34" charset="0"/>
                <a:ea typeface="微软雅黑" panose="020B0503020204020204" pitchFamily="34" charset="-122"/>
                <a:cs typeface="Arial" panose="020B0604020202020204" pitchFamily="34" charset="0"/>
              </a:rPr>
              <a:t>控制</a:t>
            </a:r>
            <a:r>
              <a:rPr lang="en-US" altLang="zh-CN" sz="1200" kern="100" dirty="0">
                <a:latin typeface="Arial" panose="020B0604020202020204" pitchFamily="34" charset="0"/>
                <a:ea typeface="微软雅黑" panose="020B0503020204020204" pitchFamily="34" charset="-122"/>
                <a:cs typeface="Arial" panose="020B0604020202020204" pitchFamily="34" charset="0"/>
              </a:rPr>
              <a:t>CPU</a:t>
            </a:r>
            <a:r>
              <a:rPr lang="zh-CN" altLang="zh-CN" sz="1200" kern="100" dirty="0">
                <a:latin typeface="Arial" panose="020B0604020202020204" pitchFamily="34" charset="0"/>
                <a:ea typeface="微软雅黑" panose="020B0503020204020204" pitchFamily="34" charset="-122"/>
                <a:cs typeface="Arial" panose="020B0604020202020204" pitchFamily="34" charset="0"/>
              </a:rPr>
              <a:t>程序，在算子核函数代码调试中，</a:t>
            </a:r>
            <a:r>
              <a:rPr lang="en-US" altLang="zh-CN" sz="1200" kern="100" dirty="0" err="1">
                <a:latin typeface="Arial" panose="020B0604020202020204" pitchFamily="34" charset="0"/>
                <a:ea typeface="微软雅黑" panose="020B0503020204020204" pitchFamily="34" charset="-122"/>
                <a:cs typeface="Arial" panose="020B0604020202020204" pitchFamily="34" charset="0"/>
              </a:rPr>
              <a:t>msdebug</a:t>
            </a:r>
            <a:r>
              <a:rPr lang="zh-CN" altLang="zh-CN" sz="1200" kern="100" dirty="0">
                <a:latin typeface="Arial" panose="020B0604020202020204" pitchFamily="34" charset="0"/>
                <a:ea typeface="微软雅黑" panose="020B0503020204020204" pitchFamily="34" charset="-122"/>
                <a:cs typeface="Arial" panose="020B0604020202020204" pitchFamily="34" charset="0"/>
              </a:rPr>
              <a:t>通过驱动层的调试通道，调用任务管理器提供的</a:t>
            </a:r>
            <a:r>
              <a:rPr lang="en-US" altLang="zh-CN" sz="1200" kern="100" dirty="0">
                <a:latin typeface="Arial" panose="020B0604020202020204" pitchFamily="34" charset="0"/>
                <a:ea typeface="微软雅黑" panose="020B0503020204020204" pitchFamily="34" charset="-122"/>
                <a:cs typeface="Arial" panose="020B0604020202020204" pitchFamily="34" charset="0"/>
              </a:rPr>
              <a:t>Debug API</a:t>
            </a:r>
            <a:r>
              <a:rPr lang="zh-CN" altLang="zh-CN" sz="1200" kern="100" dirty="0">
                <a:latin typeface="Arial" panose="020B0604020202020204" pitchFamily="34" charset="0"/>
                <a:ea typeface="微软雅黑" panose="020B0503020204020204" pitchFamily="34" charset="-122"/>
                <a:cs typeface="Arial" panose="020B0604020202020204" pitchFamily="34" charset="0"/>
              </a:rPr>
              <a:t>实施对</a:t>
            </a:r>
            <a:r>
              <a:rPr lang="en-US" altLang="zh-CN" sz="1200" kern="100" dirty="0">
                <a:latin typeface="Arial" panose="020B0604020202020204" pitchFamily="34" charset="0"/>
                <a:ea typeface="微软雅黑" panose="020B0503020204020204" pitchFamily="34" charset="-122"/>
                <a:cs typeface="Arial" panose="020B0604020202020204" pitchFamily="34" charset="0"/>
              </a:rPr>
              <a:t>AI</a:t>
            </a:r>
            <a:r>
              <a:rPr lang="zh-CN" altLang="zh-CN" sz="1200" kern="100" dirty="0">
                <a:latin typeface="Arial" panose="020B0604020202020204" pitchFamily="34" charset="0"/>
                <a:ea typeface="微软雅黑" panose="020B0503020204020204" pitchFamily="34" charset="-122"/>
                <a:cs typeface="Arial" panose="020B0604020202020204" pitchFamily="34" charset="0"/>
              </a:rPr>
              <a:t>处理器的控制，实现了对算子核函数的程序控制功能。</a:t>
            </a:r>
            <a:endParaRPr lang="zh-CN" altLang="en-US" sz="1200" dirty="0">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a:extLst>
              <a:ext uri="{FF2B5EF4-FFF2-40B4-BE49-F238E27FC236}">
                <a16:creationId xmlns:a16="http://schemas.microsoft.com/office/drawing/2014/main" id="{576E2090-694B-A9A1-9AC8-69E286708A9D}"/>
              </a:ext>
            </a:extLst>
          </p:cNvPr>
          <p:cNvPicPr>
            <a:picLocks noChangeAspect="1"/>
          </p:cNvPicPr>
          <p:nvPr/>
        </p:nvPicPr>
        <p:blipFill>
          <a:blip r:embed="rId2"/>
          <a:stretch>
            <a:fillRect/>
          </a:stretch>
        </p:blipFill>
        <p:spPr>
          <a:xfrm>
            <a:off x="3984847" y="3915539"/>
            <a:ext cx="4227068" cy="1796117"/>
          </a:xfrm>
          <a:prstGeom prst="rect">
            <a:avLst/>
          </a:prstGeom>
        </p:spPr>
      </p:pic>
    </p:spTree>
    <p:extLst>
      <p:ext uri="{BB962C8B-B14F-4D97-AF65-F5344CB8AC3E}">
        <p14:creationId xmlns:p14="http://schemas.microsoft.com/office/powerpoint/2010/main" val="3808763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AA2E-3EBD-A46F-7478-FB51C54AFC2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16D0D1A-C19A-2840-FE75-F6C220989AA9}"/>
              </a:ext>
            </a:extLst>
          </p:cNvPr>
          <p:cNvSpPr txBox="1">
            <a:spLocks/>
          </p:cNvSpPr>
          <p:nvPr/>
        </p:nvSpPr>
        <p:spPr>
          <a:xfrm>
            <a:off x="2946715" y="411900"/>
            <a:ext cx="6303329"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en-US" altLang="zh-CN" sz="3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Msdebug</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使用方法</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断点设置</a:t>
            </a:r>
          </a:p>
        </p:txBody>
      </p:sp>
      <p:sp>
        <p:nvSpPr>
          <p:cNvPr id="3" name="文本占位符 2">
            <a:extLst>
              <a:ext uri="{FF2B5EF4-FFF2-40B4-BE49-F238E27FC236}">
                <a16:creationId xmlns:a16="http://schemas.microsoft.com/office/drawing/2014/main" id="{65BABB5D-76FE-E3CC-2D42-F363A71B3A2B}"/>
              </a:ext>
            </a:extLst>
          </p:cNvPr>
          <p:cNvSpPr txBox="1">
            <a:spLocks/>
          </p:cNvSpPr>
          <p:nvPr/>
        </p:nvSpPr>
        <p:spPr>
          <a:xfrm>
            <a:off x="1298930" y="1737558"/>
            <a:ext cx="4108817" cy="3669723"/>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buNone/>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根据函数名在函数入口处设置断点：</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indent="0">
              <a:buNone/>
            </a:pP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indent="0">
              <a:buNone/>
            </a:pP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indent="0">
              <a:buNone/>
            </a:pP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indent="0">
              <a:buNone/>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在代码源文件的特定代码行设置断点：</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indent="0">
              <a:buNone/>
            </a:pP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indent="0">
              <a:buNone/>
            </a:pP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indent="0">
              <a:buNone/>
            </a:pP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indent="0">
              <a:buNone/>
            </a:pPr>
            <a:r>
              <a:rPr lang="zh-CN" altLang="zh-CN" sz="1800" b="1" kern="100" dirty="0">
                <a:solidFill>
                  <a:srgbClr val="C00000"/>
                </a:solidFill>
                <a:latin typeface="Arial" panose="020B0604020202020204" pitchFamily="34" charset="0"/>
                <a:ea typeface="微软雅黑" panose="020B0503020204020204" pitchFamily="34" charset="-122"/>
                <a:cs typeface="Arial" panose="020B0604020202020204" pitchFamily="34" charset="0"/>
              </a:rPr>
              <a:t>对特定地址设置断点：</a:t>
            </a:r>
          </a:p>
        </p:txBody>
      </p:sp>
      <p:pic>
        <p:nvPicPr>
          <p:cNvPr id="4" name="图片 3">
            <a:extLst>
              <a:ext uri="{FF2B5EF4-FFF2-40B4-BE49-F238E27FC236}">
                <a16:creationId xmlns:a16="http://schemas.microsoft.com/office/drawing/2014/main" id="{39BD9A00-800E-496A-51E4-41A9E797CD9A}"/>
              </a:ext>
            </a:extLst>
          </p:cNvPr>
          <p:cNvPicPr>
            <a:picLocks noChangeAspect="1"/>
          </p:cNvPicPr>
          <p:nvPr/>
        </p:nvPicPr>
        <p:blipFill>
          <a:blip r:embed="rId2"/>
          <a:stretch>
            <a:fillRect/>
          </a:stretch>
        </p:blipFill>
        <p:spPr>
          <a:xfrm>
            <a:off x="1394180" y="2091818"/>
            <a:ext cx="3115692" cy="656451"/>
          </a:xfrm>
          <a:prstGeom prst="rect">
            <a:avLst/>
          </a:prstGeom>
        </p:spPr>
      </p:pic>
      <p:pic>
        <p:nvPicPr>
          <p:cNvPr id="5" name="图片 4">
            <a:extLst>
              <a:ext uri="{FF2B5EF4-FFF2-40B4-BE49-F238E27FC236}">
                <a16:creationId xmlns:a16="http://schemas.microsoft.com/office/drawing/2014/main" id="{AC9F124F-1282-76C3-D1D8-2194CAECC8AF}"/>
              </a:ext>
            </a:extLst>
          </p:cNvPr>
          <p:cNvPicPr>
            <a:picLocks noChangeAspect="1"/>
          </p:cNvPicPr>
          <p:nvPr/>
        </p:nvPicPr>
        <p:blipFill>
          <a:blip r:embed="rId3"/>
          <a:stretch>
            <a:fillRect/>
          </a:stretch>
        </p:blipFill>
        <p:spPr>
          <a:xfrm>
            <a:off x="1394180" y="3746905"/>
            <a:ext cx="4124314" cy="626734"/>
          </a:xfrm>
          <a:prstGeom prst="rect">
            <a:avLst/>
          </a:prstGeom>
        </p:spPr>
      </p:pic>
      <p:pic>
        <p:nvPicPr>
          <p:cNvPr id="6" name="图片 5">
            <a:extLst>
              <a:ext uri="{FF2B5EF4-FFF2-40B4-BE49-F238E27FC236}">
                <a16:creationId xmlns:a16="http://schemas.microsoft.com/office/drawing/2014/main" id="{D1A69DD5-A854-1F14-6B7D-C418073671C9}"/>
              </a:ext>
            </a:extLst>
          </p:cNvPr>
          <p:cNvPicPr>
            <a:picLocks noChangeAspect="1"/>
          </p:cNvPicPr>
          <p:nvPr/>
        </p:nvPicPr>
        <p:blipFill>
          <a:blip r:embed="rId4"/>
          <a:stretch>
            <a:fillRect/>
          </a:stretch>
        </p:blipFill>
        <p:spPr>
          <a:xfrm>
            <a:off x="1394180" y="5407281"/>
            <a:ext cx="1588573" cy="241968"/>
          </a:xfrm>
          <a:prstGeom prst="rect">
            <a:avLst/>
          </a:prstGeom>
        </p:spPr>
      </p:pic>
      <p:pic>
        <p:nvPicPr>
          <p:cNvPr id="7" name="图片 6">
            <a:extLst>
              <a:ext uri="{FF2B5EF4-FFF2-40B4-BE49-F238E27FC236}">
                <a16:creationId xmlns:a16="http://schemas.microsoft.com/office/drawing/2014/main" id="{0385F6B9-E141-039D-195B-C3B6E03EE55C}"/>
              </a:ext>
            </a:extLst>
          </p:cNvPr>
          <p:cNvPicPr>
            <a:picLocks noChangeAspect="1"/>
          </p:cNvPicPr>
          <p:nvPr/>
        </p:nvPicPr>
        <p:blipFill>
          <a:blip r:embed="rId5"/>
          <a:stretch>
            <a:fillRect/>
          </a:stretch>
        </p:blipFill>
        <p:spPr>
          <a:xfrm>
            <a:off x="5613744" y="2666366"/>
            <a:ext cx="5284089" cy="2054075"/>
          </a:xfrm>
          <a:prstGeom prst="rect">
            <a:avLst/>
          </a:prstGeom>
        </p:spPr>
      </p:pic>
    </p:spTree>
    <p:extLst>
      <p:ext uri="{BB962C8B-B14F-4D97-AF65-F5344CB8AC3E}">
        <p14:creationId xmlns:p14="http://schemas.microsoft.com/office/powerpoint/2010/main" val="2990832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7E842-A618-22BB-5BC7-52FE686DC9F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667288F-A341-7BE3-9BBA-38025350C95F}"/>
              </a:ext>
            </a:extLst>
          </p:cNvPr>
          <p:cNvSpPr txBox="1">
            <a:spLocks/>
          </p:cNvSpPr>
          <p:nvPr/>
        </p:nvSpPr>
        <p:spPr>
          <a:xfrm>
            <a:off x="2946715" y="411900"/>
            <a:ext cx="6303329"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en-US" altLang="zh-CN" sz="3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Msdebug</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使用方法</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单步运行</a:t>
            </a:r>
          </a:p>
        </p:txBody>
      </p:sp>
      <p:sp>
        <p:nvSpPr>
          <p:cNvPr id="3" name="文本占位符 2">
            <a:extLst>
              <a:ext uri="{FF2B5EF4-FFF2-40B4-BE49-F238E27FC236}">
                <a16:creationId xmlns:a16="http://schemas.microsoft.com/office/drawing/2014/main" id="{3D8C82D2-2A16-18C5-E8A9-06EE1CDEFF62}"/>
              </a:ext>
            </a:extLst>
          </p:cNvPr>
          <p:cNvSpPr txBox="1">
            <a:spLocks/>
          </p:cNvSpPr>
          <p:nvPr/>
        </p:nvSpPr>
        <p:spPr>
          <a:xfrm>
            <a:off x="2219524" y="1949291"/>
            <a:ext cx="7757714" cy="873957"/>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gn="ctr">
              <a:lnSpc>
                <a:spcPct val="150000"/>
              </a:lnSpc>
              <a:buNone/>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在算子程序进入暂停状态后，</a:t>
            </a:r>
            <a:r>
              <a:rPr lang="en-US" altLang="zh-CN" sz="18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msdebug</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支持让算子核函数跳过当前代码行，停在逻辑上应执行的后一行代码前。</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a:extLst>
              <a:ext uri="{FF2B5EF4-FFF2-40B4-BE49-F238E27FC236}">
                <a16:creationId xmlns:a16="http://schemas.microsoft.com/office/drawing/2014/main" id="{47659112-BDD6-2D85-4B17-C1223496295D}"/>
              </a:ext>
            </a:extLst>
          </p:cNvPr>
          <p:cNvPicPr>
            <a:picLocks noChangeAspect="1"/>
          </p:cNvPicPr>
          <p:nvPr/>
        </p:nvPicPr>
        <p:blipFill>
          <a:blip r:embed="rId2"/>
          <a:stretch>
            <a:fillRect/>
          </a:stretch>
        </p:blipFill>
        <p:spPr>
          <a:xfrm>
            <a:off x="5412580" y="2954301"/>
            <a:ext cx="1371602" cy="266330"/>
          </a:xfrm>
          <a:prstGeom prst="rect">
            <a:avLst/>
          </a:prstGeom>
        </p:spPr>
      </p:pic>
      <p:pic>
        <p:nvPicPr>
          <p:cNvPr id="5" name="图片 4">
            <a:extLst>
              <a:ext uri="{FF2B5EF4-FFF2-40B4-BE49-F238E27FC236}">
                <a16:creationId xmlns:a16="http://schemas.microsoft.com/office/drawing/2014/main" id="{4E276587-0D17-C1A1-ED57-DD1EC7D6388E}"/>
              </a:ext>
            </a:extLst>
          </p:cNvPr>
          <p:cNvPicPr>
            <a:picLocks noChangeAspect="1"/>
          </p:cNvPicPr>
          <p:nvPr/>
        </p:nvPicPr>
        <p:blipFill>
          <a:blip r:embed="rId3"/>
          <a:stretch>
            <a:fillRect/>
          </a:stretch>
        </p:blipFill>
        <p:spPr>
          <a:xfrm>
            <a:off x="3551495" y="3287306"/>
            <a:ext cx="5093772" cy="1968390"/>
          </a:xfrm>
          <a:prstGeom prst="rect">
            <a:avLst/>
          </a:prstGeom>
        </p:spPr>
      </p:pic>
    </p:spTree>
    <p:extLst>
      <p:ext uri="{BB962C8B-B14F-4D97-AF65-F5344CB8AC3E}">
        <p14:creationId xmlns:p14="http://schemas.microsoft.com/office/powerpoint/2010/main" val="1583432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BBEA8-E035-4B31-124C-86FADC3B03E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400155B-0EFA-8C12-EF70-35F44C072A09}"/>
              </a:ext>
            </a:extLst>
          </p:cNvPr>
          <p:cNvSpPr txBox="1">
            <a:spLocks/>
          </p:cNvSpPr>
          <p:nvPr/>
        </p:nvSpPr>
        <p:spPr>
          <a:xfrm>
            <a:off x="2946715" y="411900"/>
            <a:ext cx="6303329"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en-US" altLang="zh-CN" sz="3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Msdebug</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使用方法</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变量打印</a:t>
            </a:r>
          </a:p>
        </p:txBody>
      </p:sp>
      <p:sp>
        <p:nvSpPr>
          <p:cNvPr id="3" name="文本占位符 2">
            <a:extLst>
              <a:ext uri="{FF2B5EF4-FFF2-40B4-BE49-F238E27FC236}">
                <a16:creationId xmlns:a16="http://schemas.microsoft.com/office/drawing/2014/main" id="{B5687E23-1175-71AB-44B3-D022F0711B3B}"/>
              </a:ext>
            </a:extLst>
          </p:cNvPr>
          <p:cNvSpPr txBox="1">
            <a:spLocks/>
          </p:cNvSpPr>
          <p:nvPr/>
        </p:nvSpPr>
        <p:spPr>
          <a:xfrm>
            <a:off x="1915185" y="2133934"/>
            <a:ext cx="8366394" cy="341632"/>
          </a:xfrm>
          <a:prstGeom prst="rect">
            <a:avLst/>
          </a:prstGeom>
        </p:spPr>
        <p:txBody>
          <a:bodyPr wrap="non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gn="ctr">
              <a:buNone/>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在算子程序处于暂停状态时，</a:t>
            </a:r>
            <a:r>
              <a:rPr lang="en-US" altLang="zh-CN" sz="18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msdebug</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支持打印断点代码行作用域内的变量值。</a:t>
            </a:r>
          </a:p>
        </p:txBody>
      </p:sp>
      <p:pic>
        <p:nvPicPr>
          <p:cNvPr id="4" name="图片 3">
            <a:extLst>
              <a:ext uri="{FF2B5EF4-FFF2-40B4-BE49-F238E27FC236}">
                <a16:creationId xmlns:a16="http://schemas.microsoft.com/office/drawing/2014/main" id="{41F80EA4-60DC-088D-7DD3-25926BBFED06}"/>
              </a:ext>
            </a:extLst>
          </p:cNvPr>
          <p:cNvPicPr>
            <a:picLocks noChangeAspect="1"/>
          </p:cNvPicPr>
          <p:nvPr/>
        </p:nvPicPr>
        <p:blipFill>
          <a:blip r:embed="rId2"/>
          <a:stretch>
            <a:fillRect/>
          </a:stretch>
        </p:blipFill>
        <p:spPr>
          <a:xfrm>
            <a:off x="5133974" y="2531979"/>
            <a:ext cx="1924052" cy="440076"/>
          </a:xfrm>
          <a:prstGeom prst="rect">
            <a:avLst/>
          </a:prstGeom>
        </p:spPr>
      </p:pic>
      <p:pic>
        <p:nvPicPr>
          <p:cNvPr id="5" name="图片 4">
            <a:extLst>
              <a:ext uri="{FF2B5EF4-FFF2-40B4-BE49-F238E27FC236}">
                <a16:creationId xmlns:a16="http://schemas.microsoft.com/office/drawing/2014/main" id="{B734F3B7-DCF0-65E0-6D5D-DF9BC30C7BCC}"/>
              </a:ext>
            </a:extLst>
          </p:cNvPr>
          <p:cNvPicPr>
            <a:picLocks noChangeAspect="1"/>
          </p:cNvPicPr>
          <p:nvPr/>
        </p:nvPicPr>
        <p:blipFill>
          <a:blip r:embed="rId3"/>
          <a:stretch>
            <a:fillRect/>
          </a:stretch>
        </p:blipFill>
        <p:spPr>
          <a:xfrm>
            <a:off x="3959088" y="3111568"/>
            <a:ext cx="4384812" cy="1932480"/>
          </a:xfrm>
          <a:prstGeom prst="rect">
            <a:avLst/>
          </a:prstGeom>
        </p:spPr>
      </p:pic>
    </p:spTree>
    <p:extLst>
      <p:ext uri="{BB962C8B-B14F-4D97-AF65-F5344CB8AC3E}">
        <p14:creationId xmlns:p14="http://schemas.microsoft.com/office/powerpoint/2010/main" val="2464724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6B47C-C737-A3EE-4289-17FB3AA55CE7}"/>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CB54DCED-41CC-B4C6-050A-E7783AE1106A}"/>
              </a:ext>
            </a:extLst>
          </p:cNvPr>
          <p:cNvSpPr txBox="1">
            <a:spLocks/>
          </p:cNvSpPr>
          <p:nvPr/>
        </p:nvSpPr>
        <p:spPr>
          <a:xfrm>
            <a:off x="5185309" y="411900"/>
            <a:ext cx="182614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本章内容</a:t>
            </a:r>
          </a:p>
        </p:txBody>
      </p:sp>
      <p:sp>
        <p:nvSpPr>
          <p:cNvPr id="21" name="矩形: 圆角 20">
            <a:extLst>
              <a:ext uri="{FF2B5EF4-FFF2-40B4-BE49-F238E27FC236}">
                <a16:creationId xmlns:a16="http://schemas.microsoft.com/office/drawing/2014/main" id="{0DEB9369-CBAE-C3D5-41F3-1B1CF0644CB2}"/>
              </a:ext>
            </a:extLst>
          </p:cNvPr>
          <p:cNvSpPr/>
          <p:nvPr/>
        </p:nvSpPr>
        <p:spPr>
          <a:xfrm>
            <a:off x="4712642" y="2169545"/>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1</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2" name="文本框 21">
            <a:extLst>
              <a:ext uri="{FF2B5EF4-FFF2-40B4-BE49-F238E27FC236}">
                <a16:creationId xmlns:a16="http://schemas.microsoft.com/office/drawing/2014/main" id="{5099957B-9419-3271-FB9E-0C1D46F863C3}"/>
              </a:ext>
            </a:extLst>
          </p:cNvPr>
          <p:cNvSpPr txBox="1"/>
          <p:nvPr/>
        </p:nvSpPr>
        <p:spPr>
          <a:xfrm>
            <a:off x="5265051" y="2213479"/>
            <a:ext cx="1569660" cy="369332"/>
          </a:xfrm>
          <a:prstGeom prst="rect">
            <a:avLst/>
          </a:prstGeom>
          <a:noFill/>
        </p:spPr>
        <p:txBody>
          <a:bodyPr wrap="none">
            <a:spAutoFit/>
          </a:bodyPr>
          <a:lstStyle/>
          <a:p>
            <a:pPr marL="642915" indent="-822915">
              <a:buSzTx/>
              <a:buNone/>
              <a:defRPr sz="3600">
                <a:solidFill>
                  <a:srgbClr val="FF2600"/>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算子调试工具</a:t>
            </a:r>
          </a:p>
        </p:txBody>
      </p:sp>
      <p:sp>
        <p:nvSpPr>
          <p:cNvPr id="23" name="矩形: 圆角 22">
            <a:extLst>
              <a:ext uri="{FF2B5EF4-FFF2-40B4-BE49-F238E27FC236}">
                <a16:creationId xmlns:a16="http://schemas.microsoft.com/office/drawing/2014/main" id="{E9A1D8C6-AC7A-FB7E-1FB4-50BD6B1A31BB}"/>
              </a:ext>
            </a:extLst>
          </p:cNvPr>
          <p:cNvSpPr/>
          <p:nvPr/>
        </p:nvSpPr>
        <p:spPr>
          <a:xfrm>
            <a:off x="4712642" y="2856782"/>
            <a:ext cx="457200" cy="45720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2</a:t>
            </a:r>
            <a:endParaRPr lang="zh-CN" altLang="en-US"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24" name="文本框 23">
            <a:extLst>
              <a:ext uri="{FF2B5EF4-FFF2-40B4-BE49-F238E27FC236}">
                <a16:creationId xmlns:a16="http://schemas.microsoft.com/office/drawing/2014/main" id="{D5CBDE63-39F6-E2DD-A93B-80E30EBBAF32}"/>
              </a:ext>
            </a:extLst>
          </p:cNvPr>
          <p:cNvSpPr txBox="1"/>
          <p:nvPr/>
        </p:nvSpPr>
        <p:spPr>
          <a:xfrm>
            <a:off x="5265051" y="2900716"/>
            <a:ext cx="1569660" cy="369332"/>
          </a:xfrm>
          <a:prstGeom prst="rect">
            <a:avLst/>
          </a:prstGeom>
          <a:noFill/>
        </p:spPr>
        <p:txBody>
          <a:bodyPr wrap="none">
            <a:spAutoFit/>
          </a:bodyPr>
          <a:lstStyle/>
          <a:p>
            <a:pPr marL="642915" indent="-822915">
              <a:buSzTx/>
              <a:buNone/>
              <a:defRPr sz="3600">
                <a:solidFill>
                  <a:srgbClr val="FF2600"/>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算子调优工具</a:t>
            </a:r>
          </a:p>
        </p:txBody>
      </p:sp>
      <p:sp>
        <p:nvSpPr>
          <p:cNvPr id="25" name="矩形: 圆角 24">
            <a:extLst>
              <a:ext uri="{FF2B5EF4-FFF2-40B4-BE49-F238E27FC236}">
                <a16:creationId xmlns:a16="http://schemas.microsoft.com/office/drawing/2014/main" id="{C05BF89F-26CC-4E0E-1523-072F813F5F8E}"/>
              </a:ext>
            </a:extLst>
          </p:cNvPr>
          <p:cNvSpPr/>
          <p:nvPr/>
        </p:nvSpPr>
        <p:spPr>
          <a:xfrm>
            <a:off x="4712642" y="3544019"/>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3</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6" name="文本框 25">
            <a:extLst>
              <a:ext uri="{FF2B5EF4-FFF2-40B4-BE49-F238E27FC236}">
                <a16:creationId xmlns:a16="http://schemas.microsoft.com/office/drawing/2014/main" id="{598B6A86-E6FB-FC5A-D866-E0256EE7A45F}"/>
              </a:ext>
            </a:extLst>
          </p:cNvPr>
          <p:cNvSpPr txBox="1"/>
          <p:nvPr/>
        </p:nvSpPr>
        <p:spPr>
          <a:xfrm>
            <a:off x="5265051" y="3587953"/>
            <a:ext cx="2031325" cy="369332"/>
          </a:xfrm>
          <a:prstGeom prst="rect">
            <a:avLst/>
          </a:prstGeom>
          <a:noFill/>
        </p:spPr>
        <p:txBody>
          <a:bodyPr wrap="none">
            <a:spAutoFit/>
          </a:bodyPr>
          <a:lstStyle/>
          <a:p>
            <a:pPr marL="642915" indent="-822915">
              <a:buSzTx/>
              <a:buNone/>
              <a:defRPr sz="3600">
                <a:solidFill>
                  <a:srgbClr val="FF2600"/>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算子异常检测工具</a:t>
            </a:r>
          </a:p>
        </p:txBody>
      </p:sp>
      <p:sp>
        <p:nvSpPr>
          <p:cNvPr id="27" name="矩形: 圆角 26">
            <a:extLst>
              <a:ext uri="{FF2B5EF4-FFF2-40B4-BE49-F238E27FC236}">
                <a16:creationId xmlns:a16="http://schemas.microsoft.com/office/drawing/2014/main" id="{604C62C9-76A6-42CD-821C-7FBA778ABED0}"/>
              </a:ext>
            </a:extLst>
          </p:cNvPr>
          <p:cNvSpPr/>
          <p:nvPr/>
        </p:nvSpPr>
        <p:spPr>
          <a:xfrm>
            <a:off x="4712642" y="4231256"/>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4</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8" name="文本框 27">
            <a:extLst>
              <a:ext uri="{FF2B5EF4-FFF2-40B4-BE49-F238E27FC236}">
                <a16:creationId xmlns:a16="http://schemas.microsoft.com/office/drawing/2014/main" id="{DD886744-71B1-5E2B-F5A1-E74E8EDD75CE}"/>
              </a:ext>
            </a:extLst>
          </p:cNvPr>
          <p:cNvSpPr txBox="1"/>
          <p:nvPr/>
        </p:nvSpPr>
        <p:spPr>
          <a:xfrm>
            <a:off x="5265051" y="4275190"/>
            <a:ext cx="2723823" cy="369332"/>
          </a:xfrm>
          <a:prstGeom prst="rect">
            <a:avLst/>
          </a:prstGeom>
          <a:noFill/>
        </p:spPr>
        <p:txBody>
          <a:bodyPr wrap="none">
            <a:spAutoFit/>
          </a:bodyPr>
          <a:lstStyle/>
          <a:p>
            <a:pPr marL="642915" indent="-822915">
              <a:buSzTx/>
              <a:buNone/>
              <a:defRPr sz="3600">
                <a:solidFill>
                  <a:srgbClr val="0433FF"/>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昇腾算子性能的优化方法</a:t>
            </a:r>
          </a:p>
        </p:txBody>
      </p:sp>
    </p:spTree>
    <p:extLst>
      <p:ext uri="{BB962C8B-B14F-4D97-AF65-F5344CB8AC3E}">
        <p14:creationId xmlns:p14="http://schemas.microsoft.com/office/powerpoint/2010/main" val="2027312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EB693-FC9F-9338-CC5C-3985B76DF3C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93F8673-A467-BBA4-5F26-76FB666C68E4}"/>
              </a:ext>
            </a:extLst>
          </p:cNvPr>
          <p:cNvSpPr txBox="1">
            <a:spLocks/>
          </p:cNvSpPr>
          <p:nvPr/>
        </p:nvSpPr>
        <p:spPr>
          <a:xfrm>
            <a:off x="3590706" y="411900"/>
            <a:ext cx="5015348"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算子调优工具</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3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msprof</a:t>
            </a:r>
            <a:endPar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3" name="文本占位符 2">
            <a:extLst>
              <a:ext uri="{FF2B5EF4-FFF2-40B4-BE49-F238E27FC236}">
                <a16:creationId xmlns:a16="http://schemas.microsoft.com/office/drawing/2014/main" id="{61CD5EDC-1EE5-9AB1-6ACE-546E0AFEFB6D}"/>
              </a:ext>
            </a:extLst>
          </p:cNvPr>
          <p:cNvSpPr txBox="1">
            <a:spLocks/>
          </p:cNvSpPr>
          <p:nvPr/>
        </p:nvSpPr>
        <p:spPr>
          <a:xfrm>
            <a:off x="1242583" y="1414009"/>
            <a:ext cx="9711597" cy="1444370"/>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126000"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算子调优工具</a:t>
            </a:r>
            <a:r>
              <a:rPr lang="en-US" altLang="zh-CN" sz="12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msprof</a:t>
            </a:r>
            <a:r>
              <a:rPr lang="zh-CN" altLang="en-US" sz="1200" dirty="0">
                <a:latin typeface="Arial" panose="020B0604020202020204" pitchFamily="34" charset="0"/>
                <a:ea typeface="微软雅黑" panose="020B0503020204020204" pitchFamily="34" charset="-122"/>
                <a:cs typeface="Arial" panose="020B0604020202020204" pitchFamily="34" charset="0"/>
              </a:rPr>
              <a:t>可用于采集和分析昇腾</a:t>
            </a:r>
            <a:r>
              <a:rPr lang="en-US" altLang="zh-CN" sz="1200" dirty="0">
                <a:latin typeface="Arial" panose="020B0604020202020204" pitchFamily="34" charset="0"/>
                <a:ea typeface="微软雅黑" panose="020B0503020204020204" pitchFamily="34" charset="-122"/>
                <a:cs typeface="Arial" panose="020B0604020202020204" pitchFamily="34" charset="0"/>
              </a:rPr>
              <a:t>AI</a:t>
            </a:r>
            <a:r>
              <a:rPr lang="zh-CN" altLang="en-US" sz="1200" dirty="0">
                <a:latin typeface="Arial" panose="020B0604020202020204" pitchFamily="34" charset="0"/>
                <a:ea typeface="微软雅黑" panose="020B0503020204020204" pitchFamily="34" charset="-122"/>
                <a:cs typeface="Arial" panose="020B0604020202020204" pitchFamily="34" charset="0"/>
              </a:rPr>
              <a:t>处理器算子运行阶段的关键性能指标，如计算类指令耗时、搬运类指令耗时、搬运带宽、资源冲突、</a:t>
            </a:r>
            <a:r>
              <a:rPr lang="en-US" altLang="zh-CN" sz="1200" dirty="0">
                <a:latin typeface="Arial" panose="020B0604020202020204" pitchFamily="34" charset="0"/>
                <a:ea typeface="微软雅黑" panose="020B0503020204020204" pitchFamily="34" charset="-122"/>
                <a:cs typeface="Arial" panose="020B0604020202020204" pitchFamily="34" charset="0"/>
              </a:rPr>
              <a:t>Cache</a:t>
            </a:r>
            <a:r>
              <a:rPr lang="zh-CN" altLang="en-US" sz="1200" dirty="0">
                <a:latin typeface="Arial" panose="020B0604020202020204" pitchFamily="34" charset="0"/>
                <a:ea typeface="微软雅黑" panose="020B0503020204020204" pitchFamily="34" charset="-122"/>
                <a:cs typeface="Arial" panose="020B0604020202020204" pitchFamily="34" charset="0"/>
              </a:rPr>
              <a:t>命中率等信息。同时，也支持根据昇腾</a:t>
            </a:r>
            <a:r>
              <a:rPr lang="en-US" altLang="zh-CN" sz="1200" dirty="0">
                <a:latin typeface="Arial" panose="020B0604020202020204" pitchFamily="34" charset="0"/>
                <a:ea typeface="微软雅黑" panose="020B0503020204020204" pitchFamily="34" charset="-122"/>
                <a:cs typeface="Arial" panose="020B0604020202020204" pitchFamily="34" charset="0"/>
              </a:rPr>
              <a:t>CANN</a:t>
            </a:r>
            <a:r>
              <a:rPr lang="zh-CN" altLang="en-US" sz="1200" dirty="0">
                <a:latin typeface="Arial" panose="020B0604020202020204" pitchFamily="34" charset="0"/>
                <a:ea typeface="微软雅黑" panose="020B0503020204020204" pitchFamily="34" charset="-122"/>
                <a:cs typeface="Arial" panose="020B0604020202020204" pitchFamily="34" charset="0"/>
              </a:rPr>
              <a:t>软件栈中提供的仿真能力，给出算子在仿真状态下的指令流水线图，算子代码热点图，指令到代码行映射表等性能数据。开发者可根据调优工具输出的性能数据，快速定位软、硬件性能瓶颈，提升算子性能分析的效率。</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Bef>
                <a:spcPts val="0"/>
              </a:spcBef>
            </a:pPr>
            <a:r>
              <a:rPr lang="en-US" altLang="zh-CN" sz="1200" dirty="0" err="1">
                <a:latin typeface="Arial" panose="020B0604020202020204" pitchFamily="34" charset="0"/>
                <a:ea typeface="微软雅黑" panose="020B0503020204020204" pitchFamily="34" charset="-122"/>
                <a:cs typeface="Arial" panose="020B0604020202020204" pitchFamily="34" charset="0"/>
              </a:rPr>
              <a:t>msprof</a:t>
            </a:r>
            <a:r>
              <a:rPr lang="zh-CN" altLang="en-US" sz="1200" dirty="0">
                <a:latin typeface="Arial" panose="020B0604020202020204" pitchFamily="34" charset="0"/>
                <a:ea typeface="微软雅黑" panose="020B0503020204020204" pitchFamily="34" charset="-122"/>
                <a:cs typeface="Arial" panose="020B0604020202020204" pitchFamily="34" charset="0"/>
              </a:rPr>
              <a:t>工具支持根据开发者算子上板</a:t>
            </a:r>
            <a:r>
              <a:rPr lang="en-US" altLang="zh-CN" sz="1200" dirty="0">
                <a:latin typeface="Arial" panose="020B0604020202020204" pitchFamily="34" charset="0"/>
                <a:ea typeface="微软雅黑" panose="020B0503020204020204" pitchFamily="34" charset="-122"/>
                <a:cs typeface="Arial" panose="020B0604020202020204" pitchFamily="34" charset="0"/>
              </a:rPr>
              <a:t>/</a:t>
            </a:r>
            <a:r>
              <a:rPr lang="zh-CN" altLang="en-US" sz="1200" dirty="0">
                <a:latin typeface="Arial" panose="020B0604020202020204" pitchFamily="34" charset="0"/>
                <a:ea typeface="微软雅黑" panose="020B0503020204020204" pitchFamily="34" charset="-122"/>
                <a:cs typeface="Arial" panose="020B0604020202020204" pitchFamily="34" charset="0"/>
              </a:rPr>
              <a:t>仿真的运行模式进行调优。上板指的是算子运行在真实的昇腾</a:t>
            </a:r>
            <a:r>
              <a:rPr lang="en-US" altLang="zh-CN" sz="1200" dirty="0">
                <a:latin typeface="Arial" panose="020B0604020202020204" pitchFamily="34" charset="0"/>
                <a:ea typeface="微软雅黑" panose="020B0503020204020204" pitchFamily="34" charset="-122"/>
                <a:cs typeface="Arial" panose="020B0604020202020204" pitchFamily="34" charset="0"/>
              </a:rPr>
              <a:t>AI</a:t>
            </a:r>
            <a:r>
              <a:rPr lang="zh-CN" altLang="en-US" sz="1200" dirty="0">
                <a:latin typeface="Arial" panose="020B0604020202020204" pitchFamily="34" charset="0"/>
                <a:ea typeface="微软雅黑" panose="020B0503020204020204" pitchFamily="34" charset="-122"/>
                <a:cs typeface="Arial" panose="020B0604020202020204" pitchFamily="34" charset="0"/>
              </a:rPr>
              <a:t>芯片上。仿真则是指算子运行在</a:t>
            </a:r>
            <a:r>
              <a:rPr lang="en-US" altLang="zh-CN" sz="1200" dirty="0">
                <a:latin typeface="Arial" panose="020B0604020202020204" pitchFamily="34" charset="0"/>
                <a:ea typeface="微软雅黑" panose="020B0503020204020204" pitchFamily="34" charset="-122"/>
                <a:cs typeface="Arial" panose="020B0604020202020204" pitchFamily="34" charset="0"/>
              </a:rPr>
              <a:t>CANN</a:t>
            </a:r>
            <a:r>
              <a:rPr lang="zh-CN" altLang="en-US" sz="1200" dirty="0">
                <a:latin typeface="Arial" panose="020B0604020202020204" pitchFamily="34" charset="0"/>
                <a:ea typeface="微软雅黑" panose="020B0503020204020204" pitchFamily="34" charset="-122"/>
                <a:cs typeface="Arial" panose="020B0604020202020204" pitchFamily="34" charset="0"/>
              </a:rPr>
              <a:t>提供的昇腾性能仿真器上，无须真实的昇腾</a:t>
            </a:r>
            <a:r>
              <a:rPr lang="en-US" altLang="zh-CN" sz="1200" dirty="0">
                <a:latin typeface="Arial" panose="020B0604020202020204" pitchFamily="34" charset="0"/>
                <a:ea typeface="微软雅黑" panose="020B0503020204020204" pitchFamily="34" charset="-122"/>
                <a:cs typeface="Arial" panose="020B0604020202020204" pitchFamily="34" charset="0"/>
              </a:rPr>
              <a:t>AI</a:t>
            </a:r>
            <a:r>
              <a:rPr lang="zh-CN" altLang="en-US" sz="1200" dirty="0">
                <a:latin typeface="Arial" panose="020B0604020202020204" pitchFamily="34" charset="0"/>
                <a:ea typeface="微软雅黑" panose="020B0503020204020204" pitchFamily="34" charset="-122"/>
                <a:cs typeface="Arial" panose="020B0604020202020204" pitchFamily="34" charset="0"/>
              </a:rPr>
              <a:t>处理器即可依靠</a:t>
            </a:r>
            <a:r>
              <a:rPr lang="en-US" altLang="zh-CN" sz="1200" dirty="0">
                <a:latin typeface="Arial" panose="020B0604020202020204" pitchFamily="34" charset="0"/>
                <a:ea typeface="微软雅黑" panose="020B0503020204020204" pitchFamily="34" charset="-122"/>
                <a:cs typeface="Arial" panose="020B0604020202020204" pitchFamily="34" charset="0"/>
              </a:rPr>
              <a:t>CPU</a:t>
            </a:r>
            <a:r>
              <a:rPr lang="zh-CN" altLang="en-US" sz="1200" dirty="0">
                <a:latin typeface="Arial" panose="020B0604020202020204" pitchFamily="34" charset="0"/>
                <a:ea typeface="微软雅黑" panose="020B0503020204020204" pitchFamily="34" charset="-122"/>
                <a:cs typeface="Arial" panose="020B0604020202020204" pitchFamily="34" charset="0"/>
              </a:rPr>
              <a:t>模拟出昇腾</a:t>
            </a:r>
            <a:r>
              <a:rPr lang="en-US" altLang="zh-CN" sz="1200" dirty="0">
                <a:latin typeface="Arial" panose="020B0604020202020204" pitchFamily="34" charset="0"/>
                <a:ea typeface="微软雅黑" panose="020B0503020204020204" pitchFamily="34" charset="-122"/>
                <a:cs typeface="Arial" panose="020B0604020202020204" pitchFamily="34" charset="0"/>
              </a:rPr>
              <a:t>AI</a:t>
            </a:r>
            <a:r>
              <a:rPr lang="zh-CN" altLang="en-US" sz="1200" dirty="0">
                <a:latin typeface="Arial" panose="020B0604020202020204" pitchFamily="34" charset="0"/>
                <a:ea typeface="微软雅黑" panose="020B0503020204020204" pitchFamily="34" charset="-122"/>
                <a:cs typeface="Arial" panose="020B0604020202020204" pitchFamily="34" charset="0"/>
              </a:rPr>
              <a:t>芯片的计算过程。</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a:extLst>
              <a:ext uri="{FF2B5EF4-FFF2-40B4-BE49-F238E27FC236}">
                <a16:creationId xmlns:a16="http://schemas.microsoft.com/office/drawing/2014/main" id="{0DB05F94-7D47-B71A-331C-920D6097CED4}"/>
              </a:ext>
            </a:extLst>
          </p:cNvPr>
          <p:cNvPicPr>
            <a:picLocks noChangeAspect="1"/>
          </p:cNvPicPr>
          <p:nvPr/>
        </p:nvPicPr>
        <p:blipFill>
          <a:blip r:embed="rId2"/>
          <a:stretch>
            <a:fillRect/>
          </a:stretch>
        </p:blipFill>
        <p:spPr>
          <a:xfrm>
            <a:off x="4255520" y="2914451"/>
            <a:ext cx="3685723" cy="3259223"/>
          </a:xfrm>
          <a:prstGeom prst="rect">
            <a:avLst/>
          </a:prstGeom>
        </p:spPr>
      </p:pic>
    </p:spTree>
    <p:extLst>
      <p:ext uri="{BB962C8B-B14F-4D97-AF65-F5344CB8AC3E}">
        <p14:creationId xmlns:p14="http://schemas.microsoft.com/office/powerpoint/2010/main" val="1285699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EB193-8834-E518-39A4-23F6D475A40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C7A02A1-A67F-E04E-A6D5-9E9BD9380045}"/>
              </a:ext>
            </a:extLst>
          </p:cNvPr>
          <p:cNvSpPr txBox="1">
            <a:spLocks/>
          </p:cNvSpPr>
          <p:nvPr/>
        </p:nvSpPr>
        <p:spPr>
          <a:xfrm>
            <a:off x="4364572" y="411900"/>
            <a:ext cx="3467616"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采集性能数据类别</a:t>
            </a:r>
          </a:p>
        </p:txBody>
      </p:sp>
      <p:sp>
        <p:nvSpPr>
          <p:cNvPr id="3" name="文本占位符 2">
            <a:extLst>
              <a:ext uri="{FF2B5EF4-FFF2-40B4-BE49-F238E27FC236}">
                <a16:creationId xmlns:a16="http://schemas.microsoft.com/office/drawing/2014/main" id="{56C12564-9734-581C-4FD1-4E86B5668360}"/>
              </a:ext>
            </a:extLst>
          </p:cNvPr>
          <p:cNvSpPr txBox="1">
            <a:spLocks/>
          </p:cNvSpPr>
          <p:nvPr/>
        </p:nvSpPr>
        <p:spPr>
          <a:xfrm>
            <a:off x="1182108" y="2339191"/>
            <a:ext cx="9832546" cy="2413866"/>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buNone/>
            </a:pPr>
            <a:r>
              <a:rPr lang="zh-CN" altLang="en-US" sz="1800" b="1" dirty="0">
                <a:latin typeface="Arial" panose="020B0604020202020204" pitchFamily="34" charset="0"/>
                <a:ea typeface="微软雅黑" panose="020B0503020204020204" pitchFamily="34" charset="-122"/>
                <a:cs typeface="Arial" panose="020B0604020202020204" pitchFamily="34" charset="0"/>
              </a:rPr>
              <a:t>生成算子性能数据根据开发者使用调优工具开启的性能采集开关可以分为以下几类</a:t>
            </a:r>
            <a:endParaRPr lang="en-US" altLang="zh-CN" sz="1800" b="1"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Bef>
                <a:spcPts val="0"/>
              </a:spcBef>
            </a:pP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计算类指令耗时与占比：</a:t>
            </a:r>
            <a:r>
              <a:rPr lang="zh-CN" altLang="en-US" sz="1200" dirty="0">
                <a:latin typeface="Arial" panose="020B0604020202020204" pitchFamily="34" charset="0"/>
                <a:ea typeface="微软雅黑" panose="020B0503020204020204" pitchFamily="34" charset="-122"/>
                <a:cs typeface="Arial" panose="020B0604020202020204" pitchFamily="34" charset="0"/>
              </a:rPr>
              <a:t>计算类指令指涉及昇腾芯片架构中矩阵和向量计算单元的相关指令。计算类指令是实现算子逻辑的关键，这类耗时属于算子本身不可掩盖的耗时。</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Bef>
                <a:spcPts val="0"/>
              </a:spcBef>
            </a:pP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搬运类指令耗时与占比：</a:t>
            </a:r>
            <a:r>
              <a:rPr lang="zh-CN" altLang="en-US" sz="1200" dirty="0">
                <a:latin typeface="Arial" panose="020B0604020202020204" pitchFamily="34" charset="0"/>
                <a:ea typeface="微软雅黑" panose="020B0503020204020204" pitchFamily="34" charset="-122"/>
                <a:cs typeface="Arial" panose="020B0604020202020204" pitchFamily="34" charset="0"/>
              </a:rPr>
              <a:t>搬运类指令指算子所需的相关数据在昇腾芯片上的不同内存间搬运的过程。一个算子理想情况下是计算单元一直在持续地进行计算，因此搬运类指令的耗时属于可被掩盖耗时，通过将搬运数据的过程和计算的过程并行起来，降低计算单元等待的数据准备好的时间，提高算子的整体性能。</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Bef>
                <a:spcPts val="0"/>
              </a:spcBef>
            </a:pP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搬运带宽速率：</a:t>
            </a:r>
            <a:r>
              <a:rPr lang="zh-CN" altLang="en-US" sz="1200" dirty="0">
                <a:latin typeface="Arial" panose="020B0604020202020204" pitchFamily="34" charset="0"/>
                <a:ea typeface="微软雅黑" panose="020B0503020204020204" pitchFamily="34" charset="-122"/>
                <a:cs typeface="Arial" panose="020B0604020202020204" pitchFamily="34" charset="0"/>
              </a:rPr>
              <a:t>算子的数据搬运效率可以通过搬运带宽速率直观呈现。搬运带宽速率表示在单位时间内搬运的数据量，速率越高，在相同数据量下所耗费的时间更少。</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679671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4F352-DC7C-85AD-0721-8D105C6D573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80093E9-C70F-510B-06A7-B7D243B2E918}"/>
              </a:ext>
            </a:extLst>
          </p:cNvPr>
          <p:cNvSpPr txBox="1">
            <a:spLocks/>
          </p:cNvSpPr>
          <p:nvPr/>
        </p:nvSpPr>
        <p:spPr>
          <a:xfrm>
            <a:off x="4364572" y="411900"/>
            <a:ext cx="3467616"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采集性能数据类别</a:t>
            </a:r>
          </a:p>
        </p:txBody>
      </p:sp>
      <p:sp>
        <p:nvSpPr>
          <p:cNvPr id="3" name="文本占位符 2">
            <a:extLst>
              <a:ext uri="{FF2B5EF4-FFF2-40B4-BE49-F238E27FC236}">
                <a16:creationId xmlns:a16="http://schemas.microsoft.com/office/drawing/2014/main" id="{C1C84811-1946-D378-1193-3CB1156859F3}"/>
              </a:ext>
            </a:extLst>
          </p:cNvPr>
          <p:cNvSpPr txBox="1">
            <a:spLocks/>
          </p:cNvSpPr>
          <p:nvPr/>
        </p:nvSpPr>
        <p:spPr>
          <a:xfrm>
            <a:off x="2259628" y="1704787"/>
            <a:ext cx="5577801" cy="1167371"/>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126000" indent="-126000">
              <a:lnSpc>
                <a:spcPct val="150000"/>
              </a:lnSpc>
              <a:spcBef>
                <a:spcPts val="0"/>
              </a:spcBef>
            </a:pP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资源冲突：</a:t>
            </a:r>
            <a:r>
              <a:rPr lang="zh-CN" altLang="en-US" sz="1200" dirty="0">
                <a:latin typeface="Arial" panose="020B0604020202020204" pitchFamily="34" charset="0"/>
                <a:ea typeface="微软雅黑" panose="020B0503020204020204" pitchFamily="34" charset="-122"/>
                <a:cs typeface="Arial" panose="020B0604020202020204" pitchFamily="34" charset="0"/>
              </a:rPr>
              <a:t>对于昇腾设备上的部分内存单元（具体单元取决于昇腾芯片型号）中存在</a:t>
            </a:r>
            <a:r>
              <a:rPr lang="en-US" altLang="zh-CN" sz="1200" dirty="0">
                <a:latin typeface="Arial" panose="020B0604020202020204" pitchFamily="34" charset="0"/>
                <a:ea typeface="微软雅黑" panose="020B0503020204020204" pitchFamily="34" charset="-122"/>
                <a:cs typeface="Arial" panose="020B0604020202020204" pitchFamily="34" charset="0"/>
              </a:rPr>
              <a:t>bank</a:t>
            </a:r>
            <a:r>
              <a:rPr lang="zh-CN" altLang="en-US" sz="1200" dirty="0">
                <a:latin typeface="Arial" panose="020B0604020202020204" pitchFamily="34" charset="0"/>
                <a:ea typeface="微软雅黑" panose="020B0503020204020204" pitchFamily="34" charset="-122"/>
                <a:cs typeface="Arial" panose="020B0604020202020204" pitchFamily="34" charset="0"/>
              </a:rPr>
              <a:t>和</a:t>
            </a:r>
            <a:r>
              <a:rPr lang="en-US" altLang="zh-CN" sz="1200" dirty="0">
                <a:latin typeface="Arial" panose="020B0604020202020204" pitchFamily="34" charset="0"/>
                <a:ea typeface="微软雅黑" panose="020B0503020204020204" pitchFamily="34" charset="-122"/>
                <a:cs typeface="Arial" panose="020B0604020202020204" pitchFamily="34" charset="0"/>
              </a:rPr>
              <a:t>bank group</a:t>
            </a:r>
            <a:r>
              <a:rPr lang="zh-CN" altLang="en-US" sz="1200" dirty="0">
                <a:latin typeface="Arial" panose="020B0604020202020204" pitchFamily="34" charset="0"/>
                <a:ea typeface="微软雅黑" panose="020B0503020204020204" pitchFamily="34" charset="-122"/>
                <a:cs typeface="Arial" panose="020B0604020202020204" pitchFamily="34" charset="0"/>
              </a:rPr>
              <a:t>的内存架构。一个</a:t>
            </a:r>
            <a:r>
              <a:rPr lang="en-US" altLang="zh-CN" sz="1200" dirty="0">
                <a:latin typeface="Arial" panose="020B0604020202020204" pitchFamily="34" charset="0"/>
                <a:ea typeface="微软雅黑" panose="020B0503020204020204" pitchFamily="34" charset="-122"/>
                <a:cs typeface="Arial" panose="020B0604020202020204" pitchFamily="34" charset="0"/>
              </a:rPr>
              <a:t>bank</a:t>
            </a:r>
            <a:r>
              <a:rPr lang="zh-CN" altLang="en-US" sz="1200" dirty="0">
                <a:latin typeface="Arial" panose="020B0604020202020204" pitchFamily="34" charset="0"/>
                <a:ea typeface="微软雅黑" panose="020B0503020204020204" pitchFamily="34" charset="-122"/>
                <a:cs typeface="Arial" panose="020B0604020202020204" pitchFamily="34" charset="0"/>
              </a:rPr>
              <a:t>由多个最小内存访问单元</a:t>
            </a:r>
            <a:r>
              <a:rPr lang="en-US" altLang="zh-CN" sz="1200" dirty="0">
                <a:latin typeface="Arial" panose="020B0604020202020204" pitchFamily="34" charset="0"/>
                <a:ea typeface="微软雅黑" panose="020B0503020204020204" pitchFamily="34" charset="-122"/>
                <a:cs typeface="Arial" panose="020B0604020202020204" pitchFamily="34" charset="0"/>
              </a:rPr>
              <a:t>block</a:t>
            </a:r>
            <a:r>
              <a:rPr lang="zh-CN" altLang="en-US" sz="1200" dirty="0">
                <a:latin typeface="Arial" panose="020B0604020202020204" pitchFamily="34" charset="0"/>
                <a:ea typeface="微软雅黑" panose="020B0503020204020204" pitchFamily="34" charset="-122"/>
                <a:cs typeface="Arial" panose="020B0604020202020204" pitchFamily="34" charset="0"/>
              </a:rPr>
              <a:t>组成，多个</a:t>
            </a:r>
            <a:r>
              <a:rPr lang="en-US" altLang="zh-CN" sz="1200" dirty="0">
                <a:latin typeface="Arial" panose="020B0604020202020204" pitchFamily="34" charset="0"/>
                <a:ea typeface="微软雅黑" panose="020B0503020204020204" pitchFamily="34" charset="-122"/>
                <a:cs typeface="Arial" panose="020B0604020202020204" pitchFamily="34" charset="0"/>
              </a:rPr>
              <a:t>bank</a:t>
            </a:r>
            <a:r>
              <a:rPr lang="zh-CN" altLang="en-US" sz="1200" dirty="0">
                <a:latin typeface="Arial" panose="020B0604020202020204" pitchFamily="34" charset="0"/>
                <a:ea typeface="微软雅黑" panose="020B0503020204020204" pitchFamily="34" charset="-122"/>
                <a:cs typeface="Arial" panose="020B0604020202020204" pitchFamily="34" charset="0"/>
              </a:rPr>
              <a:t>则组成一个</a:t>
            </a:r>
            <a:r>
              <a:rPr lang="en-US" altLang="zh-CN" sz="1200" dirty="0">
                <a:latin typeface="Arial" panose="020B0604020202020204" pitchFamily="34" charset="0"/>
                <a:ea typeface="微软雅黑" panose="020B0503020204020204" pitchFamily="34" charset="-122"/>
                <a:cs typeface="Arial" panose="020B0604020202020204" pitchFamily="34" charset="0"/>
              </a:rPr>
              <a:t>bank group</a:t>
            </a:r>
            <a:r>
              <a:rPr lang="zh-CN" altLang="en-US" sz="1200" dirty="0">
                <a:latin typeface="Arial" panose="020B0604020202020204" pitchFamily="34" charset="0"/>
                <a:ea typeface="微软雅黑" panose="020B0503020204020204" pitchFamily="34" charset="-122"/>
                <a:cs typeface="Arial" panose="020B0604020202020204" pitchFamily="34" charset="0"/>
              </a:rPr>
              <a:t>。冲突会发生在：同一个</a:t>
            </a:r>
            <a:r>
              <a:rPr lang="en-US" altLang="zh-CN" sz="1200" dirty="0">
                <a:latin typeface="Arial" panose="020B0604020202020204" pitchFamily="34" charset="0"/>
                <a:ea typeface="微软雅黑" panose="020B0503020204020204" pitchFamily="34" charset="-122"/>
                <a:cs typeface="Arial" panose="020B0604020202020204" pitchFamily="34" charset="0"/>
              </a:rPr>
              <a:t>bank group</a:t>
            </a:r>
            <a:r>
              <a:rPr lang="zh-CN" altLang="en-US" sz="1200" dirty="0">
                <a:latin typeface="Arial" panose="020B0604020202020204" pitchFamily="34" charset="0"/>
                <a:ea typeface="微软雅黑" panose="020B0503020204020204" pitchFamily="34" charset="-122"/>
                <a:cs typeface="Arial" panose="020B0604020202020204" pitchFamily="34" charset="0"/>
              </a:rPr>
              <a:t>会有读读冲突；同一个</a:t>
            </a:r>
            <a:r>
              <a:rPr lang="en-US" altLang="zh-CN" sz="1200" dirty="0">
                <a:latin typeface="Arial" panose="020B0604020202020204" pitchFamily="34" charset="0"/>
                <a:ea typeface="微软雅黑" panose="020B0503020204020204" pitchFamily="34" charset="-122"/>
                <a:cs typeface="Arial" panose="020B0604020202020204" pitchFamily="34" charset="0"/>
              </a:rPr>
              <a:t>bank</a:t>
            </a:r>
            <a:r>
              <a:rPr lang="zh-CN" altLang="en-US" sz="1200" dirty="0">
                <a:latin typeface="Arial" panose="020B0604020202020204" pitchFamily="34" charset="0"/>
                <a:ea typeface="微软雅黑" panose="020B0503020204020204" pitchFamily="34" charset="-122"/>
                <a:cs typeface="Arial" panose="020B0604020202020204" pitchFamily="34" charset="0"/>
              </a:rPr>
              <a:t>中会有读写冲突。</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a:extLst>
              <a:ext uri="{FF2B5EF4-FFF2-40B4-BE49-F238E27FC236}">
                <a16:creationId xmlns:a16="http://schemas.microsoft.com/office/drawing/2014/main" id="{518DFF8C-C7C7-86D9-605C-F291FB69B509}"/>
              </a:ext>
            </a:extLst>
          </p:cNvPr>
          <p:cNvPicPr>
            <a:picLocks noChangeAspect="1"/>
          </p:cNvPicPr>
          <p:nvPr/>
        </p:nvPicPr>
        <p:blipFill>
          <a:blip r:embed="rId2"/>
          <a:stretch>
            <a:fillRect/>
          </a:stretch>
        </p:blipFill>
        <p:spPr>
          <a:xfrm>
            <a:off x="7837429" y="1357721"/>
            <a:ext cx="2099705" cy="1861503"/>
          </a:xfrm>
          <a:prstGeom prst="rect">
            <a:avLst/>
          </a:prstGeom>
        </p:spPr>
      </p:pic>
      <p:pic>
        <p:nvPicPr>
          <p:cNvPr id="5" name="图片 4">
            <a:extLst>
              <a:ext uri="{FF2B5EF4-FFF2-40B4-BE49-F238E27FC236}">
                <a16:creationId xmlns:a16="http://schemas.microsoft.com/office/drawing/2014/main" id="{62E04E79-9BA7-A740-EE05-EC2574614513}"/>
              </a:ext>
            </a:extLst>
          </p:cNvPr>
          <p:cNvPicPr>
            <a:picLocks noChangeAspect="1"/>
          </p:cNvPicPr>
          <p:nvPr/>
        </p:nvPicPr>
        <p:blipFill>
          <a:blip r:embed="rId3"/>
          <a:stretch>
            <a:fillRect/>
          </a:stretch>
        </p:blipFill>
        <p:spPr>
          <a:xfrm>
            <a:off x="4069425" y="4362999"/>
            <a:ext cx="3946768" cy="1749598"/>
          </a:xfrm>
          <a:prstGeom prst="rect">
            <a:avLst/>
          </a:prstGeom>
        </p:spPr>
      </p:pic>
      <p:sp>
        <p:nvSpPr>
          <p:cNvPr id="6" name="文本占位符 2">
            <a:extLst>
              <a:ext uri="{FF2B5EF4-FFF2-40B4-BE49-F238E27FC236}">
                <a16:creationId xmlns:a16="http://schemas.microsoft.com/office/drawing/2014/main" id="{929F33C7-8A83-3CD8-48FB-E43E692BD630}"/>
              </a:ext>
            </a:extLst>
          </p:cNvPr>
          <p:cNvSpPr txBox="1">
            <a:spLocks/>
          </p:cNvSpPr>
          <p:nvPr/>
        </p:nvSpPr>
        <p:spPr>
          <a:xfrm>
            <a:off x="2259628" y="3476216"/>
            <a:ext cx="7566363" cy="890372"/>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126000" indent="-126000">
              <a:lnSpc>
                <a:spcPct val="150000"/>
              </a:lnSpc>
              <a:spcBef>
                <a:spcPts val="0"/>
              </a:spcBef>
            </a:pPr>
            <a:r>
              <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Cache</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命中率：</a:t>
            </a:r>
            <a:r>
              <a:rPr lang="zh-CN" altLang="en-US" sz="1200" dirty="0">
                <a:latin typeface="Arial" panose="020B0604020202020204" pitchFamily="34" charset="0"/>
                <a:ea typeface="微软雅黑" panose="020B0503020204020204" pitchFamily="34" charset="-122"/>
                <a:cs typeface="Arial" panose="020B0604020202020204" pitchFamily="34" charset="0"/>
              </a:rPr>
              <a:t>昇腾芯片架构中基于极致性能的考虑设计了</a:t>
            </a:r>
            <a:r>
              <a:rPr lang="en-US" altLang="zh-CN" sz="1200" dirty="0">
                <a:latin typeface="Arial" panose="020B0604020202020204" pitchFamily="34" charset="0"/>
                <a:ea typeface="微软雅黑" panose="020B0503020204020204" pitchFamily="34" charset="-122"/>
                <a:cs typeface="Arial" panose="020B0604020202020204" pitchFamily="34" charset="0"/>
              </a:rPr>
              <a:t>Cache</a:t>
            </a:r>
            <a:r>
              <a:rPr lang="zh-CN" altLang="en-US" sz="1200" dirty="0">
                <a:latin typeface="Arial" panose="020B0604020202020204" pitchFamily="34" charset="0"/>
                <a:ea typeface="微软雅黑" panose="020B0503020204020204" pitchFamily="34" charset="-122"/>
                <a:cs typeface="Arial" panose="020B0604020202020204" pitchFamily="34" charset="0"/>
              </a:rPr>
              <a:t>缓存以提高数据搬运速率。在</a:t>
            </a:r>
            <a:r>
              <a:rPr lang="en-US" altLang="zh-CN" sz="1200" dirty="0">
                <a:latin typeface="Arial" panose="020B0604020202020204" pitchFamily="34" charset="0"/>
                <a:ea typeface="微软雅黑" panose="020B0503020204020204" pitchFamily="34" charset="-122"/>
                <a:cs typeface="Arial" panose="020B0604020202020204" pitchFamily="34" charset="0"/>
              </a:rPr>
              <a:t>GM/HBM</a:t>
            </a:r>
            <a:r>
              <a:rPr lang="zh-CN" altLang="en-US" sz="1200" dirty="0">
                <a:latin typeface="Arial" panose="020B0604020202020204" pitchFamily="34" charset="0"/>
                <a:ea typeface="微软雅黑" panose="020B0503020204020204" pitchFamily="34" charset="-122"/>
                <a:cs typeface="Arial" panose="020B0604020202020204" pitchFamily="34" charset="0"/>
              </a:rPr>
              <a:t>上包含了</a:t>
            </a:r>
            <a:r>
              <a:rPr lang="en-US" altLang="zh-CN" sz="1200" dirty="0">
                <a:latin typeface="Arial" panose="020B0604020202020204" pitchFamily="34" charset="0"/>
                <a:ea typeface="微软雅黑" panose="020B0503020204020204" pitchFamily="34" charset="-122"/>
                <a:cs typeface="Arial" panose="020B0604020202020204" pitchFamily="34" charset="0"/>
              </a:rPr>
              <a:t>L2</a:t>
            </a:r>
            <a:r>
              <a:rPr lang="zh-CN" altLang="en-US" sz="1200" dirty="0">
                <a:latin typeface="Arial" panose="020B0604020202020204" pitchFamily="34" charset="0"/>
                <a:ea typeface="微软雅黑" panose="020B0503020204020204" pitchFamily="34" charset="-122"/>
                <a:cs typeface="Arial" panose="020B0604020202020204" pitchFamily="34" charset="0"/>
              </a:rPr>
              <a:t>缓冲区的缓存，可以极大提升数据从</a:t>
            </a:r>
            <a:r>
              <a:rPr lang="en-US" altLang="zh-CN" sz="1200" dirty="0">
                <a:latin typeface="Arial" panose="020B0604020202020204" pitchFamily="34" charset="0"/>
                <a:ea typeface="微软雅黑" panose="020B0503020204020204" pitchFamily="34" charset="-122"/>
                <a:cs typeface="Arial" panose="020B0604020202020204" pitchFamily="34" charset="0"/>
              </a:rPr>
              <a:t>GM/HBM</a:t>
            </a:r>
            <a:r>
              <a:rPr lang="zh-CN" altLang="en-US" sz="1200" dirty="0">
                <a:latin typeface="Arial" panose="020B0604020202020204" pitchFamily="34" charset="0"/>
                <a:ea typeface="微软雅黑" panose="020B0503020204020204" pitchFamily="34" charset="-122"/>
                <a:cs typeface="Arial" panose="020B0604020202020204" pitchFamily="34" charset="0"/>
              </a:rPr>
              <a:t>到</a:t>
            </a:r>
            <a:r>
              <a:rPr lang="en-US" altLang="zh-CN" sz="1200" dirty="0">
                <a:latin typeface="Arial" panose="020B0604020202020204" pitchFamily="34" charset="0"/>
                <a:ea typeface="微软雅黑" panose="020B0503020204020204" pitchFamily="34" charset="-122"/>
                <a:cs typeface="Arial" panose="020B0604020202020204" pitchFamily="34" charset="0"/>
              </a:rPr>
              <a:t>L1</a:t>
            </a:r>
            <a:r>
              <a:rPr lang="zh-CN" altLang="en-US" sz="1200" dirty="0">
                <a:latin typeface="Arial" panose="020B0604020202020204" pitchFamily="34" charset="0"/>
                <a:ea typeface="微软雅黑" panose="020B0503020204020204" pitchFamily="34" charset="-122"/>
                <a:cs typeface="Arial" panose="020B0604020202020204" pitchFamily="34" charset="0"/>
              </a:rPr>
              <a:t>或者</a:t>
            </a:r>
            <a:r>
              <a:rPr lang="en-US" altLang="zh-CN" sz="1200" dirty="0">
                <a:latin typeface="Arial" panose="020B0604020202020204" pitchFamily="34" charset="0"/>
                <a:ea typeface="微软雅黑" panose="020B0503020204020204" pitchFamily="34" charset="-122"/>
                <a:cs typeface="Arial" panose="020B0604020202020204" pitchFamily="34" charset="0"/>
              </a:rPr>
              <a:t>UB</a:t>
            </a:r>
            <a:r>
              <a:rPr lang="zh-CN" altLang="en-US" sz="1200" dirty="0">
                <a:latin typeface="Arial" panose="020B0604020202020204" pitchFamily="34" charset="0"/>
                <a:ea typeface="微软雅黑" panose="020B0503020204020204" pitchFamily="34" charset="-122"/>
                <a:cs typeface="Arial" panose="020B0604020202020204" pitchFamily="34" charset="0"/>
              </a:rPr>
              <a:t>的速率。提高算子计算时对于同一块在</a:t>
            </a:r>
            <a:r>
              <a:rPr lang="en-US" altLang="zh-CN" sz="1200" dirty="0">
                <a:latin typeface="Arial" panose="020B0604020202020204" pitchFamily="34" charset="0"/>
                <a:ea typeface="微软雅黑" panose="020B0503020204020204" pitchFamily="34" charset="-122"/>
                <a:cs typeface="Arial" panose="020B0604020202020204" pitchFamily="34" charset="0"/>
              </a:rPr>
              <a:t>GM/HBM</a:t>
            </a:r>
            <a:r>
              <a:rPr lang="zh-CN" altLang="en-US" sz="1200" dirty="0">
                <a:latin typeface="Arial" panose="020B0604020202020204" pitchFamily="34" charset="0"/>
                <a:ea typeface="微软雅黑" panose="020B0503020204020204" pitchFamily="34" charset="-122"/>
                <a:cs typeface="Arial" panose="020B0604020202020204" pitchFamily="34" charset="0"/>
              </a:rPr>
              <a:t>上的数据复用率，可以增加</a:t>
            </a:r>
            <a:r>
              <a:rPr lang="en-US" altLang="zh-CN" sz="1200" dirty="0">
                <a:latin typeface="Arial" panose="020B0604020202020204" pitchFamily="34" charset="0"/>
                <a:ea typeface="微软雅黑" panose="020B0503020204020204" pitchFamily="34" charset="-122"/>
                <a:cs typeface="Arial" panose="020B0604020202020204" pitchFamily="34" charset="0"/>
              </a:rPr>
              <a:t>Cache</a:t>
            </a:r>
            <a:r>
              <a:rPr lang="zh-CN" altLang="en-US" sz="1200" dirty="0">
                <a:latin typeface="Arial" panose="020B0604020202020204" pitchFamily="34" charset="0"/>
                <a:ea typeface="微软雅黑" panose="020B0503020204020204" pitchFamily="34" charset="-122"/>
                <a:cs typeface="Arial" panose="020B0604020202020204" pitchFamily="34" charset="0"/>
              </a:rPr>
              <a:t>命中率，进而缩短数据搬运所耗费的时间。</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16633078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682AE-F839-27A8-1AAA-9E735908E14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0E37CF1-E5EE-BA04-4337-061408D83178}"/>
              </a:ext>
            </a:extLst>
          </p:cNvPr>
          <p:cNvSpPr txBox="1">
            <a:spLocks/>
          </p:cNvSpPr>
          <p:nvPr/>
        </p:nvSpPr>
        <p:spPr>
          <a:xfrm>
            <a:off x="4364572" y="411900"/>
            <a:ext cx="3467616"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算子调优基本流程</a:t>
            </a:r>
          </a:p>
        </p:txBody>
      </p:sp>
      <p:pic>
        <p:nvPicPr>
          <p:cNvPr id="3" name="F360BE8B-6686-4F3D-AEAF-501FE73E4058-1" descr="C:/Users/Administrator/AppData/Local/Temp/绘图1.png绘图1">
            <a:extLst>
              <a:ext uri="{FF2B5EF4-FFF2-40B4-BE49-F238E27FC236}">
                <a16:creationId xmlns:a16="http://schemas.microsoft.com/office/drawing/2014/main" id="{68BDA290-0178-04D2-8B0C-A5CB873BCAB2}"/>
              </a:ext>
            </a:extLst>
          </p:cNvPr>
          <p:cNvPicPr>
            <a:picLocks noChangeAspect="1"/>
          </p:cNvPicPr>
          <p:nvPr/>
        </p:nvPicPr>
        <p:blipFill>
          <a:blip r:embed="rId2"/>
          <a:stretch>
            <a:fillRect/>
          </a:stretch>
        </p:blipFill>
        <p:spPr>
          <a:xfrm>
            <a:off x="4855685" y="1549742"/>
            <a:ext cx="2485394" cy="4375102"/>
          </a:xfrm>
          <a:prstGeom prst="rect">
            <a:avLst/>
          </a:prstGeom>
        </p:spPr>
      </p:pic>
    </p:spTree>
    <p:extLst>
      <p:ext uri="{BB962C8B-B14F-4D97-AF65-F5344CB8AC3E}">
        <p14:creationId xmlns:p14="http://schemas.microsoft.com/office/powerpoint/2010/main" val="3800266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270DA-9242-C3EF-3D08-3F8676455EF9}"/>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40BAB3B5-6334-6B80-2EE0-2D18CD7CFF2F}"/>
              </a:ext>
            </a:extLst>
          </p:cNvPr>
          <p:cNvSpPr txBox="1">
            <a:spLocks/>
          </p:cNvSpPr>
          <p:nvPr/>
        </p:nvSpPr>
        <p:spPr>
          <a:xfrm>
            <a:off x="5185309" y="411900"/>
            <a:ext cx="182614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本章内容</a:t>
            </a:r>
          </a:p>
        </p:txBody>
      </p:sp>
      <p:sp>
        <p:nvSpPr>
          <p:cNvPr id="21" name="矩形: 圆角 20">
            <a:extLst>
              <a:ext uri="{FF2B5EF4-FFF2-40B4-BE49-F238E27FC236}">
                <a16:creationId xmlns:a16="http://schemas.microsoft.com/office/drawing/2014/main" id="{6794D046-A6F9-BFDF-940D-2080CD837105}"/>
              </a:ext>
            </a:extLst>
          </p:cNvPr>
          <p:cNvSpPr/>
          <p:nvPr/>
        </p:nvSpPr>
        <p:spPr>
          <a:xfrm>
            <a:off x="4712642" y="2169545"/>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1</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2" name="文本框 21">
            <a:extLst>
              <a:ext uri="{FF2B5EF4-FFF2-40B4-BE49-F238E27FC236}">
                <a16:creationId xmlns:a16="http://schemas.microsoft.com/office/drawing/2014/main" id="{F3A754B3-4E01-AEF6-1D1F-570A927D5B46}"/>
              </a:ext>
            </a:extLst>
          </p:cNvPr>
          <p:cNvSpPr txBox="1"/>
          <p:nvPr/>
        </p:nvSpPr>
        <p:spPr>
          <a:xfrm>
            <a:off x="5265051" y="2213479"/>
            <a:ext cx="1569660" cy="369332"/>
          </a:xfrm>
          <a:prstGeom prst="rect">
            <a:avLst/>
          </a:prstGeom>
          <a:noFill/>
        </p:spPr>
        <p:txBody>
          <a:bodyPr wrap="none">
            <a:spAutoFit/>
          </a:bodyPr>
          <a:lstStyle/>
          <a:p>
            <a:pPr marL="642915" indent="-822915">
              <a:buSzTx/>
              <a:buNone/>
              <a:defRPr sz="3600">
                <a:solidFill>
                  <a:srgbClr val="FF2600"/>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算子调试工具</a:t>
            </a:r>
          </a:p>
        </p:txBody>
      </p:sp>
      <p:sp>
        <p:nvSpPr>
          <p:cNvPr id="23" name="矩形: 圆角 22">
            <a:extLst>
              <a:ext uri="{FF2B5EF4-FFF2-40B4-BE49-F238E27FC236}">
                <a16:creationId xmlns:a16="http://schemas.microsoft.com/office/drawing/2014/main" id="{572EE31D-B272-E0FD-423B-09814D0D37EF}"/>
              </a:ext>
            </a:extLst>
          </p:cNvPr>
          <p:cNvSpPr/>
          <p:nvPr/>
        </p:nvSpPr>
        <p:spPr>
          <a:xfrm>
            <a:off x="4712642" y="2856782"/>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2</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4" name="文本框 23">
            <a:extLst>
              <a:ext uri="{FF2B5EF4-FFF2-40B4-BE49-F238E27FC236}">
                <a16:creationId xmlns:a16="http://schemas.microsoft.com/office/drawing/2014/main" id="{E39873D0-7BA3-A3F3-6F6F-92F17D3F8FA7}"/>
              </a:ext>
            </a:extLst>
          </p:cNvPr>
          <p:cNvSpPr txBox="1"/>
          <p:nvPr/>
        </p:nvSpPr>
        <p:spPr>
          <a:xfrm>
            <a:off x="5265051" y="2900716"/>
            <a:ext cx="1569660" cy="369332"/>
          </a:xfrm>
          <a:prstGeom prst="rect">
            <a:avLst/>
          </a:prstGeom>
          <a:noFill/>
        </p:spPr>
        <p:txBody>
          <a:bodyPr wrap="none">
            <a:spAutoFit/>
          </a:bodyPr>
          <a:lstStyle/>
          <a:p>
            <a:pPr marL="642915" indent="-822915">
              <a:buSzTx/>
              <a:buNone/>
              <a:defRPr sz="3600">
                <a:solidFill>
                  <a:srgbClr val="FF2600"/>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算子调优工具</a:t>
            </a:r>
          </a:p>
        </p:txBody>
      </p:sp>
      <p:sp>
        <p:nvSpPr>
          <p:cNvPr id="25" name="矩形: 圆角 24">
            <a:extLst>
              <a:ext uri="{FF2B5EF4-FFF2-40B4-BE49-F238E27FC236}">
                <a16:creationId xmlns:a16="http://schemas.microsoft.com/office/drawing/2014/main" id="{44B6CF77-78BC-602C-83CD-C13E3C1B3E09}"/>
              </a:ext>
            </a:extLst>
          </p:cNvPr>
          <p:cNvSpPr/>
          <p:nvPr/>
        </p:nvSpPr>
        <p:spPr>
          <a:xfrm>
            <a:off x="4712642" y="3544019"/>
            <a:ext cx="457200" cy="45720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3</a:t>
            </a:r>
            <a:endParaRPr lang="zh-CN" altLang="en-US"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26" name="文本框 25">
            <a:extLst>
              <a:ext uri="{FF2B5EF4-FFF2-40B4-BE49-F238E27FC236}">
                <a16:creationId xmlns:a16="http://schemas.microsoft.com/office/drawing/2014/main" id="{75BCFB54-8CA2-A91F-0C2E-EC133CC85F8A}"/>
              </a:ext>
            </a:extLst>
          </p:cNvPr>
          <p:cNvSpPr txBox="1"/>
          <p:nvPr/>
        </p:nvSpPr>
        <p:spPr>
          <a:xfrm>
            <a:off x="5265051" y="3587953"/>
            <a:ext cx="2031325" cy="369332"/>
          </a:xfrm>
          <a:prstGeom prst="rect">
            <a:avLst/>
          </a:prstGeom>
          <a:noFill/>
        </p:spPr>
        <p:txBody>
          <a:bodyPr wrap="none">
            <a:spAutoFit/>
          </a:bodyPr>
          <a:lstStyle/>
          <a:p>
            <a:pPr marL="642915" indent="-822915">
              <a:buSzTx/>
              <a:buNone/>
              <a:defRPr sz="3600">
                <a:solidFill>
                  <a:srgbClr val="FF2600"/>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算子异常检测工具</a:t>
            </a:r>
          </a:p>
        </p:txBody>
      </p:sp>
      <p:sp>
        <p:nvSpPr>
          <p:cNvPr id="27" name="矩形: 圆角 26">
            <a:extLst>
              <a:ext uri="{FF2B5EF4-FFF2-40B4-BE49-F238E27FC236}">
                <a16:creationId xmlns:a16="http://schemas.microsoft.com/office/drawing/2014/main" id="{9A8BEA22-0F72-EB4D-C07B-866BEC03FF1C}"/>
              </a:ext>
            </a:extLst>
          </p:cNvPr>
          <p:cNvSpPr/>
          <p:nvPr/>
        </p:nvSpPr>
        <p:spPr>
          <a:xfrm>
            <a:off x="4712642" y="4231256"/>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4</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8" name="文本框 27">
            <a:extLst>
              <a:ext uri="{FF2B5EF4-FFF2-40B4-BE49-F238E27FC236}">
                <a16:creationId xmlns:a16="http://schemas.microsoft.com/office/drawing/2014/main" id="{D5AC73A3-DB1A-9D1D-9DAC-3F07E8E480D3}"/>
              </a:ext>
            </a:extLst>
          </p:cNvPr>
          <p:cNvSpPr txBox="1"/>
          <p:nvPr/>
        </p:nvSpPr>
        <p:spPr>
          <a:xfrm>
            <a:off x="5265051" y="4275190"/>
            <a:ext cx="2723823" cy="369332"/>
          </a:xfrm>
          <a:prstGeom prst="rect">
            <a:avLst/>
          </a:prstGeom>
          <a:noFill/>
        </p:spPr>
        <p:txBody>
          <a:bodyPr wrap="none">
            <a:spAutoFit/>
          </a:bodyPr>
          <a:lstStyle/>
          <a:p>
            <a:pPr marL="642915" indent="-822915">
              <a:buSzTx/>
              <a:buNone/>
              <a:defRPr sz="3600">
                <a:solidFill>
                  <a:srgbClr val="0433FF"/>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昇腾算子性能的优化方法</a:t>
            </a:r>
          </a:p>
        </p:txBody>
      </p:sp>
    </p:spTree>
    <p:extLst>
      <p:ext uri="{BB962C8B-B14F-4D97-AF65-F5344CB8AC3E}">
        <p14:creationId xmlns:p14="http://schemas.microsoft.com/office/powerpoint/2010/main" val="3479807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CB9F2-CD02-CF12-374F-AA9109EBE1A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D3F3246-3457-2629-C9F3-35E888949945}"/>
              </a:ext>
            </a:extLst>
          </p:cNvPr>
          <p:cNvSpPr txBox="1">
            <a:spLocks/>
          </p:cNvSpPr>
          <p:nvPr/>
        </p:nvSpPr>
        <p:spPr>
          <a:xfrm>
            <a:off x="2921067" y="411900"/>
            <a:ext cx="6354625"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算子异常检测工具</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3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mssanitizer</a:t>
            </a:r>
            <a:endPar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3" name="文本占位符 2">
            <a:extLst>
              <a:ext uri="{FF2B5EF4-FFF2-40B4-BE49-F238E27FC236}">
                <a16:creationId xmlns:a16="http://schemas.microsoft.com/office/drawing/2014/main" id="{8746E209-56C3-B4C6-0877-A6F125ABCEB6}"/>
              </a:ext>
            </a:extLst>
          </p:cNvPr>
          <p:cNvSpPr txBox="1">
            <a:spLocks/>
          </p:cNvSpPr>
          <p:nvPr/>
        </p:nvSpPr>
        <p:spPr>
          <a:xfrm>
            <a:off x="1319558" y="1444714"/>
            <a:ext cx="9557647" cy="1721369"/>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126000" indent="-126000">
              <a:lnSpc>
                <a:spcPct val="150000"/>
              </a:lnSpc>
              <a:spcBef>
                <a:spcPts val="0"/>
              </a:spcBef>
            </a:pPr>
            <a:r>
              <a:rPr lang="en-US" altLang="zh-CN" sz="12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mssanitizer</a:t>
            </a:r>
            <a:r>
              <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 </a:t>
            </a:r>
            <a:r>
              <a:rPr lang="zh-CN" altLang="en-US" sz="1200" dirty="0">
                <a:latin typeface="Arial" panose="020B0604020202020204" pitchFamily="34" charset="0"/>
                <a:ea typeface="微软雅黑" panose="020B0503020204020204" pitchFamily="34" charset="-122"/>
                <a:cs typeface="Arial" panose="020B0604020202020204" pitchFamily="34" charset="0"/>
              </a:rPr>
              <a:t>是基于昇腾芯片架构的一个异常检测工具，包含了内存检测和竞争检测功能。内存检测工具可以在用户开发算子过程中，协助定位并解决诸如内存非法读写、多核踩踏、非对齐访问、内存泄漏、非法释放等内存问题。同时内存检测工具也支持对 </a:t>
            </a:r>
            <a:r>
              <a:rPr lang="en-US" altLang="zh-CN" sz="1200" dirty="0">
                <a:latin typeface="Arial" panose="020B0604020202020204" pitchFamily="34" charset="0"/>
                <a:ea typeface="微软雅黑" panose="020B0503020204020204" pitchFamily="34" charset="-122"/>
                <a:cs typeface="Arial" panose="020B0604020202020204" pitchFamily="34" charset="0"/>
              </a:rPr>
              <a:t>CANN </a:t>
            </a:r>
            <a:r>
              <a:rPr lang="zh-CN" altLang="en-US" sz="1200" dirty="0">
                <a:latin typeface="Arial" panose="020B0604020202020204" pitchFamily="34" charset="0"/>
                <a:ea typeface="微软雅黑" panose="020B0503020204020204" pitchFamily="34" charset="-122"/>
                <a:cs typeface="Arial" panose="020B0604020202020204" pitchFamily="34" charset="0"/>
              </a:rPr>
              <a:t>软件栈的内存检测，帮助用户定界软件栈内存异常发生的模块。竞争检测工具可以协助用户定位由于竞争风险可能导致的数据竞争问题。</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在昇腾芯片架构上，为了极致性能考虑设计了多级内存。在</a:t>
            </a:r>
            <a:r>
              <a:rPr lang="en-US" altLang="zh-CN" sz="1200" dirty="0">
                <a:latin typeface="Arial" panose="020B0604020202020204" pitchFamily="34" charset="0"/>
                <a:ea typeface="微软雅黑" panose="020B0503020204020204" pitchFamily="34" charset="-122"/>
                <a:cs typeface="Arial" panose="020B0604020202020204" pitchFamily="34" charset="0"/>
              </a:rPr>
              <a:t>Kernel</a:t>
            </a:r>
            <a:r>
              <a:rPr lang="zh-CN" altLang="en-US" sz="1200" dirty="0">
                <a:latin typeface="Arial" panose="020B0604020202020204" pitchFamily="34" charset="0"/>
                <a:ea typeface="微软雅黑" panose="020B0503020204020204" pitchFamily="34" charset="-122"/>
                <a:cs typeface="Arial" panose="020B0604020202020204" pitchFamily="34" charset="0"/>
              </a:rPr>
              <a:t>执行过程中，数据会在不同内存之间进行搬运，开发者需要小心地处理搬运的范围与时机。当我们聚焦某一块特定内存时，内存检测的基本原理就是当内存事件发生时，通过特定算法检查相关内存的状态，从而确定内存事件是否合法。</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a:extLst>
              <a:ext uri="{FF2B5EF4-FFF2-40B4-BE49-F238E27FC236}">
                <a16:creationId xmlns:a16="http://schemas.microsoft.com/office/drawing/2014/main" id="{59C83E11-5D8A-53C4-182E-95966A6C20BE}"/>
              </a:ext>
            </a:extLst>
          </p:cNvPr>
          <p:cNvPicPr>
            <a:picLocks noChangeAspect="1"/>
          </p:cNvPicPr>
          <p:nvPr/>
        </p:nvPicPr>
        <p:blipFill>
          <a:blip r:embed="rId2"/>
          <a:stretch>
            <a:fillRect/>
          </a:stretch>
        </p:blipFill>
        <p:spPr>
          <a:xfrm>
            <a:off x="3859370" y="3243532"/>
            <a:ext cx="4478022" cy="2732866"/>
          </a:xfrm>
          <a:prstGeom prst="rect">
            <a:avLst/>
          </a:prstGeom>
        </p:spPr>
      </p:pic>
    </p:spTree>
    <p:extLst>
      <p:ext uri="{BB962C8B-B14F-4D97-AF65-F5344CB8AC3E}">
        <p14:creationId xmlns:p14="http://schemas.microsoft.com/office/powerpoint/2010/main" val="1081286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28EF0-5F37-2D49-EC74-F04E1AF7C3E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EEAE4A2-3D04-7E83-8650-1EE4ABE8F9B5}"/>
              </a:ext>
            </a:extLst>
          </p:cNvPr>
          <p:cNvSpPr txBox="1">
            <a:spLocks/>
          </p:cNvSpPr>
          <p:nvPr/>
        </p:nvSpPr>
        <p:spPr>
          <a:xfrm>
            <a:off x="5185309" y="411900"/>
            <a:ext cx="182614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非法读写</a:t>
            </a:r>
          </a:p>
        </p:txBody>
      </p:sp>
      <p:sp>
        <p:nvSpPr>
          <p:cNvPr id="3" name="文本占位符 2">
            <a:extLst>
              <a:ext uri="{FF2B5EF4-FFF2-40B4-BE49-F238E27FC236}">
                <a16:creationId xmlns:a16="http://schemas.microsoft.com/office/drawing/2014/main" id="{A717C0FA-EE19-97BF-E5A0-A8AE66B241C3}"/>
              </a:ext>
            </a:extLst>
          </p:cNvPr>
          <p:cNvSpPr txBox="1">
            <a:spLocks/>
          </p:cNvSpPr>
          <p:nvPr/>
        </p:nvSpPr>
        <p:spPr>
          <a:xfrm>
            <a:off x="1328381" y="2073812"/>
            <a:ext cx="9540000" cy="1167371"/>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126000"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非法读写异常信息的产生是由于算子程序中，通过读或写的方式访问了一块未分配的（</a:t>
            </a:r>
            <a:r>
              <a:rPr lang="en-US" altLang="zh-CN" sz="1200" dirty="0" err="1">
                <a:latin typeface="Arial" panose="020B0604020202020204" pitchFamily="34" charset="0"/>
                <a:ea typeface="微软雅黑" panose="020B0503020204020204" pitchFamily="34" charset="-122"/>
                <a:cs typeface="Arial" panose="020B0604020202020204" pitchFamily="34" charset="0"/>
              </a:rPr>
              <a:t>unaccessable</a:t>
            </a:r>
            <a:r>
              <a:rPr lang="zh-CN" altLang="en-US" sz="1200" dirty="0">
                <a:latin typeface="Arial" panose="020B0604020202020204" pitchFamily="34" charset="0"/>
                <a:ea typeface="微软雅黑" panose="020B0503020204020204" pitchFamily="34" charset="-122"/>
                <a:cs typeface="Arial" panose="020B0604020202020204" pitchFamily="34" charset="0"/>
              </a:rPr>
              <a:t>）内存。此错误一般发生在 </a:t>
            </a:r>
            <a:r>
              <a:rPr lang="en-US" altLang="zh-CN" sz="1200" dirty="0">
                <a:latin typeface="Arial" panose="020B0604020202020204" pitchFamily="34" charset="0"/>
                <a:ea typeface="微软雅黑" panose="020B0503020204020204" pitchFamily="34" charset="-122"/>
                <a:cs typeface="Arial" panose="020B0604020202020204" pitchFamily="34" charset="0"/>
              </a:rPr>
              <a:t>GM/HBM </a:t>
            </a:r>
            <a:r>
              <a:rPr lang="zh-CN" altLang="en-US" sz="1200" dirty="0">
                <a:latin typeface="Arial" panose="020B0604020202020204" pitchFamily="34" charset="0"/>
                <a:ea typeface="微软雅黑" panose="020B0503020204020204" pitchFamily="34" charset="-122"/>
                <a:cs typeface="Arial" panose="020B0604020202020204" pitchFamily="34" charset="0"/>
              </a:rPr>
              <a:t>上，由于用户 </a:t>
            </a:r>
            <a:r>
              <a:rPr lang="en-US" altLang="zh-CN" sz="1200" dirty="0">
                <a:latin typeface="Arial" panose="020B0604020202020204" pitchFamily="34" charset="0"/>
                <a:ea typeface="微软雅黑" panose="020B0503020204020204" pitchFamily="34" charset="-122"/>
                <a:cs typeface="Arial" panose="020B0604020202020204" pitchFamily="34" charset="0"/>
              </a:rPr>
              <a:t>GM </a:t>
            </a:r>
            <a:r>
              <a:rPr lang="zh-CN" altLang="en-US" sz="1200" dirty="0">
                <a:latin typeface="Arial" panose="020B0604020202020204" pitchFamily="34" charset="0"/>
                <a:ea typeface="微软雅黑" panose="020B0503020204020204" pitchFamily="34" charset="-122"/>
                <a:cs typeface="Arial" panose="020B0604020202020204" pitchFamily="34" charset="0"/>
              </a:rPr>
              <a:t>分配的大小与实际算子程序中访问的范围不一致导致。</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下图中内存中</a:t>
            </a:r>
            <a:r>
              <a:rPr lang="en-US" altLang="zh-CN" sz="1200" dirty="0">
                <a:latin typeface="Arial" panose="020B0604020202020204" pitchFamily="34" charset="0"/>
                <a:ea typeface="微软雅黑" panose="020B0503020204020204" pitchFamily="34" charset="-122"/>
                <a:cs typeface="Arial" panose="020B0604020202020204" pitchFamily="34" charset="0"/>
              </a:rPr>
              <a:t>0x50</a:t>
            </a:r>
            <a:r>
              <a:rPr lang="zh-CN" altLang="en-US" sz="1200" dirty="0">
                <a:latin typeface="Arial" panose="020B0604020202020204" pitchFamily="34" charset="0"/>
                <a:ea typeface="微软雅黑" panose="020B0503020204020204" pitchFamily="34" charset="-122"/>
                <a:cs typeface="Arial" panose="020B0604020202020204" pitchFamily="34" charset="0"/>
              </a:rPr>
              <a:t>～</a:t>
            </a:r>
            <a:r>
              <a:rPr lang="en-US" altLang="zh-CN" sz="1200" dirty="0">
                <a:latin typeface="Arial" panose="020B0604020202020204" pitchFamily="34" charset="0"/>
                <a:ea typeface="微软雅黑" panose="020B0503020204020204" pitchFamily="34" charset="-122"/>
                <a:cs typeface="Arial" panose="020B0604020202020204" pitchFamily="34" charset="0"/>
              </a:rPr>
              <a:t>0x7f</a:t>
            </a:r>
            <a:r>
              <a:rPr lang="zh-CN" altLang="en-US" sz="1200" dirty="0">
                <a:latin typeface="Arial" panose="020B0604020202020204" pitchFamily="34" charset="0"/>
                <a:ea typeface="微软雅黑" panose="020B0503020204020204" pitchFamily="34" charset="-122"/>
                <a:cs typeface="Arial" panose="020B0604020202020204" pitchFamily="34" charset="0"/>
              </a:rPr>
              <a:t>范围的内存处于未分配状态，此时针对</a:t>
            </a:r>
            <a:r>
              <a:rPr lang="en-US" altLang="zh-CN" sz="1200" dirty="0">
                <a:latin typeface="Arial" panose="020B0604020202020204" pitchFamily="34" charset="0"/>
                <a:ea typeface="微软雅黑" panose="020B0503020204020204" pitchFamily="34" charset="-122"/>
                <a:cs typeface="Arial" panose="020B0604020202020204" pitchFamily="34" charset="0"/>
              </a:rPr>
              <a:t>0x00</a:t>
            </a:r>
            <a:r>
              <a:rPr lang="zh-CN" altLang="en-US" sz="1200" dirty="0">
                <a:latin typeface="Arial" panose="020B0604020202020204" pitchFamily="34" charset="0"/>
                <a:ea typeface="微软雅黑" panose="020B0503020204020204" pitchFamily="34" charset="-122"/>
                <a:cs typeface="Arial" panose="020B0604020202020204" pitchFamily="34" charset="0"/>
              </a:rPr>
              <a:t>地址发生</a:t>
            </a:r>
            <a:r>
              <a:rPr lang="en-US" altLang="zh-CN" sz="1200" dirty="0">
                <a:latin typeface="Arial" panose="020B0604020202020204" pitchFamily="34" charset="0"/>
                <a:ea typeface="微软雅黑" panose="020B0503020204020204" pitchFamily="34" charset="-122"/>
                <a:cs typeface="Arial" panose="020B0604020202020204" pitchFamily="34" charset="0"/>
              </a:rPr>
              <a:t>0xa0</a:t>
            </a:r>
            <a:r>
              <a:rPr lang="zh-CN" altLang="en-US" sz="1200" dirty="0">
                <a:latin typeface="Arial" panose="020B0604020202020204" pitchFamily="34" charset="0"/>
                <a:ea typeface="微软雅黑" panose="020B0503020204020204" pitchFamily="34" charset="-122"/>
                <a:cs typeface="Arial" panose="020B0604020202020204" pitchFamily="34" charset="0"/>
              </a:rPr>
              <a:t>长度的读或写事件，会在未分配的内存位置产生一个长度为</a:t>
            </a:r>
            <a:r>
              <a:rPr lang="en-US" altLang="zh-CN" sz="1200" dirty="0">
                <a:latin typeface="Arial" panose="020B0604020202020204" pitchFamily="34" charset="0"/>
                <a:ea typeface="微软雅黑" panose="020B0503020204020204" pitchFamily="34" charset="-122"/>
                <a:cs typeface="Arial" panose="020B0604020202020204" pitchFamily="34" charset="0"/>
              </a:rPr>
              <a:t>0x30</a:t>
            </a:r>
            <a:r>
              <a:rPr lang="zh-CN" altLang="en-US" sz="1200" dirty="0">
                <a:latin typeface="Arial" panose="020B0604020202020204" pitchFamily="34" charset="0"/>
                <a:ea typeface="微软雅黑" panose="020B0503020204020204" pitchFamily="34" charset="-122"/>
                <a:cs typeface="Arial" panose="020B0604020202020204" pitchFamily="34" charset="0"/>
              </a:rPr>
              <a:t>的非法读写异常。</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a:extLst>
              <a:ext uri="{FF2B5EF4-FFF2-40B4-BE49-F238E27FC236}">
                <a16:creationId xmlns:a16="http://schemas.microsoft.com/office/drawing/2014/main" id="{25ABC244-D4AA-1376-2DED-3EFC5CA24A88}"/>
              </a:ext>
            </a:extLst>
          </p:cNvPr>
          <p:cNvPicPr>
            <a:picLocks noChangeAspect="1"/>
          </p:cNvPicPr>
          <p:nvPr/>
        </p:nvPicPr>
        <p:blipFill>
          <a:blip r:embed="rId2"/>
          <a:stretch>
            <a:fillRect/>
          </a:stretch>
        </p:blipFill>
        <p:spPr>
          <a:xfrm>
            <a:off x="4175506" y="3429000"/>
            <a:ext cx="3845750" cy="1799009"/>
          </a:xfrm>
          <a:prstGeom prst="rect">
            <a:avLst/>
          </a:prstGeom>
        </p:spPr>
      </p:pic>
    </p:spTree>
    <p:extLst>
      <p:ext uri="{BB962C8B-B14F-4D97-AF65-F5344CB8AC3E}">
        <p14:creationId xmlns:p14="http://schemas.microsoft.com/office/powerpoint/2010/main" val="29415210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FB316-2376-E090-488A-F8EFBF8AB9C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AFBDFD5-20CB-6240-1FD8-7288B666AE2E}"/>
              </a:ext>
            </a:extLst>
          </p:cNvPr>
          <p:cNvSpPr txBox="1">
            <a:spLocks/>
          </p:cNvSpPr>
          <p:nvPr/>
        </p:nvSpPr>
        <p:spPr>
          <a:xfrm>
            <a:off x="5185309" y="411900"/>
            <a:ext cx="182614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多核踩踏</a:t>
            </a:r>
          </a:p>
        </p:txBody>
      </p:sp>
      <p:sp>
        <p:nvSpPr>
          <p:cNvPr id="3" name="文本占位符 2">
            <a:extLst>
              <a:ext uri="{FF2B5EF4-FFF2-40B4-BE49-F238E27FC236}">
                <a16:creationId xmlns:a16="http://schemas.microsoft.com/office/drawing/2014/main" id="{1B0D1398-0D1E-D090-6D23-D6DD933E4C33}"/>
              </a:ext>
            </a:extLst>
          </p:cNvPr>
          <p:cNvSpPr txBox="1">
            <a:spLocks/>
          </p:cNvSpPr>
          <p:nvPr/>
        </p:nvSpPr>
        <p:spPr>
          <a:xfrm>
            <a:off x="1328381" y="1740491"/>
            <a:ext cx="9540000" cy="1444370"/>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126000"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昇腾芯片中有多个 </a:t>
            </a:r>
            <a:r>
              <a:rPr lang="en-US" altLang="zh-CN" sz="1200" dirty="0">
                <a:latin typeface="Arial" panose="020B0604020202020204" pitchFamily="34" charset="0"/>
                <a:ea typeface="微软雅黑" panose="020B0503020204020204" pitchFamily="34" charset="-122"/>
                <a:cs typeface="Arial" panose="020B0604020202020204" pitchFamily="34" charset="0"/>
              </a:rPr>
              <a:t>AI Core </a:t>
            </a:r>
            <a:r>
              <a:rPr lang="zh-CN" altLang="en-US" sz="1200" dirty="0">
                <a:latin typeface="Arial" panose="020B0604020202020204" pitchFamily="34" charset="0"/>
                <a:ea typeface="微软雅黑" panose="020B0503020204020204" pitchFamily="34" charset="-122"/>
                <a:cs typeface="Arial" panose="020B0604020202020204" pitchFamily="34" charset="0"/>
              </a:rPr>
              <a:t>芯片同时参与运算，这些 </a:t>
            </a:r>
            <a:r>
              <a:rPr lang="en-US" altLang="zh-CN" sz="1200" dirty="0">
                <a:latin typeface="Arial" panose="020B0604020202020204" pitchFamily="34" charset="0"/>
                <a:ea typeface="微软雅黑" panose="020B0503020204020204" pitchFamily="34" charset="-122"/>
                <a:cs typeface="Arial" panose="020B0604020202020204" pitchFamily="34" charset="0"/>
              </a:rPr>
              <a:t>AI Core </a:t>
            </a:r>
            <a:r>
              <a:rPr lang="zh-CN" altLang="en-US" sz="1200" dirty="0">
                <a:latin typeface="Arial" panose="020B0604020202020204" pitchFamily="34" charset="0"/>
                <a:ea typeface="微软雅黑" panose="020B0503020204020204" pitchFamily="34" charset="-122"/>
                <a:cs typeface="Arial" panose="020B0604020202020204" pitchFamily="34" charset="0"/>
              </a:rPr>
              <a:t>芯片会在计算过程中从 </a:t>
            </a:r>
            <a:r>
              <a:rPr lang="en-US" altLang="zh-CN" sz="1200" dirty="0">
                <a:latin typeface="Arial" panose="020B0604020202020204" pitchFamily="34" charset="0"/>
                <a:ea typeface="微软雅黑" panose="020B0503020204020204" pitchFamily="34" charset="-122"/>
                <a:cs typeface="Arial" panose="020B0604020202020204" pitchFamily="34" charset="0"/>
              </a:rPr>
              <a:t>GM </a:t>
            </a:r>
            <a:r>
              <a:rPr lang="zh-CN" altLang="en-US" sz="1200" dirty="0">
                <a:latin typeface="Arial" panose="020B0604020202020204" pitchFamily="34" charset="0"/>
                <a:ea typeface="微软雅黑" panose="020B0503020204020204" pitchFamily="34" charset="-122"/>
                <a:cs typeface="Arial" panose="020B0604020202020204" pitchFamily="34" charset="0"/>
              </a:rPr>
              <a:t>上搬入或搬出数据。当没有显式地进行核间同步时，如果各个核之间访问的 </a:t>
            </a:r>
            <a:r>
              <a:rPr lang="en-US" altLang="zh-CN" sz="1200" dirty="0">
                <a:latin typeface="Arial" panose="020B0604020202020204" pitchFamily="34" charset="0"/>
                <a:ea typeface="微软雅黑" panose="020B0503020204020204" pitchFamily="34" charset="-122"/>
                <a:cs typeface="Arial" panose="020B0604020202020204" pitchFamily="34" charset="0"/>
              </a:rPr>
              <a:t>GM </a:t>
            </a:r>
            <a:r>
              <a:rPr lang="zh-CN" altLang="en-US" sz="1200" dirty="0">
                <a:latin typeface="Arial" panose="020B0604020202020204" pitchFamily="34" charset="0"/>
                <a:ea typeface="微软雅黑" panose="020B0503020204020204" pitchFamily="34" charset="-122"/>
                <a:cs typeface="Arial" panose="020B0604020202020204" pitchFamily="34" charset="0"/>
              </a:rPr>
              <a:t>内存存在重叠则会发生多核踩踏问题。这里我们通过所有者的概念来保证多核之间不会发生踩踏问题，当一块内存被某一个核写入过后，这块内存就由该核所有。当其他核这块内存进行读写访问时就会产生 </a:t>
            </a:r>
            <a:r>
              <a:rPr lang="en-US" altLang="zh-CN" sz="1200" dirty="0">
                <a:latin typeface="Arial" panose="020B0604020202020204" pitchFamily="34" charset="0"/>
                <a:ea typeface="微软雅黑" panose="020B0503020204020204" pitchFamily="34" charset="-122"/>
                <a:cs typeface="Arial" panose="020B0604020202020204" pitchFamily="34" charset="0"/>
              </a:rPr>
              <a:t>out of bounds </a:t>
            </a:r>
            <a:r>
              <a:rPr lang="zh-CN" altLang="en-US" sz="1200" dirty="0">
                <a:latin typeface="Arial" panose="020B0604020202020204" pitchFamily="34" charset="0"/>
                <a:ea typeface="微软雅黑" panose="020B0503020204020204" pitchFamily="34" charset="-122"/>
                <a:cs typeface="Arial" panose="020B0604020202020204" pitchFamily="34" charset="0"/>
              </a:rPr>
              <a:t>异常。</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下图中，当两个</a:t>
            </a:r>
            <a:r>
              <a:rPr lang="en-US" altLang="zh-CN" sz="1200" dirty="0">
                <a:latin typeface="Arial" panose="020B0604020202020204" pitchFamily="34" charset="0"/>
                <a:ea typeface="微软雅黑" panose="020B0503020204020204" pitchFamily="34" charset="-122"/>
                <a:cs typeface="Arial" panose="020B0604020202020204" pitchFamily="34" charset="0"/>
              </a:rPr>
              <a:t>AI Core</a:t>
            </a:r>
            <a:r>
              <a:rPr lang="zh-CN" altLang="en-US" sz="1200" dirty="0">
                <a:latin typeface="Arial" panose="020B0604020202020204" pitchFamily="34" charset="0"/>
                <a:ea typeface="微软雅黑" panose="020B0503020204020204" pitchFamily="34" charset="-122"/>
                <a:cs typeface="Arial" panose="020B0604020202020204" pitchFamily="34" charset="0"/>
              </a:rPr>
              <a:t>访问的内存区域发生重叠时，重叠的内存区域就可能会发生多核踩踏异常。</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a:extLst>
              <a:ext uri="{FF2B5EF4-FFF2-40B4-BE49-F238E27FC236}">
                <a16:creationId xmlns:a16="http://schemas.microsoft.com/office/drawing/2014/main" id="{AC270E05-4856-EBF3-5E62-D0B2570F57D5}"/>
              </a:ext>
            </a:extLst>
          </p:cNvPr>
          <p:cNvPicPr>
            <a:picLocks noChangeAspect="1"/>
          </p:cNvPicPr>
          <p:nvPr/>
        </p:nvPicPr>
        <p:blipFill>
          <a:blip r:embed="rId2"/>
          <a:stretch>
            <a:fillRect/>
          </a:stretch>
        </p:blipFill>
        <p:spPr>
          <a:xfrm>
            <a:off x="4018486" y="3047084"/>
            <a:ext cx="4159790" cy="2875342"/>
          </a:xfrm>
          <a:prstGeom prst="rect">
            <a:avLst/>
          </a:prstGeom>
        </p:spPr>
      </p:pic>
    </p:spTree>
    <p:extLst>
      <p:ext uri="{BB962C8B-B14F-4D97-AF65-F5344CB8AC3E}">
        <p14:creationId xmlns:p14="http://schemas.microsoft.com/office/powerpoint/2010/main" val="3324092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F8E87-ABC4-B9D9-68F4-DB66EDC71AA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1D9315C-6727-B342-EB7C-D687FEE69CAA}"/>
              </a:ext>
            </a:extLst>
          </p:cNvPr>
          <p:cNvSpPr txBox="1">
            <a:spLocks/>
          </p:cNvSpPr>
          <p:nvPr/>
        </p:nvSpPr>
        <p:spPr>
          <a:xfrm>
            <a:off x="4980125" y="411900"/>
            <a:ext cx="2236510"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非对齐访问</a:t>
            </a:r>
          </a:p>
        </p:txBody>
      </p:sp>
      <p:sp>
        <p:nvSpPr>
          <p:cNvPr id="3" name="文本占位符 2">
            <a:extLst>
              <a:ext uri="{FF2B5EF4-FFF2-40B4-BE49-F238E27FC236}">
                <a16:creationId xmlns:a16="http://schemas.microsoft.com/office/drawing/2014/main" id="{E71DA676-0A2B-28BB-8ED0-6A0E592E36B0}"/>
              </a:ext>
            </a:extLst>
          </p:cNvPr>
          <p:cNvSpPr txBox="1">
            <a:spLocks/>
          </p:cNvSpPr>
          <p:nvPr/>
        </p:nvSpPr>
        <p:spPr>
          <a:xfrm>
            <a:off x="1328381" y="2381942"/>
            <a:ext cx="9540000" cy="890372"/>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126000"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昇腾芯片上包含多种类型的内存，当通过 </a:t>
            </a:r>
            <a:r>
              <a:rPr lang="en-US" altLang="zh-CN" sz="1200" dirty="0">
                <a:latin typeface="Arial" panose="020B0604020202020204" pitchFamily="34" charset="0"/>
                <a:ea typeface="微软雅黑" panose="020B0503020204020204" pitchFamily="34" charset="-122"/>
                <a:cs typeface="Arial" panose="020B0604020202020204" pitchFamily="34" charset="0"/>
              </a:rPr>
              <a:t>DMA </a:t>
            </a:r>
            <a:r>
              <a:rPr lang="zh-CN" altLang="en-US" sz="1200" dirty="0">
                <a:latin typeface="Arial" panose="020B0604020202020204" pitchFamily="34" charset="0"/>
                <a:ea typeface="微软雅黑" panose="020B0503020204020204" pitchFamily="34" charset="-122"/>
                <a:cs typeface="Arial" panose="020B0604020202020204" pitchFamily="34" charset="0"/>
              </a:rPr>
              <a:t>接口进行访问时，不同类型的内存在不同芯片上有不同的最小访问粒度。当访问的内存地址或长度与最小访问粒度不对齐时，会发生数据异常或 </a:t>
            </a:r>
            <a:r>
              <a:rPr lang="en-US" altLang="zh-CN" sz="1200" dirty="0">
                <a:latin typeface="Arial" panose="020B0604020202020204" pitchFamily="34" charset="0"/>
                <a:ea typeface="微软雅黑" panose="020B0503020204020204" pitchFamily="34" charset="-122"/>
                <a:cs typeface="Arial" panose="020B0604020202020204" pitchFamily="34" charset="0"/>
              </a:rPr>
              <a:t>AI Core </a:t>
            </a:r>
            <a:r>
              <a:rPr lang="zh-CN" altLang="en-US" sz="1200" dirty="0">
                <a:latin typeface="Arial" panose="020B0604020202020204" pitchFamily="34" charset="0"/>
                <a:ea typeface="微软雅黑" panose="020B0503020204020204" pitchFamily="34" charset="-122"/>
                <a:cs typeface="Arial" panose="020B0604020202020204" pitchFamily="34" charset="0"/>
              </a:rPr>
              <a:t>异常等问题。</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下图所示，访问对齐检测可以在对齐问题发生时输出对齐异常信息。</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a:extLst>
              <a:ext uri="{FF2B5EF4-FFF2-40B4-BE49-F238E27FC236}">
                <a16:creationId xmlns:a16="http://schemas.microsoft.com/office/drawing/2014/main" id="{D2561BCD-6B31-7CC7-5F7E-1F60BD61F63C}"/>
              </a:ext>
            </a:extLst>
          </p:cNvPr>
          <p:cNvPicPr>
            <a:picLocks noChangeAspect="1"/>
          </p:cNvPicPr>
          <p:nvPr/>
        </p:nvPicPr>
        <p:blipFill>
          <a:blip r:embed="rId2"/>
          <a:stretch>
            <a:fillRect/>
          </a:stretch>
        </p:blipFill>
        <p:spPr>
          <a:xfrm>
            <a:off x="4184345" y="3429000"/>
            <a:ext cx="3828072" cy="1468836"/>
          </a:xfrm>
          <a:prstGeom prst="rect">
            <a:avLst/>
          </a:prstGeom>
        </p:spPr>
      </p:pic>
    </p:spTree>
    <p:extLst>
      <p:ext uri="{BB962C8B-B14F-4D97-AF65-F5344CB8AC3E}">
        <p14:creationId xmlns:p14="http://schemas.microsoft.com/office/powerpoint/2010/main" val="712175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13D06-7AFA-622A-FCDA-A5E4B3CF83F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49447EC-7C35-1A5C-8275-C98E372FD085}"/>
              </a:ext>
            </a:extLst>
          </p:cNvPr>
          <p:cNvSpPr txBox="1">
            <a:spLocks/>
          </p:cNvSpPr>
          <p:nvPr/>
        </p:nvSpPr>
        <p:spPr>
          <a:xfrm>
            <a:off x="3854817" y="411900"/>
            <a:ext cx="4487126"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内存泄漏 </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and </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非法释放</a:t>
            </a:r>
          </a:p>
        </p:txBody>
      </p:sp>
      <p:sp>
        <p:nvSpPr>
          <p:cNvPr id="3" name="文本占位符 2">
            <a:extLst>
              <a:ext uri="{FF2B5EF4-FFF2-40B4-BE49-F238E27FC236}">
                <a16:creationId xmlns:a16="http://schemas.microsoft.com/office/drawing/2014/main" id="{D6898415-7A33-D0F2-FEC3-87944EFF180B}"/>
              </a:ext>
            </a:extLst>
          </p:cNvPr>
          <p:cNvSpPr txBox="1">
            <a:spLocks/>
          </p:cNvSpPr>
          <p:nvPr/>
        </p:nvSpPr>
        <p:spPr>
          <a:xfrm>
            <a:off x="1328381" y="1469561"/>
            <a:ext cx="9540000" cy="1998368"/>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126000" indent="-126000">
              <a:lnSpc>
                <a:spcPct val="150000"/>
              </a:lnSpc>
              <a:spcBef>
                <a:spcPts val="0"/>
              </a:spcBef>
            </a:pP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内存泄漏：</a:t>
            </a:r>
            <a:r>
              <a:rPr lang="zh-CN" altLang="en-US" sz="1200" dirty="0">
                <a:latin typeface="Arial" panose="020B0604020202020204" pitchFamily="34" charset="0"/>
                <a:ea typeface="微软雅黑" panose="020B0503020204020204" pitchFamily="34" charset="-122"/>
                <a:cs typeface="Arial" panose="020B0604020202020204" pitchFamily="34" charset="0"/>
              </a:rPr>
              <a:t>内存检测工具可以检测出 </a:t>
            </a:r>
            <a:r>
              <a:rPr lang="en-US" altLang="zh-CN" sz="1200" dirty="0">
                <a:latin typeface="Arial" panose="020B0604020202020204" pitchFamily="34" charset="0"/>
                <a:ea typeface="微软雅黑" panose="020B0503020204020204" pitchFamily="34" charset="-122"/>
                <a:cs typeface="Arial" panose="020B0604020202020204" pitchFamily="34" charset="0"/>
              </a:rPr>
              <a:t>Device </a:t>
            </a:r>
            <a:r>
              <a:rPr lang="zh-CN" altLang="en-US" sz="1200" dirty="0">
                <a:latin typeface="Arial" panose="020B0604020202020204" pitchFamily="34" charset="0"/>
                <a:ea typeface="微软雅黑" panose="020B0503020204020204" pitchFamily="34" charset="-122"/>
                <a:cs typeface="Arial" panose="020B0604020202020204" pitchFamily="34" charset="0"/>
              </a:rPr>
              <a:t>侧的内存泄漏问题，这些问题通常是开发者没有正确释放使用 </a:t>
            </a:r>
            <a:r>
              <a:rPr lang="en-US" altLang="zh-CN" sz="1200" dirty="0">
                <a:latin typeface="Arial" panose="020B0604020202020204" pitchFamily="34" charset="0"/>
                <a:ea typeface="微软雅黑" panose="020B0503020204020204" pitchFamily="34" charset="-122"/>
                <a:cs typeface="Arial" panose="020B0604020202020204" pitchFamily="34" charset="0"/>
              </a:rPr>
              <a:t>ACL </a:t>
            </a:r>
            <a:r>
              <a:rPr lang="zh-CN" altLang="en-US" sz="1200" dirty="0">
                <a:latin typeface="Arial" panose="020B0604020202020204" pitchFamily="34" charset="0"/>
                <a:ea typeface="微软雅黑" panose="020B0503020204020204" pitchFamily="34" charset="-122"/>
                <a:cs typeface="Arial" panose="020B0604020202020204" pitchFamily="34" charset="0"/>
              </a:rPr>
              <a:t>接口申请的内存导致的，由于片上内存目前不存在内存分配的概念，因此内存泄漏只能出现在 </a:t>
            </a:r>
            <a:r>
              <a:rPr lang="en-US" altLang="zh-CN" sz="1200" dirty="0">
                <a:latin typeface="Arial" panose="020B0604020202020204" pitchFamily="34" charset="0"/>
                <a:ea typeface="微软雅黑" panose="020B0503020204020204" pitchFamily="34" charset="-122"/>
                <a:cs typeface="Arial" panose="020B0604020202020204" pitchFamily="34" charset="0"/>
              </a:rPr>
              <a:t>GM/HBM </a:t>
            </a:r>
            <a:r>
              <a:rPr lang="zh-CN" altLang="en-US" sz="1200" dirty="0">
                <a:latin typeface="Arial" panose="020B0604020202020204" pitchFamily="34" charset="0"/>
                <a:ea typeface="微软雅黑" panose="020B0503020204020204" pitchFamily="34" charset="-122"/>
                <a:cs typeface="Arial" panose="020B0604020202020204" pitchFamily="34" charset="0"/>
              </a:rPr>
              <a:t>上。通过指定命令行参数 </a:t>
            </a:r>
            <a:r>
              <a:rPr lang="en-US" altLang="zh-CN" sz="1200" dirty="0">
                <a:latin typeface="Arial" panose="020B0604020202020204" pitchFamily="34" charset="0"/>
                <a:ea typeface="微软雅黑" panose="020B0503020204020204" pitchFamily="34" charset="-122"/>
                <a:cs typeface="Arial" panose="020B0604020202020204" pitchFamily="34" charset="0"/>
              </a:rPr>
              <a:t>--leak-check=on </a:t>
            </a:r>
            <a:r>
              <a:rPr lang="zh-CN" altLang="en-US" sz="1200" dirty="0">
                <a:latin typeface="Arial" panose="020B0604020202020204" pitchFamily="34" charset="0"/>
                <a:ea typeface="微软雅黑" panose="020B0503020204020204" pitchFamily="34" charset="-122"/>
                <a:cs typeface="Arial" panose="020B0604020202020204" pitchFamily="34" charset="0"/>
              </a:rPr>
              <a:t>可以开启内存泄漏检测。</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Bef>
                <a:spcPts val="0"/>
              </a:spcBef>
            </a:pP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非法释放：</a:t>
            </a:r>
            <a:r>
              <a:rPr lang="zh-CN" altLang="en-US" sz="1200" dirty="0">
                <a:latin typeface="Arial" panose="020B0604020202020204" pitchFamily="34" charset="0"/>
                <a:ea typeface="微软雅黑" panose="020B0503020204020204" pitchFamily="34" charset="-122"/>
                <a:cs typeface="Arial" panose="020B0604020202020204" pitchFamily="34" charset="0"/>
              </a:rPr>
              <a:t>非法释放是指对一个未分配的地址或者已释放的地址进行了释放操作，一般发生在 </a:t>
            </a:r>
            <a:r>
              <a:rPr lang="en-US" altLang="zh-CN" sz="1200" dirty="0">
                <a:latin typeface="Arial" panose="020B0604020202020204" pitchFamily="34" charset="0"/>
                <a:ea typeface="微软雅黑" panose="020B0503020204020204" pitchFamily="34" charset="-122"/>
                <a:cs typeface="Arial" panose="020B0604020202020204" pitchFamily="34" charset="0"/>
              </a:rPr>
              <a:t>GM </a:t>
            </a:r>
            <a:r>
              <a:rPr lang="zh-CN" altLang="en-US" sz="1200" dirty="0">
                <a:latin typeface="Arial" panose="020B0604020202020204" pitchFamily="34" charset="0"/>
                <a:ea typeface="微软雅黑" panose="020B0503020204020204" pitchFamily="34" charset="-122"/>
                <a:cs typeface="Arial" panose="020B0604020202020204" pitchFamily="34" charset="0"/>
              </a:rPr>
              <a:t>上。与 </a:t>
            </a:r>
            <a:r>
              <a:rPr lang="en-US" altLang="zh-CN" sz="1200" dirty="0">
                <a:latin typeface="Arial" panose="020B0604020202020204" pitchFamily="34" charset="0"/>
                <a:ea typeface="微软雅黑" panose="020B0503020204020204" pitchFamily="34" charset="-122"/>
                <a:cs typeface="Arial" panose="020B0604020202020204" pitchFamily="34" charset="0"/>
              </a:rPr>
              <a:t>CPU </a:t>
            </a:r>
            <a:r>
              <a:rPr lang="zh-CN" altLang="en-US" sz="1200" dirty="0">
                <a:latin typeface="Arial" panose="020B0604020202020204" pitchFamily="34" charset="0"/>
                <a:ea typeface="微软雅黑" panose="020B0503020204020204" pitchFamily="34" charset="-122"/>
                <a:cs typeface="Arial" panose="020B0604020202020204" pitchFamily="34" charset="0"/>
              </a:rPr>
              <a:t>侧类似，</a:t>
            </a:r>
            <a:r>
              <a:rPr lang="en-US" altLang="zh-CN" sz="1200" dirty="0">
                <a:latin typeface="Arial" panose="020B0604020202020204" pitchFamily="34" charset="0"/>
                <a:ea typeface="微软雅黑" panose="020B0503020204020204" pitchFamily="34" charset="-122"/>
                <a:cs typeface="Arial" panose="020B0604020202020204" pitchFamily="34" charset="0"/>
              </a:rPr>
              <a:t>GM </a:t>
            </a:r>
            <a:r>
              <a:rPr lang="zh-CN" altLang="en-US" sz="1200" dirty="0">
                <a:latin typeface="Arial" panose="020B0604020202020204" pitchFamily="34" charset="0"/>
                <a:ea typeface="微软雅黑" panose="020B0503020204020204" pitchFamily="34" charset="-122"/>
                <a:cs typeface="Arial" panose="020B0604020202020204" pitchFamily="34" charset="0"/>
              </a:rPr>
              <a:t>上的地址在申请与释放时也是整块进行操作，释放时需要指定申请时 </a:t>
            </a:r>
            <a:r>
              <a:rPr lang="en-US" altLang="zh-CN" sz="1200" dirty="0" err="1">
                <a:latin typeface="Arial" panose="020B0604020202020204" pitchFamily="34" charset="0"/>
                <a:ea typeface="微软雅黑" panose="020B0503020204020204" pitchFamily="34" charset="-122"/>
                <a:cs typeface="Arial" panose="020B0604020202020204" pitchFamily="34" charset="0"/>
              </a:rPr>
              <a:t>aclrtMalloc</a:t>
            </a:r>
            <a:r>
              <a:rPr lang="en-US" altLang="zh-CN" sz="1200" dirty="0">
                <a:latin typeface="Arial" panose="020B0604020202020204" pitchFamily="34" charset="0"/>
                <a:ea typeface="微软雅黑" panose="020B0503020204020204" pitchFamily="34" charset="-122"/>
                <a:cs typeface="Arial" panose="020B0604020202020204" pitchFamily="34" charset="0"/>
              </a:rPr>
              <a:t> </a:t>
            </a:r>
            <a:r>
              <a:rPr lang="zh-CN" altLang="en-US" sz="1200" dirty="0">
                <a:latin typeface="Arial" panose="020B0604020202020204" pitchFamily="34" charset="0"/>
                <a:ea typeface="微软雅黑" panose="020B0503020204020204" pitchFamily="34" charset="-122"/>
                <a:cs typeface="Arial" panose="020B0604020202020204" pitchFamily="34" charset="0"/>
              </a:rPr>
              <a:t>接口返回的地址。下图所示，如果对一个不指向内存块首地址的指针调用释放接口会产生 </a:t>
            </a:r>
            <a:r>
              <a:rPr lang="en-US" altLang="zh-CN" sz="1200" dirty="0">
                <a:latin typeface="Arial" panose="020B0604020202020204" pitchFamily="34" charset="0"/>
                <a:ea typeface="微软雅黑" panose="020B0503020204020204" pitchFamily="34" charset="-122"/>
                <a:cs typeface="Arial" panose="020B0604020202020204" pitchFamily="34" charset="0"/>
              </a:rPr>
              <a:t>illegal free </a:t>
            </a:r>
            <a:r>
              <a:rPr lang="zh-CN" altLang="en-US" sz="1200" dirty="0">
                <a:latin typeface="Arial" panose="020B0604020202020204" pitchFamily="34" charset="0"/>
                <a:ea typeface="微软雅黑" panose="020B0503020204020204" pitchFamily="34" charset="-122"/>
                <a:cs typeface="Arial" panose="020B0604020202020204" pitchFamily="34" charset="0"/>
              </a:rPr>
              <a:t>错误；对一个已释放的地址重复调用释放接口会产生 </a:t>
            </a:r>
            <a:r>
              <a:rPr lang="en-US" altLang="zh-CN" sz="1200" dirty="0">
                <a:latin typeface="Arial" panose="020B0604020202020204" pitchFamily="34" charset="0"/>
                <a:ea typeface="微软雅黑" panose="020B0503020204020204" pitchFamily="34" charset="-122"/>
                <a:cs typeface="Arial" panose="020B0604020202020204" pitchFamily="34" charset="0"/>
              </a:rPr>
              <a:t>double free </a:t>
            </a:r>
            <a:r>
              <a:rPr lang="zh-CN" altLang="en-US" sz="1200" dirty="0">
                <a:latin typeface="Arial" panose="020B0604020202020204" pitchFamily="34" charset="0"/>
                <a:ea typeface="微软雅黑" panose="020B0503020204020204" pitchFamily="34" charset="-122"/>
                <a:cs typeface="Arial" panose="020B0604020202020204" pitchFamily="34" charset="0"/>
              </a:rPr>
              <a:t>错误。</a:t>
            </a:r>
          </a:p>
        </p:txBody>
      </p:sp>
      <p:pic>
        <p:nvPicPr>
          <p:cNvPr id="4" name="图片 3">
            <a:extLst>
              <a:ext uri="{FF2B5EF4-FFF2-40B4-BE49-F238E27FC236}">
                <a16:creationId xmlns:a16="http://schemas.microsoft.com/office/drawing/2014/main" id="{45E48C11-9811-4D78-AB50-60320C8F078D}"/>
              </a:ext>
            </a:extLst>
          </p:cNvPr>
          <p:cNvPicPr>
            <a:picLocks noChangeAspect="1"/>
          </p:cNvPicPr>
          <p:nvPr/>
        </p:nvPicPr>
        <p:blipFill>
          <a:blip r:embed="rId2"/>
          <a:stretch>
            <a:fillRect/>
          </a:stretch>
        </p:blipFill>
        <p:spPr>
          <a:xfrm>
            <a:off x="4287693" y="3368106"/>
            <a:ext cx="3621376" cy="2625656"/>
          </a:xfrm>
          <a:prstGeom prst="rect">
            <a:avLst/>
          </a:prstGeom>
        </p:spPr>
      </p:pic>
    </p:spTree>
    <p:extLst>
      <p:ext uri="{BB962C8B-B14F-4D97-AF65-F5344CB8AC3E}">
        <p14:creationId xmlns:p14="http://schemas.microsoft.com/office/powerpoint/2010/main" val="39792984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BFBEE-00F0-879D-CD0A-C9BBAB0AA08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66BE09D-9128-2A60-4C61-3D530C89C80D}"/>
              </a:ext>
            </a:extLst>
          </p:cNvPr>
          <p:cNvSpPr txBox="1">
            <a:spLocks/>
          </p:cNvSpPr>
          <p:nvPr/>
        </p:nvSpPr>
        <p:spPr>
          <a:xfrm>
            <a:off x="4364572" y="411900"/>
            <a:ext cx="3467616"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算子竞争检测原理</a:t>
            </a:r>
          </a:p>
        </p:txBody>
      </p:sp>
      <p:sp>
        <p:nvSpPr>
          <p:cNvPr id="3" name="文本占位符 2">
            <a:extLst>
              <a:ext uri="{FF2B5EF4-FFF2-40B4-BE49-F238E27FC236}">
                <a16:creationId xmlns:a16="http://schemas.microsoft.com/office/drawing/2014/main" id="{2A86E258-4147-9375-A1C8-5ABA1560EED2}"/>
              </a:ext>
            </a:extLst>
          </p:cNvPr>
          <p:cNvSpPr txBox="1">
            <a:spLocks/>
          </p:cNvSpPr>
          <p:nvPr/>
        </p:nvSpPr>
        <p:spPr>
          <a:xfrm>
            <a:off x="590550" y="1645225"/>
            <a:ext cx="3881886" cy="2829364"/>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126000"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竞争检测工具是一个用于检测运行时共享内存同时访问风险的工具，此工具主要用途是帮助用户识别到内存数据的竞争访问风险。在昇腾芯片架构下，</a:t>
            </a:r>
            <a:r>
              <a:rPr lang="en-US" altLang="zh-CN" sz="1200" dirty="0" err="1">
                <a:latin typeface="Arial" panose="020B0604020202020204" pitchFamily="34" charset="0"/>
                <a:ea typeface="微软雅黑" panose="020B0503020204020204" pitchFamily="34" charset="-122"/>
                <a:cs typeface="Arial" panose="020B0604020202020204" pitchFamily="34" charset="0"/>
              </a:rPr>
              <a:t>AICore</a:t>
            </a:r>
            <a:r>
              <a:rPr lang="en-US" altLang="zh-CN" sz="1200" dirty="0">
                <a:latin typeface="Arial" panose="020B0604020202020204" pitchFamily="34" charset="0"/>
                <a:ea typeface="微软雅黑" panose="020B0503020204020204" pitchFamily="34" charset="-122"/>
                <a:cs typeface="Arial" panose="020B0604020202020204" pitchFamily="34" charset="0"/>
              </a:rPr>
              <a:t> </a:t>
            </a:r>
            <a:r>
              <a:rPr lang="zh-CN" altLang="en-US" sz="1200" dirty="0">
                <a:latin typeface="Arial" panose="020B0604020202020204" pitchFamily="34" charset="0"/>
                <a:ea typeface="微软雅黑" panose="020B0503020204020204" pitchFamily="34" charset="-122"/>
                <a:cs typeface="Arial" panose="020B0604020202020204" pitchFamily="34" charset="0"/>
              </a:rPr>
              <a:t>的片上内存可以被多个流水线（</a:t>
            </a:r>
            <a:r>
              <a:rPr lang="en-US" altLang="zh-CN" sz="1200" dirty="0">
                <a:latin typeface="Arial" panose="020B0604020202020204" pitchFamily="34" charset="0"/>
                <a:ea typeface="微软雅黑" panose="020B0503020204020204" pitchFamily="34" charset="-122"/>
                <a:cs typeface="Arial" panose="020B0604020202020204" pitchFamily="34" charset="0"/>
              </a:rPr>
              <a:t>PIPE</a:t>
            </a:r>
            <a:r>
              <a:rPr lang="zh-CN" altLang="en-US" sz="1200" dirty="0">
                <a:latin typeface="Arial" panose="020B0604020202020204" pitchFamily="34" charset="0"/>
                <a:ea typeface="微软雅黑" panose="020B0503020204020204" pitchFamily="34" charset="-122"/>
                <a:cs typeface="Arial" panose="020B0604020202020204" pitchFamily="34" charset="0"/>
              </a:rPr>
              <a:t>）访问，片上内存经常被用作临时缓冲区保存正在处理的数据。由于这些数据可以同时被多个流水线访问，算子程序没有正确处理流水线同步时就可能会导致数据竞争问题。</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Bef>
                <a:spcPts val="0"/>
              </a:spcBef>
            </a:pPr>
            <a:r>
              <a:rPr lang="zh-CN" altLang="en-US" sz="1200" dirty="0">
                <a:latin typeface="Arial" panose="020B0604020202020204" pitchFamily="34" charset="0"/>
                <a:ea typeface="微软雅黑" panose="020B0503020204020204" pitchFamily="34" charset="-122"/>
                <a:cs typeface="Arial" panose="020B0604020202020204" pitchFamily="34" charset="0"/>
              </a:rPr>
              <a:t>竞争风险是指两个事件（其中至少有一个为写事件）尝试访问同一块内存时，基于两个事件的相对顺序发生的非预期访问结果。</a:t>
            </a:r>
          </a:p>
        </p:txBody>
      </p:sp>
      <p:sp>
        <p:nvSpPr>
          <p:cNvPr id="4" name="文本框 3">
            <a:extLst>
              <a:ext uri="{FF2B5EF4-FFF2-40B4-BE49-F238E27FC236}">
                <a16:creationId xmlns:a16="http://schemas.microsoft.com/office/drawing/2014/main" id="{85B19C6D-067E-E2DF-0FBF-4BBB6A257E68}"/>
              </a:ext>
            </a:extLst>
          </p:cNvPr>
          <p:cNvSpPr txBox="1"/>
          <p:nvPr/>
        </p:nvSpPr>
        <p:spPr>
          <a:xfrm>
            <a:off x="4591297" y="1645225"/>
            <a:ext cx="3881886" cy="42011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180000" marR="0" indent="-180000" algn="l" defTabSz="914477" rtl="0" fontAlgn="auto" latinLnBrk="0" hangingPunct="0">
              <a:lnSpc>
                <a:spcPct val="150000"/>
              </a:lnSpc>
              <a:spcAft>
                <a:spcPts val="600"/>
              </a:spcAft>
              <a:buClrTx/>
              <a:buSzTx/>
              <a:buFont typeface="+mj-lt"/>
              <a:buAutoNum type="arabicPeriod"/>
              <a:tabLst/>
            </a:pPr>
            <a:r>
              <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sym typeface="Helvetica"/>
              </a:rPr>
              <a:t>Write-After-Write(WAW) </a:t>
            </a:r>
            <a:r>
              <a:rPr lang="zh-CN" altLang="en-US" sz="1200" dirty="0">
                <a:latin typeface="Arial" panose="020B0604020202020204" pitchFamily="34" charset="0"/>
                <a:ea typeface="微软雅黑" panose="020B0503020204020204" pitchFamily="34" charset="-122"/>
                <a:cs typeface="Arial" panose="020B0604020202020204" pitchFamily="34" charset="0"/>
                <a:sym typeface="Helvetica"/>
              </a:rPr>
              <a:t>当两个内存事件尝试向同一块内存写入时（如图中的事件</a:t>
            </a:r>
            <a:r>
              <a:rPr lang="en-US" altLang="zh-CN" sz="1200" dirty="0">
                <a:latin typeface="Arial" panose="020B0604020202020204" pitchFamily="34" charset="0"/>
                <a:ea typeface="微软雅黑" panose="020B0503020204020204" pitchFamily="34" charset="-122"/>
                <a:cs typeface="Arial" panose="020B0604020202020204" pitchFamily="34" charset="0"/>
                <a:sym typeface="Helvetica"/>
              </a:rPr>
              <a:t>1</a:t>
            </a:r>
            <a:r>
              <a:rPr lang="zh-CN" altLang="en-US" sz="1200" dirty="0">
                <a:latin typeface="Arial" panose="020B0604020202020204" pitchFamily="34" charset="0"/>
                <a:ea typeface="微软雅黑" panose="020B0503020204020204" pitchFamily="34" charset="-122"/>
                <a:cs typeface="Arial" panose="020B0604020202020204" pitchFamily="34" charset="0"/>
                <a:sym typeface="Helvetica"/>
              </a:rPr>
              <a:t>与事件</a:t>
            </a:r>
            <a:r>
              <a:rPr lang="en-US" altLang="zh-CN" sz="1200" dirty="0">
                <a:latin typeface="Arial" panose="020B0604020202020204" pitchFamily="34" charset="0"/>
                <a:ea typeface="微软雅黑" panose="020B0503020204020204" pitchFamily="34" charset="-122"/>
                <a:cs typeface="Arial" panose="020B0604020202020204" pitchFamily="34" charset="0"/>
                <a:sym typeface="Helvetica"/>
              </a:rPr>
              <a:t>2</a:t>
            </a:r>
            <a:r>
              <a:rPr lang="zh-CN" altLang="en-US" sz="1200" dirty="0">
                <a:latin typeface="Arial" panose="020B0604020202020204" pitchFamily="34" charset="0"/>
                <a:ea typeface="微软雅黑" panose="020B0503020204020204" pitchFamily="34" charset="-122"/>
                <a:cs typeface="Arial" panose="020B0604020202020204" pitchFamily="34" charset="0"/>
                <a:sym typeface="Helvetica"/>
              </a:rPr>
              <a:t>），就会存在这种风险，而内存访问结果取决于两个内存事件的相对顺序。</a:t>
            </a:r>
            <a:endParaRPr lang="en-US" altLang="zh-CN" sz="1200" dirty="0">
              <a:latin typeface="Arial" panose="020B0604020202020204" pitchFamily="34" charset="0"/>
              <a:ea typeface="微软雅黑" panose="020B0503020204020204" pitchFamily="34" charset="-122"/>
              <a:cs typeface="Arial" panose="020B0604020202020204" pitchFamily="34" charset="0"/>
              <a:sym typeface="Helvetica"/>
            </a:endParaRPr>
          </a:p>
          <a:p>
            <a:pPr marL="180000" marR="0" indent="-180000" algn="l" defTabSz="914477" rtl="0" fontAlgn="auto" latinLnBrk="0" hangingPunct="0">
              <a:lnSpc>
                <a:spcPct val="150000"/>
              </a:lnSpc>
              <a:spcAft>
                <a:spcPts val="600"/>
              </a:spcAft>
              <a:buClrTx/>
              <a:buSzTx/>
              <a:buFont typeface="+mj-lt"/>
              <a:buAutoNum type="arabicPeriod"/>
              <a:tabLst/>
            </a:pPr>
            <a:r>
              <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sym typeface="Helvetica"/>
              </a:rPr>
              <a:t>Write-After-Read(WAR) </a:t>
            </a:r>
            <a:r>
              <a:rPr lang="zh-CN" altLang="en-US" sz="1200" dirty="0">
                <a:latin typeface="Arial" panose="020B0604020202020204" pitchFamily="34" charset="0"/>
                <a:ea typeface="微软雅黑" panose="020B0503020204020204" pitchFamily="34" charset="-122"/>
                <a:cs typeface="Arial" panose="020B0604020202020204" pitchFamily="34" charset="0"/>
                <a:sym typeface="Helvetica"/>
              </a:rPr>
              <a:t>当两个内存事件尝试访问同一块内存，一个执行读操作，另一个执行写操作时（如图中的事件</a:t>
            </a:r>
            <a:r>
              <a:rPr lang="en-US" altLang="zh-CN" sz="1200" dirty="0">
                <a:latin typeface="Arial" panose="020B0604020202020204" pitchFamily="34" charset="0"/>
                <a:ea typeface="微软雅黑" panose="020B0503020204020204" pitchFamily="34" charset="-122"/>
                <a:cs typeface="Arial" panose="020B0604020202020204" pitchFamily="34" charset="0"/>
                <a:sym typeface="Helvetica"/>
              </a:rPr>
              <a:t>3</a:t>
            </a:r>
            <a:r>
              <a:rPr lang="zh-CN" altLang="en-US" sz="1200" dirty="0">
                <a:latin typeface="Arial" panose="020B0604020202020204" pitchFamily="34" charset="0"/>
                <a:ea typeface="微软雅黑" panose="020B0503020204020204" pitchFamily="34" charset="-122"/>
                <a:cs typeface="Arial" panose="020B0604020202020204" pitchFamily="34" charset="0"/>
                <a:sym typeface="Helvetica"/>
              </a:rPr>
              <a:t>与事件</a:t>
            </a:r>
            <a:r>
              <a:rPr lang="en-US" altLang="zh-CN" sz="1200" dirty="0">
                <a:latin typeface="Arial" panose="020B0604020202020204" pitchFamily="34" charset="0"/>
                <a:ea typeface="微软雅黑" panose="020B0503020204020204" pitchFamily="34" charset="-122"/>
                <a:cs typeface="Arial" panose="020B0604020202020204" pitchFamily="34" charset="0"/>
                <a:sym typeface="Helvetica"/>
              </a:rPr>
              <a:t>4</a:t>
            </a:r>
            <a:r>
              <a:rPr lang="zh-CN" altLang="en-US" sz="1200" dirty="0">
                <a:latin typeface="Arial" panose="020B0604020202020204" pitchFamily="34" charset="0"/>
                <a:ea typeface="微软雅黑" panose="020B0503020204020204" pitchFamily="34" charset="-122"/>
                <a:cs typeface="Arial" panose="020B0604020202020204" pitchFamily="34" charset="0"/>
                <a:sym typeface="Helvetica"/>
              </a:rPr>
              <a:t>），就会存在这种风险。在这种情况下，读操作事件会在写操作事件提交之前读取到内存的值。</a:t>
            </a:r>
            <a:endParaRPr lang="en-US" altLang="zh-CN" sz="1200" dirty="0">
              <a:latin typeface="Arial" panose="020B0604020202020204" pitchFamily="34" charset="0"/>
              <a:ea typeface="微软雅黑" panose="020B0503020204020204" pitchFamily="34" charset="-122"/>
              <a:cs typeface="Arial" panose="020B0604020202020204" pitchFamily="34" charset="0"/>
              <a:sym typeface="Helvetica"/>
            </a:endParaRPr>
          </a:p>
          <a:p>
            <a:pPr marL="180000" marR="0" indent="-180000" algn="l" defTabSz="914477" rtl="0" fontAlgn="auto" latinLnBrk="0" hangingPunct="0">
              <a:lnSpc>
                <a:spcPct val="150000"/>
              </a:lnSpc>
              <a:spcAft>
                <a:spcPts val="600"/>
              </a:spcAft>
              <a:buClrTx/>
              <a:buSzTx/>
              <a:buFont typeface="+mj-lt"/>
              <a:buAutoNum type="arabicPeriod"/>
              <a:tabLst/>
            </a:pPr>
            <a:r>
              <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sym typeface="Helvetica"/>
              </a:rPr>
              <a:t>Read-After-Write(RAW) </a:t>
            </a:r>
            <a:r>
              <a:rPr lang="zh-CN" altLang="en-US" sz="1200" dirty="0">
                <a:latin typeface="Arial" panose="020B0604020202020204" pitchFamily="34" charset="0"/>
                <a:ea typeface="微软雅黑" panose="020B0503020204020204" pitchFamily="34" charset="-122"/>
                <a:cs typeface="Arial" panose="020B0604020202020204" pitchFamily="34" charset="0"/>
                <a:sym typeface="Helvetica"/>
              </a:rPr>
              <a:t>当两个内存事件尝试访问同一块内存，一个执行读操作，另一个执行写操作时（如图中的事件</a:t>
            </a:r>
            <a:r>
              <a:rPr lang="en-US" altLang="zh-CN" sz="1200" dirty="0">
                <a:latin typeface="Arial" panose="020B0604020202020204" pitchFamily="34" charset="0"/>
                <a:ea typeface="微软雅黑" panose="020B0503020204020204" pitchFamily="34" charset="-122"/>
                <a:cs typeface="Arial" panose="020B0604020202020204" pitchFamily="34" charset="0"/>
                <a:sym typeface="Helvetica"/>
              </a:rPr>
              <a:t>2</a:t>
            </a:r>
            <a:r>
              <a:rPr lang="zh-CN" altLang="en-US" sz="1200" dirty="0">
                <a:latin typeface="Arial" panose="020B0604020202020204" pitchFamily="34" charset="0"/>
                <a:ea typeface="微软雅黑" panose="020B0503020204020204" pitchFamily="34" charset="-122"/>
                <a:cs typeface="Arial" panose="020B0604020202020204" pitchFamily="34" charset="0"/>
                <a:sym typeface="Helvetica"/>
              </a:rPr>
              <a:t>与事件</a:t>
            </a:r>
            <a:r>
              <a:rPr lang="en-US" altLang="zh-CN" sz="1200" dirty="0">
                <a:latin typeface="Arial" panose="020B0604020202020204" pitchFamily="34" charset="0"/>
                <a:ea typeface="微软雅黑" panose="020B0503020204020204" pitchFamily="34" charset="-122"/>
                <a:cs typeface="Arial" panose="020B0604020202020204" pitchFamily="34" charset="0"/>
                <a:sym typeface="Helvetica"/>
              </a:rPr>
              <a:t>3</a:t>
            </a:r>
            <a:r>
              <a:rPr lang="zh-CN" altLang="en-US" sz="1200" dirty="0">
                <a:latin typeface="Arial" panose="020B0604020202020204" pitchFamily="34" charset="0"/>
                <a:ea typeface="微软雅黑" panose="020B0503020204020204" pitchFamily="34" charset="-122"/>
                <a:cs typeface="Arial" panose="020B0604020202020204" pitchFamily="34" charset="0"/>
                <a:sym typeface="Helvetica"/>
              </a:rPr>
              <a:t>），就会存在这种风险。在这种情况下，写操作事件在读操作事件之前，所以返回给读操作事件的内存值并不是其原始值。</a:t>
            </a:r>
          </a:p>
        </p:txBody>
      </p:sp>
      <p:pic>
        <p:nvPicPr>
          <p:cNvPr id="5" name="图片 4">
            <a:extLst>
              <a:ext uri="{FF2B5EF4-FFF2-40B4-BE49-F238E27FC236}">
                <a16:creationId xmlns:a16="http://schemas.microsoft.com/office/drawing/2014/main" id="{0C71F6B2-25EB-46B3-8AE8-F55E8A521A6F}"/>
              </a:ext>
            </a:extLst>
          </p:cNvPr>
          <p:cNvPicPr>
            <a:picLocks noChangeAspect="1"/>
          </p:cNvPicPr>
          <p:nvPr/>
        </p:nvPicPr>
        <p:blipFill>
          <a:blip r:embed="rId2"/>
          <a:stretch>
            <a:fillRect/>
          </a:stretch>
        </p:blipFill>
        <p:spPr>
          <a:xfrm>
            <a:off x="8592044" y="1645225"/>
            <a:ext cx="3094634" cy="2215106"/>
          </a:xfrm>
          <a:prstGeom prst="rect">
            <a:avLst/>
          </a:prstGeom>
        </p:spPr>
      </p:pic>
    </p:spTree>
    <p:extLst>
      <p:ext uri="{BB962C8B-B14F-4D97-AF65-F5344CB8AC3E}">
        <p14:creationId xmlns:p14="http://schemas.microsoft.com/office/powerpoint/2010/main" val="25640819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1000E-0BA9-989E-8264-5F488149A729}"/>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EC462588-DCBA-8F8F-A39F-E5A2D64598A1}"/>
              </a:ext>
            </a:extLst>
          </p:cNvPr>
          <p:cNvSpPr txBox="1">
            <a:spLocks/>
          </p:cNvSpPr>
          <p:nvPr/>
        </p:nvSpPr>
        <p:spPr>
          <a:xfrm>
            <a:off x="5185309" y="411900"/>
            <a:ext cx="182614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本章内容</a:t>
            </a:r>
          </a:p>
        </p:txBody>
      </p:sp>
      <p:sp>
        <p:nvSpPr>
          <p:cNvPr id="21" name="矩形: 圆角 20">
            <a:extLst>
              <a:ext uri="{FF2B5EF4-FFF2-40B4-BE49-F238E27FC236}">
                <a16:creationId xmlns:a16="http://schemas.microsoft.com/office/drawing/2014/main" id="{787823E1-8CD1-7D64-F519-2DB34F4F4CA7}"/>
              </a:ext>
            </a:extLst>
          </p:cNvPr>
          <p:cNvSpPr/>
          <p:nvPr/>
        </p:nvSpPr>
        <p:spPr>
          <a:xfrm>
            <a:off x="4712642" y="2169545"/>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1</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2" name="文本框 21">
            <a:extLst>
              <a:ext uri="{FF2B5EF4-FFF2-40B4-BE49-F238E27FC236}">
                <a16:creationId xmlns:a16="http://schemas.microsoft.com/office/drawing/2014/main" id="{865A3CDB-C302-5652-DD4D-F2F5EEDE4633}"/>
              </a:ext>
            </a:extLst>
          </p:cNvPr>
          <p:cNvSpPr txBox="1"/>
          <p:nvPr/>
        </p:nvSpPr>
        <p:spPr>
          <a:xfrm>
            <a:off x="5265051" y="2213479"/>
            <a:ext cx="1569660" cy="369332"/>
          </a:xfrm>
          <a:prstGeom prst="rect">
            <a:avLst/>
          </a:prstGeom>
          <a:noFill/>
        </p:spPr>
        <p:txBody>
          <a:bodyPr wrap="none">
            <a:spAutoFit/>
          </a:bodyPr>
          <a:lstStyle/>
          <a:p>
            <a:pPr marL="642915" indent="-822915">
              <a:buSzTx/>
              <a:buNone/>
              <a:defRPr sz="3600">
                <a:solidFill>
                  <a:srgbClr val="FF2600"/>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算子调试工具</a:t>
            </a:r>
          </a:p>
        </p:txBody>
      </p:sp>
      <p:sp>
        <p:nvSpPr>
          <p:cNvPr id="23" name="矩形: 圆角 22">
            <a:extLst>
              <a:ext uri="{FF2B5EF4-FFF2-40B4-BE49-F238E27FC236}">
                <a16:creationId xmlns:a16="http://schemas.microsoft.com/office/drawing/2014/main" id="{A35581B4-7CEF-239A-AF34-445BF81C52F0}"/>
              </a:ext>
            </a:extLst>
          </p:cNvPr>
          <p:cNvSpPr/>
          <p:nvPr/>
        </p:nvSpPr>
        <p:spPr>
          <a:xfrm>
            <a:off x="4712642" y="2856782"/>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2</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4" name="文本框 23">
            <a:extLst>
              <a:ext uri="{FF2B5EF4-FFF2-40B4-BE49-F238E27FC236}">
                <a16:creationId xmlns:a16="http://schemas.microsoft.com/office/drawing/2014/main" id="{3FFC6F53-4059-A694-69DB-6CAE68931B49}"/>
              </a:ext>
            </a:extLst>
          </p:cNvPr>
          <p:cNvSpPr txBox="1"/>
          <p:nvPr/>
        </p:nvSpPr>
        <p:spPr>
          <a:xfrm>
            <a:off x="5265051" y="2900716"/>
            <a:ext cx="1569660" cy="369332"/>
          </a:xfrm>
          <a:prstGeom prst="rect">
            <a:avLst/>
          </a:prstGeom>
          <a:noFill/>
        </p:spPr>
        <p:txBody>
          <a:bodyPr wrap="none">
            <a:spAutoFit/>
          </a:bodyPr>
          <a:lstStyle/>
          <a:p>
            <a:pPr marL="642915" indent="-822915">
              <a:buSzTx/>
              <a:buNone/>
              <a:defRPr sz="3600">
                <a:solidFill>
                  <a:srgbClr val="FF2600"/>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算子调优工具</a:t>
            </a:r>
          </a:p>
        </p:txBody>
      </p:sp>
      <p:sp>
        <p:nvSpPr>
          <p:cNvPr id="25" name="矩形: 圆角 24">
            <a:extLst>
              <a:ext uri="{FF2B5EF4-FFF2-40B4-BE49-F238E27FC236}">
                <a16:creationId xmlns:a16="http://schemas.microsoft.com/office/drawing/2014/main" id="{57442269-6A34-C9D3-E92C-7B9DE5F372FC}"/>
              </a:ext>
            </a:extLst>
          </p:cNvPr>
          <p:cNvSpPr/>
          <p:nvPr/>
        </p:nvSpPr>
        <p:spPr>
          <a:xfrm>
            <a:off x="4712642" y="3544019"/>
            <a:ext cx="457200" cy="457200"/>
          </a:xfrm>
          <a:prstGeom prst="roundRect">
            <a:avLst/>
          </a:prstGeom>
          <a:solidFill>
            <a:schemeClr val="bg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3</a:t>
            </a:r>
            <a:endParaRPr lang="zh-CN" altLang="en-US" b="1"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6" name="文本框 25">
            <a:extLst>
              <a:ext uri="{FF2B5EF4-FFF2-40B4-BE49-F238E27FC236}">
                <a16:creationId xmlns:a16="http://schemas.microsoft.com/office/drawing/2014/main" id="{3A3011FA-5FF8-DC30-B6DD-EBACFE0DB554}"/>
              </a:ext>
            </a:extLst>
          </p:cNvPr>
          <p:cNvSpPr txBox="1"/>
          <p:nvPr/>
        </p:nvSpPr>
        <p:spPr>
          <a:xfrm>
            <a:off x="5265051" y="3587953"/>
            <a:ext cx="2031325" cy="369332"/>
          </a:xfrm>
          <a:prstGeom prst="rect">
            <a:avLst/>
          </a:prstGeom>
          <a:noFill/>
        </p:spPr>
        <p:txBody>
          <a:bodyPr wrap="none">
            <a:spAutoFit/>
          </a:bodyPr>
          <a:lstStyle/>
          <a:p>
            <a:pPr marL="642915" indent="-822915">
              <a:buSzTx/>
              <a:buNone/>
              <a:defRPr sz="3600">
                <a:solidFill>
                  <a:srgbClr val="FF2600"/>
                </a:solidFill>
              </a:defRPr>
            </a:pPr>
            <a:r>
              <a:rPr lang="zh-CN" altLang="en-US" sz="1800" dirty="0">
                <a:solidFill>
                  <a:schemeClr val="bg1">
                    <a:lumMod val="60000"/>
                    <a:lumOff val="40000"/>
                  </a:schemeClr>
                </a:solidFill>
                <a:latin typeface="Arial" panose="020B0604020202020204" pitchFamily="34" charset="0"/>
                <a:ea typeface="微软雅黑" panose="020B0503020204020204" pitchFamily="34" charset="-122"/>
                <a:cs typeface="Arial" panose="020B0604020202020204" pitchFamily="34" charset="0"/>
              </a:rPr>
              <a:t>算子异常检测工具</a:t>
            </a:r>
          </a:p>
        </p:txBody>
      </p:sp>
      <p:sp>
        <p:nvSpPr>
          <p:cNvPr id="27" name="矩形: 圆角 26">
            <a:extLst>
              <a:ext uri="{FF2B5EF4-FFF2-40B4-BE49-F238E27FC236}">
                <a16:creationId xmlns:a16="http://schemas.microsoft.com/office/drawing/2014/main" id="{2801B0D2-9191-F6A0-B765-CD6532D6C1C8}"/>
              </a:ext>
            </a:extLst>
          </p:cNvPr>
          <p:cNvSpPr/>
          <p:nvPr/>
        </p:nvSpPr>
        <p:spPr>
          <a:xfrm>
            <a:off x="4712642" y="4231256"/>
            <a:ext cx="457200" cy="45720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4</a:t>
            </a:r>
            <a:endParaRPr lang="zh-CN" altLang="en-US"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28" name="文本框 27">
            <a:extLst>
              <a:ext uri="{FF2B5EF4-FFF2-40B4-BE49-F238E27FC236}">
                <a16:creationId xmlns:a16="http://schemas.microsoft.com/office/drawing/2014/main" id="{563E8032-3700-734E-0E3E-A33AE90F7DA2}"/>
              </a:ext>
            </a:extLst>
          </p:cNvPr>
          <p:cNvSpPr txBox="1"/>
          <p:nvPr/>
        </p:nvSpPr>
        <p:spPr>
          <a:xfrm>
            <a:off x="5265051" y="4275190"/>
            <a:ext cx="2723823" cy="369332"/>
          </a:xfrm>
          <a:prstGeom prst="rect">
            <a:avLst/>
          </a:prstGeom>
          <a:noFill/>
        </p:spPr>
        <p:txBody>
          <a:bodyPr wrap="none">
            <a:spAutoFit/>
          </a:bodyPr>
          <a:lstStyle/>
          <a:p>
            <a:pPr marL="642915" indent="-822915">
              <a:buSzTx/>
              <a:buNone/>
              <a:defRPr sz="3600">
                <a:solidFill>
                  <a:srgbClr val="0433FF"/>
                </a:solidFill>
              </a:defRPr>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昇腾算子性能的优化方法</a:t>
            </a:r>
          </a:p>
        </p:txBody>
      </p:sp>
    </p:spTree>
    <p:extLst>
      <p:ext uri="{BB962C8B-B14F-4D97-AF65-F5344CB8AC3E}">
        <p14:creationId xmlns:p14="http://schemas.microsoft.com/office/powerpoint/2010/main" val="3400039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40D2C-6F67-86A3-41AF-347BD53FB7C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3EFFCF9-1E38-867D-3AD1-8C7AAE2A9D13}"/>
              </a:ext>
            </a:extLst>
          </p:cNvPr>
          <p:cNvSpPr txBox="1">
            <a:spLocks/>
          </p:cNvSpPr>
          <p:nvPr/>
        </p:nvSpPr>
        <p:spPr>
          <a:xfrm>
            <a:off x="3543834" y="411900"/>
            <a:ext cx="5109091"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昇腾算子性能优化方法概览</a:t>
            </a:r>
          </a:p>
        </p:txBody>
      </p:sp>
      <p:sp>
        <p:nvSpPr>
          <p:cNvPr id="4" name="文本框 3">
            <a:extLst>
              <a:ext uri="{FF2B5EF4-FFF2-40B4-BE49-F238E27FC236}">
                <a16:creationId xmlns:a16="http://schemas.microsoft.com/office/drawing/2014/main" id="{8A74EFBC-182E-9F74-1541-D04AD549CEB2}"/>
              </a:ext>
            </a:extLst>
          </p:cNvPr>
          <p:cNvSpPr txBox="1"/>
          <p:nvPr/>
        </p:nvSpPr>
        <p:spPr>
          <a:xfrm>
            <a:off x="1430109" y="1778711"/>
            <a:ext cx="9336544" cy="3675750"/>
          </a:xfrm>
          <a:prstGeom prst="rect">
            <a:avLst/>
          </a:prstGeom>
          <a:noFill/>
        </p:spPr>
        <p:txBody>
          <a:bodyPr wrap="square">
            <a:spAutoFit/>
          </a:bodyPr>
          <a:lstStyle/>
          <a:p>
            <a:pPr marL="126000" indent="-126000">
              <a:lnSpc>
                <a:spcPct val="150000"/>
              </a:lnSpc>
              <a:buFont typeface="Arial" panose="020B0604020202020204" pitchFamily="34" charset="0"/>
              <a:buChar char="•"/>
            </a:pPr>
            <a:r>
              <a:rPr lang="zh-CN" altLang="en-US" b="1" dirty="0">
                <a:latin typeface="Arial" panose="020B0604020202020204" pitchFamily="34" charset="0"/>
                <a:ea typeface="微软雅黑" panose="020B0503020204020204" pitchFamily="34" charset="-122"/>
                <a:cs typeface="Arial" panose="020B0604020202020204" pitchFamily="34" charset="0"/>
              </a:rPr>
              <a:t>对于昇腾算子的性能优化，可以从四个角度进行和展开：</a:t>
            </a:r>
            <a:endParaRPr lang="en-US" altLang="zh-CN" b="1" dirty="0">
              <a:latin typeface="Arial" panose="020B0604020202020204" pitchFamily="34" charset="0"/>
              <a:ea typeface="微软雅黑" panose="020B0503020204020204" pitchFamily="34" charset="-122"/>
              <a:cs typeface="Arial" panose="020B0604020202020204" pitchFamily="34" charset="0"/>
            </a:endParaRPr>
          </a:p>
          <a:p>
            <a:pPr marL="252000" lvl="1" indent="-126000">
              <a:lnSpc>
                <a:spcPct val="150000"/>
              </a:lnSpc>
              <a:buFont typeface="Arial" panose="020B0604020202020204" pitchFamily="34" charset="0"/>
              <a:buChar char="•"/>
            </a:pPr>
            <a:r>
              <a:rPr lang="zh-CN" altLang="en-US" sz="1200" b="0" dirty="0">
                <a:latin typeface="Arial" panose="020B0604020202020204" pitchFamily="34" charset="0"/>
                <a:ea typeface="微软雅黑" panose="020B0503020204020204" pitchFamily="34" charset="-122"/>
                <a:cs typeface="Arial" panose="020B0604020202020204" pitchFamily="34" charset="0"/>
              </a:rPr>
              <a:t>算子计算流程优化</a:t>
            </a:r>
            <a:endParaRPr lang="en-US" altLang="zh-CN" sz="1200" b="0" dirty="0">
              <a:latin typeface="Arial" panose="020B0604020202020204" pitchFamily="34" charset="0"/>
              <a:ea typeface="微软雅黑" panose="020B0503020204020204" pitchFamily="34" charset="-122"/>
              <a:cs typeface="Arial" panose="020B0604020202020204" pitchFamily="34" charset="0"/>
            </a:endParaRPr>
          </a:p>
          <a:p>
            <a:pPr marL="252000" lvl="1" indent="-126000">
              <a:lnSpc>
                <a:spcPct val="150000"/>
              </a:lnSpc>
              <a:buFont typeface="Arial" panose="020B0604020202020204" pitchFamily="34" charset="0"/>
              <a:buChar char="•"/>
            </a:pPr>
            <a:r>
              <a:rPr lang="zh-CN" altLang="en-US" sz="1200" b="0" dirty="0">
                <a:latin typeface="Arial" panose="020B0604020202020204" pitchFamily="34" charset="0"/>
                <a:ea typeface="微软雅黑" panose="020B0503020204020204" pitchFamily="34" charset="-122"/>
                <a:cs typeface="Arial" panose="020B0604020202020204" pitchFamily="34" charset="0"/>
              </a:rPr>
              <a:t>代码实现优化</a:t>
            </a:r>
            <a:endParaRPr lang="en-US" altLang="zh-CN" sz="1200" b="0" dirty="0">
              <a:latin typeface="Arial" panose="020B0604020202020204" pitchFamily="34" charset="0"/>
              <a:ea typeface="微软雅黑" panose="020B0503020204020204" pitchFamily="34" charset="-122"/>
              <a:cs typeface="Arial" panose="020B0604020202020204" pitchFamily="34" charset="0"/>
            </a:endParaRPr>
          </a:p>
          <a:p>
            <a:pPr marL="252000" lvl="1" indent="-126000">
              <a:lnSpc>
                <a:spcPct val="150000"/>
              </a:lnSpc>
              <a:buFont typeface="Arial" panose="020B0604020202020204" pitchFamily="34" charset="0"/>
              <a:buChar char="•"/>
            </a:pPr>
            <a:r>
              <a:rPr lang="zh-CN" altLang="en-US" sz="1200" b="0" dirty="0">
                <a:latin typeface="Arial" panose="020B0604020202020204" pitchFamily="34" charset="0"/>
                <a:ea typeface="微软雅黑" panose="020B0503020204020204" pitchFamily="34" charset="-122"/>
                <a:cs typeface="Arial" panose="020B0604020202020204" pitchFamily="34" charset="0"/>
              </a:rPr>
              <a:t>层次化访存优化</a:t>
            </a:r>
            <a:endParaRPr lang="en-US" altLang="zh-CN" sz="1200" b="0" dirty="0">
              <a:latin typeface="Arial" panose="020B0604020202020204" pitchFamily="34" charset="0"/>
              <a:ea typeface="微软雅黑" panose="020B0503020204020204" pitchFamily="34" charset="-122"/>
              <a:cs typeface="Arial" panose="020B0604020202020204" pitchFamily="34" charset="0"/>
            </a:endParaRPr>
          </a:p>
          <a:p>
            <a:pPr marL="252000" lvl="1" indent="-126000">
              <a:lnSpc>
                <a:spcPct val="150000"/>
              </a:lnSpc>
              <a:spcAft>
                <a:spcPts val="600"/>
              </a:spcAft>
              <a:buFont typeface="Arial" panose="020B0604020202020204" pitchFamily="34" charset="0"/>
              <a:buChar char="•"/>
            </a:pPr>
            <a:r>
              <a:rPr lang="zh-CN" altLang="en-US" sz="1200" b="0" dirty="0">
                <a:latin typeface="Arial" panose="020B0604020202020204" pitchFamily="34" charset="0"/>
                <a:ea typeface="微软雅黑" panose="020B0503020204020204" pitchFamily="34" charset="-122"/>
                <a:cs typeface="Arial" panose="020B0604020202020204" pitchFamily="34" charset="0"/>
              </a:rPr>
              <a:t>计算资源利用优化</a:t>
            </a:r>
            <a:endParaRPr lang="en-US" altLang="zh-CN" sz="1200" b="0"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buFont typeface="Arial" panose="020B0604020202020204" pitchFamily="34" charset="0"/>
              <a:buChar char="•"/>
            </a:pPr>
            <a:r>
              <a:rPr lang="zh-CN" altLang="en-US" sz="1200" b="0" dirty="0">
                <a:latin typeface="Arial" panose="020B0604020202020204" pitchFamily="34" charset="0"/>
                <a:ea typeface="微软雅黑" panose="020B0503020204020204" pitchFamily="34" charset="-122"/>
                <a:cs typeface="Arial" panose="020B0604020202020204" pitchFamily="34" charset="0"/>
              </a:rPr>
              <a:t>算子计算流程优化的主要目的是对于算子中的数据搬运、计算执行、通路带宽等方面进行优化，其大致分为</a:t>
            </a:r>
            <a:r>
              <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Tiling</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切分优化</a:t>
            </a:r>
            <a:r>
              <a:rPr lang="zh-CN" altLang="en-US" sz="1200" b="0" dirty="0">
                <a:latin typeface="Arial" panose="020B0604020202020204" pitchFamily="34" charset="0"/>
                <a:ea typeface="微软雅黑" panose="020B0503020204020204" pitchFamily="34" charset="-122"/>
                <a:cs typeface="Arial" panose="020B0604020202020204" pitchFamily="34" charset="0"/>
              </a:rPr>
              <a:t>和</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核内异步流水线</a:t>
            </a:r>
            <a:r>
              <a:rPr lang="zh-CN" altLang="en-US" sz="1200" b="0" dirty="0">
                <a:latin typeface="Arial" panose="020B0604020202020204" pitchFamily="34" charset="0"/>
                <a:ea typeface="微软雅黑" panose="020B0503020204020204" pitchFamily="34" charset="-122"/>
                <a:cs typeface="Arial" panose="020B0604020202020204" pitchFamily="34" charset="0"/>
              </a:rPr>
              <a:t>两方面。</a:t>
            </a:r>
            <a:endParaRPr lang="en-US" altLang="zh-CN" sz="1200" b="0"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spcAft>
                <a:spcPts val="600"/>
              </a:spcAft>
              <a:buFont typeface="Arial" panose="020B0604020202020204" pitchFamily="34" charset="0"/>
              <a:buChar char="•"/>
            </a:pPr>
            <a:r>
              <a:rPr lang="zh-CN" altLang="en-US" sz="1200" b="0" dirty="0">
                <a:latin typeface="Arial" panose="020B0604020202020204" pitchFamily="34" charset="0"/>
                <a:ea typeface="微软雅黑" panose="020B0503020204020204" pitchFamily="34" charset="-122"/>
                <a:cs typeface="Arial" panose="020B0604020202020204" pitchFamily="34" charset="0"/>
              </a:rPr>
              <a:t>代码实现优化是指在进行</a:t>
            </a:r>
            <a:r>
              <a:rPr lang="en-US" altLang="zh-CN" sz="1200" b="0" dirty="0">
                <a:latin typeface="Arial" panose="020B0604020202020204" pitchFamily="34" charset="0"/>
                <a:ea typeface="微软雅黑" panose="020B0503020204020204" pitchFamily="34" charset="-122"/>
                <a:cs typeface="Arial" panose="020B0604020202020204" pitchFamily="34" charset="0"/>
              </a:rPr>
              <a:t>Ascend C</a:t>
            </a:r>
            <a:r>
              <a:rPr lang="zh-CN" altLang="en-US" sz="1200" b="0" dirty="0">
                <a:latin typeface="Arial" panose="020B0604020202020204" pitchFamily="34" charset="0"/>
                <a:ea typeface="微软雅黑" panose="020B0503020204020204" pitchFamily="34" charset="-122"/>
                <a:cs typeface="Arial" panose="020B0604020202020204" pitchFamily="34" charset="0"/>
              </a:rPr>
              <a:t>编程时代码层面的优化，使用特定的编程技巧可以提升代码运行性能。大致分为</a:t>
            </a:r>
            <a:r>
              <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Scalar</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优化、避免阻塞标量计算单元、考虑使用底层</a:t>
            </a:r>
            <a:r>
              <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API</a:t>
            </a:r>
            <a:r>
              <a:rPr lang="zh-CN" altLang="en-US" sz="1200" b="0" dirty="0">
                <a:latin typeface="Arial" panose="020B0604020202020204" pitchFamily="34" charset="0"/>
                <a:ea typeface="微软雅黑" panose="020B0503020204020204" pitchFamily="34" charset="-122"/>
                <a:cs typeface="Arial" panose="020B0604020202020204" pitchFamily="34" charset="0"/>
              </a:rPr>
              <a:t>以及</a:t>
            </a:r>
            <a:r>
              <a:rPr lang="en-US" altLang="zh-CN" sz="12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ICache</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优化避免</a:t>
            </a:r>
            <a:r>
              <a:rPr lang="en-US" altLang="zh-CN" sz="12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Icachemiss</a:t>
            </a:r>
            <a:r>
              <a:rPr lang="zh-CN" altLang="en-US" sz="1200" b="0" dirty="0">
                <a:latin typeface="Arial" panose="020B0604020202020204" pitchFamily="34" charset="0"/>
                <a:ea typeface="微软雅黑" panose="020B0503020204020204" pitchFamily="34" charset="-122"/>
                <a:cs typeface="Arial" panose="020B0604020202020204" pitchFamily="34" charset="0"/>
              </a:rPr>
              <a:t>四种。</a:t>
            </a:r>
            <a:endParaRPr lang="en-US" altLang="zh-CN" sz="1200" b="0"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buFont typeface="Arial" panose="020B0604020202020204" pitchFamily="34" charset="0"/>
              <a:buChar char="•"/>
            </a:pPr>
            <a:r>
              <a:rPr lang="zh-CN" altLang="en-US" sz="1200" b="0" dirty="0">
                <a:latin typeface="Arial" panose="020B0604020202020204" pitchFamily="34" charset="0"/>
                <a:ea typeface="微软雅黑" panose="020B0503020204020204" pitchFamily="34" charset="-122"/>
                <a:cs typeface="Arial" panose="020B0604020202020204" pitchFamily="34" charset="0"/>
              </a:rPr>
              <a:t>层次化访存优化主要涉及对流水线缓冲区的分配以及访存，包括</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合理使用</a:t>
            </a:r>
            <a:r>
              <a:rPr lang="en-US" altLang="zh-CN" sz="12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TBuf</a:t>
            </a:r>
            <a:r>
              <a:rPr lang="zh-CN" altLang="en-US" sz="1200" b="0" dirty="0">
                <a:latin typeface="Arial" panose="020B0604020202020204" pitchFamily="34" charset="0"/>
                <a:ea typeface="微软雅黑" panose="020B0503020204020204" pitchFamily="34" charset="-122"/>
                <a:cs typeface="Arial" panose="020B0604020202020204" pitchFamily="34" charset="0"/>
              </a:rPr>
              <a:t>和</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合并相同生命周期的数据</a:t>
            </a:r>
            <a:r>
              <a:rPr lang="zh-CN" altLang="en-US" sz="1200" b="0" dirty="0">
                <a:latin typeface="Arial" panose="020B0604020202020204" pitchFamily="34" charset="0"/>
                <a:ea typeface="微软雅黑" panose="020B0503020204020204" pitchFamily="34" charset="-122"/>
                <a:cs typeface="Arial" panose="020B0604020202020204" pitchFamily="34" charset="0"/>
              </a:rPr>
              <a:t>两方面。</a:t>
            </a:r>
            <a:endParaRPr lang="en-US" altLang="zh-CN" sz="1200" b="0" dirty="0">
              <a:latin typeface="Arial" panose="020B0604020202020204" pitchFamily="34" charset="0"/>
              <a:ea typeface="微软雅黑" panose="020B0503020204020204" pitchFamily="34" charset="-122"/>
              <a:cs typeface="Arial" panose="020B0604020202020204" pitchFamily="34" charset="0"/>
            </a:endParaRPr>
          </a:p>
          <a:p>
            <a:pPr marL="126000" indent="-126000">
              <a:lnSpc>
                <a:spcPct val="150000"/>
              </a:lnSpc>
              <a:buFont typeface="Arial" panose="020B0604020202020204" pitchFamily="34" charset="0"/>
              <a:buChar char="•"/>
            </a:pPr>
            <a:r>
              <a:rPr lang="zh-CN" altLang="en-US" sz="1200" b="0" dirty="0">
                <a:latin typeface="Arial" panose="020B0604020202020204" pitchFamily="34" charset="0"/>
                <a:ea typeface="微软雅黑" panose="020B0503020204020204" pitchFamily="34" charset="-122"/>
                <a:cs typeface="Arial" panose="020B0604020202020204" pitchFamily="34" charset="0"/>
              </a:rPr>
              <a:t>算资源利用优化着重关注数据搬运以及数据复用，对矩阵运算会有比较大的提升。主要讲解</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大型矩阵</a:t>
            </a:r>
            <a:r>
              <a:rPr lang="en-US" altLang="zh-CN" sz="12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reduce_sum</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实现</a:t>
            </a:r>
            <a:r>
              <a:rPr lang="zh-CN" altLang="en-US" sz="1200" b="0" dirty="0">
                <a:latin typeface="Arial" panose="020B0604020202020204" pitchFamily="34" charset="0"/>
                <a:ea typeface="微软雅黑" panose="020B0503020204020204" pitchFamily="34" charset="-122"/>
                <a:cs typeface="Arial" panose="020B0604020202020204" pitchFamily="34" charset="0"/>
              </a:rPr>
              <a:t>以及</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矩阵计算对各</a:t>
            </a:r>
            <a:r>
              <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Buffer</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的充分利用</a:t>
            </a:r>
            <a:r>
              <a:rPr lang="zh-CN" altLang="en-US" sz="1200" b="0" dirty="0">
                <a:latin typeface="Arial" panose="020B0604020202020204" pitchFamily="34" charset="0"/>
                <a:ea typeface="微软雅黑" panose="020B0503020204020204" pitchFamily="34" charset="-122"/>
                <a:cs typeface="Arial" panose="020B0604020202020204" pitchFamily="34" charset="0"/>
              </a:rPr>
              <a:t>两方面。</a:t>
            </a:r>
          </a:p>
        </p:txBody>
      </p:sp>
    </p:spTree>
    <p:extLst>
      <p:ext uri="{BB962C8B-B14F-4D97-AF65-F5344CB8AC3E}">
        <p14:creationId xmlns:p14="http://schemas.microsoft.com/office/powerpoint/2010/main" val="38896535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6E0FA-AEC4-3A95-71B1-0C7B595CE7C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B7BDE4A-2687-4A0C-1875-79EB1C1635E9}"/>
              </a:ext>
            </a:extLst>
          </p:cNvPr>
          <p:cNvSpPr txBox="1">
            <a:spLocks/>
          </p:cNvSpPr>
          <p:nvPr/>
        </p:nvSpPr>
        <p:spPr>
          <a:xfrm>
            <a:off x="4364572" y="411900"/>
            <a:ext cx="3467616"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算子计算流程优化</a:t>
            </a:r>
          </a:p>
        </p:txBody>
      </p:sp>
      <p:sp>
        <p:nvSpPr>
          <p:cNvPr id="4" name="文本框 3">
            <a:extLst>
              <a:ext uri="{FF2B5EF4-FFF2-40B4-BE49-F238E27FC236}">
                <a16:creationId xmlns:a16="http://schemas.microsoft.com/office/drawing/2014/main" id="{A7C057EA-2152-1630-FFFF-A4AB8F802962}"/>
              </a:ext>
            </a:extLst>
          </p:cNvPr>
          <p:cNvSpPr txBox="1"/>
          <p:nvPr/>
        </p:nvSpPr>
        <p:spPr>
          <a:xfrm>
            <a:off x="1415336" y="2114345"/>
            <a:ext cx="9366090" cy="2629310"/>
          </a:xfrm>
          <a:prstGeom prst="rect">
            <a:avLst/>
          </a:prstGeom>
          <a:noFill/>
        </p:spPr>
        <p:txBody>
          <a:bodyPr wrap="none">
            <a:spAutoFit/>
          </a:bodyPr>
          <a:lstStyle/>
          <a:p>
            <a:pPr>
              <a:lnSpc>
                <a:spcPct val="150000"/>
              </a:lnSpc>
            </a:pPr>
            <a:r>
              <a:rPr lang="en-US" altLang="zh-CN" b="1" dirty="0">
                <a:solidFill>
                  <a:srgbClr val="C00000"/>
                </a:solidFill>
                <a:latin typeface="Arial" panose="020B0604020202020204" pitchFamily="34" charset="0"/>
                <a:ea typeface="微软雅黑" panose="020B0503020204020204" pitchFamily="34" charset="-122"/>
                <a:cs typeface="Arial" panose="020B0604020202020204" pitchFamily="34" charset="0"/>
              </a:rPr>
              <a:t>Tiling</a:t>
            </a: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切分优化</a:t>
            </a:r>
            <a:endParaRPr lang="en-US" altLang="zh-CN"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Tiling</a:t>
            </a: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通常是指对计算进行并行计算切分，以便可以启动并行实例进行并行计算。</a:t>
            </a:r>
            <a:r>
              <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Tiling</a:t>
            </a: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切分有如下几个基本原则：</a:t>
            </a:r>
            <a:endPar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buFont typeface="Arial" panose="020B0604020202020204" pitchFamily="34" charset="0"/>
              <a:buChar char="•"/>
            </a:pPr>
            <a:r>
              <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Tiling</a:t>
            </a: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需要考虑部署环境，也就是并行计算单元的个数，切分后的计算尽量负载均衡，避免有忙有闲，浪费资源。</a:t>
            </a:r>
            <a:endPar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buFont typeface="Arial" panose="020B0604020202020204" pitchFamily="34" charset="0"/>
              <a:buChar char="•"/>
            </a:pPr>
            <a:r>
              <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Tiling</a:t>
            </a: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尽量用满所有可用资源，不要有闲置资源。</a:t>
            </a:r>
            <a:endPar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buFont typeface="Arial" panose="020B0604020202020204" pitchFamily="34" charset="0"/>
              <a:buChar char="•"/>
            </a:pP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核内</a:t>
            </a:r>
            <a:r>
              <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Tiling</a:t>
            </a: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的块要考虑双缓冲机制（在</a:t>
            </a:r>
            <a:r>
              <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Ascend C</a:t>
            </a: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中分配</a:t>
            </a:r>
            <a:r>
              <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2</a:t>
            </a: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块流水线用的</a:t>
            </a:r>
            <a:r>
              <a:rPr lang="en-US" altLang="zh-CN" sz="1200" b="0" dirty="0" err="1">
                <a:solidFill>
                  <a:schemeClr val="tx1"/>
                </a:solidFill>
                <a:latin typeface="Arial" panose="020B0604020202020204" pitchFamily="34" charset="0"/>
                <a:ea typeface="微软雅黑" panose="020B0503020204020204" pitchFamily="34" charset="-122"/>
                <a:cs typeface="Arial" panose="020B0604020202020204" pitchFamily="34" charset="0"/>
              </a:rPr>
              <a:t>Tque</a:t>
            </a: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缓冲区）；</a:t>
            </a:r>
            <a:endPar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p>
            <a:pPr marL="126000" lvl="1" indent="-126000">
              <a:lnSpc>
                <a:spcPct val="150000"/>
              </a:lnSpc>
              <a:spcAft>
                <a:spcPts val="600"/>
              </a:spcAft>
              <a:buFont typeface="Arial" panose="020B0604020202020204" pitchFamily="34" charset="0"/>
              <a:buChar char="•"/>
            </a:pP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核内</a:t>
            </a:r>
            <a:r>
              <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Tiling</a:t>
            </a: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的块要尽量大，一方面可以降低标量计算单元的压力（循环次数少），另一方面有利于</a:t>
            </a:r>
            <a:r>
              <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SIMD</a:t>
            </a: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发挥算力，降低指令启动开销。</a:t>
            </a:r>
            <a:endPar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核内异步流水线</a:t>
            </a:r>
            <a:endParaRPr lang="en-US" altLang="zh-CN"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核内异步流水线其实就是指前文中提到的双缓冲（</a:t>
            </a:r>
            <a:r>
              <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double buffer</a:t>
            </a: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）机制，</a:t>
            </a:r>
            <a:r>
              <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Ascend C</a:t>
            </a: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提供了编程范式会帮助自动实现流水线并行能力。</a:t>
            </a:r>
          </a:p>
        </p:txBody>
      </p:sp>
    </p:spTree>
    <p:extLst>
      <p:ext uri="{BB962C8B-B14F-4D97-AF65-F5344CB8AC3E}">
        <p14:creationId xmlns:p14="http://schemas.microsoft.com/office/powerpoint/2010/main" val="7825956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69E0C-890C-3819-B831-AE326344FA3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4D8ED17-FA19-862B-1348-1E3095CAD95E}"/>
              </a:ext>
            </a:extLst>
          </p:cNvPr>
          <p:cNvSpPr txBox="1">
            <a:spLocks/>
          </p:cNvSpPr>
          <p:nvPr/>
        </p:nvSpPr>
        <p:spPr>
          <a:xfrm>
            <a:off x="2395283" y="411900"/>
            <a:ext cx="7406194"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算子计算流程优化</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---Double Buffer</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机制</a:t>
            </a:r>
          </a:p>
        </p:txBody>
      </p:sp>
      <p:pic>
        <p:nvPicPr>
          <p:cNvPr id="3" name="图片 2">
            <a:extLst>
              <a:ext uri="{FF2B5EF4-FFF2-40B4-BE49-F238E27FC236}">
                <a16:creationId xmlns:a16="http://schemas.microsoft.com/office/drawing/2014/main" id="{83C626F3-90C4-4132-BCB6-B86CF8BD53FD}"/>
              </a:ext>
            </a:extLst>
          </p:cNvPr>
          <p:cNvPicPr>
            <a:picLocks noChangeAspect="1"/>
          </p:cNvPicPr>
          <p:nvPr/>
        </p:nvPicPr>
        <p:blipFill>
          <a:blip r:embed="rId2"/>
          <a:stretch>
            <a:fillRect/>
          </a:stretch>
        </p:blipFill>
        <p:spPr>
          <a:xfrm>
            <a:off x="5001736" y="2279655"/>
            <a:ext cx="2193290" cy="295266"/>
          </a:xfrm>
          <a:prstGeom prst="rect">
            <a:avLst/>
          </a:prstGeom>
        </p:spPr>
      </p:pic>
      <p:pic>
        <p:nvPicPr>
          <p:cNvPr id="4" name="图片 3">
            <a:extLst>
              <a:ext uri="{FF2B5EF4-FFF2-40B4-BE49-F238E27FC236}">
                <a16:creationId xmlns:a16="http://schemas.microsoft.com/office/drawing/2014/main" id="{11B78642-4AA6-03F0-24F5-1893BBCB9F07}"/>
              </a:ext>
            </a:extLst>
          </p:cNvPr>
          <p:cNvPicPr>
            <a:picLocks noChangeAspect="1"/>
          </p:cNvPicPr>
          <p:nvPr/>
        </p:nvPicPr>
        <p:blipFill>
          <a:blip r:embed="rId3"/>
          <a:stretch>
            <a:fillRect/>
          </a:stretch>
        </p:blipFill>
        <p:spPr>
          <a:xfrm>
            <a:off x="3005377" y="2855953"/>
            <a:ext cx="2931470" cy="2103674"/>
          </a:xfrm>
          <a:prstGeom prst="rect">
            <a:avLst/>
          </a:prstGeom>
        </p:spPr>
      </p:pic>
      <p:pic>
        <p:nvPicPr>
          <p:cNvPr id="5" name="图片 4">
            <a:extLst>
              <a:ext uri="{FF2B5EF4-FFF2-40B4-BE49-F238E27FC236}">
                <a16:creationId xmlns:a16="http://schemas.microsoft.com/office/drawing/2014/main" id="{26B43331-9DB9-DB11-D160-EF09C0201084}"/>
              </a:ext>
            </a:extLst>
          </p:cNvPr>
          <p:cNvPicPr>
            <a:picLocks noChangeAspect="1"/>
          </p:cNvPicPr>
          <p:nvPr/>
        </p:nvPicPr>
        <p:blipFill>
          <a:blip r:embed="rId4"/>
          <a:stretch>
            <a:fillRect/>
          </a:stretch>
        </p:blipFill>
        <p:spPr>
          <a:xfrm>
            <a:off x="6130049" y="2855851"/>
            <a:ext cx="3061336" cy="2103244"/>
          </a:xfrm>
          <a:prstGeom prst="rect">
            <a:avLst/>
          </a:prstGeom>
        </p:spPr>
      </p:pic>
    </p:spTree>
    <p:extLst>
      <p:ext uri="{BB962C8B-B14F-4D97-AF65-F5344CB8AC3E}">
        <p14:creationId xmlns:p14="http://schemas.microsoft.com/office/powerpoint/2010/main" val="2392770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C232A-5AC8-600D-34F7-AF3FE8E84C9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0D197A4-BF9A-9CAC-EA55-1B08B9361036}"/>
              </a:ext>
            </a:extLst>
          </p:cNvPr>
          <p:cNvSpPr txBox="1">
            <a:spLocks/>
          </p:cNvSpPr>
          <p:nvPr/>
        </p:nvSpPr>
        <p:spPr>
          <a:xfrm>
            <a:off x="4774941" y="411900"/>
            <a:ext cx="2646878"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代码实现优化</a:t>
            </a:r>
          </a:p>
        </p:txBody>
      </p:sp>
      <p:sp>
        <p:nvSpPr>
          <p:cNvPr id="4" name="文本框 3">
            <a:extLst>
              <a:ext uri="{FF2B5EF4-FFF2-40B4-BE49-F238E27FC236}">
                <a16:creationId xmlns:a16="http://schemas.microsoft.com/office/drawing/2014/main" id="{46D98CA5-7FC9-EFB4-8D6B-38C6D8C3799A}"/>
              </a:ext>
            </a:extLst>
          </p:cNvPr>
          <p:cNvSpPr txBox="1"/>
          <p:nvPr/>
        </p:nvSpPr>
        <p:spPr>
          <a:xfrm>
            <a:off x="1689161" y="1890495"/>
            <a:ext cx="8818440" cy="3614195"/>
          </a:xfrm>
          <a:prstGeom prst="rect">
            <a:avLst/>
          </a:prstGeom>
          <a:noFill/>
        </p:spPr>
        <p:txBody>
          <a:bodyPr wrap="none">
            <a:spAutoFit/>
          </a:bodyPr>
          <a:lstStyle/>
          <a:p>
            <a:pPr>
              <a:lnSpc>
                <a:spcPct val="150000"/>
              </a:lnSpc>
            </a:pPr>
            <a:r>
              <a:rPr lang="en-US" altLang="zh-CN" b="1" dirty="0">
                <a:solidFill>
                  <a:srgbClr val="C00000"/>
                </a:solidFill>
                <a:latin typeface="Arial" panose="020B0604020202020204" pitchFamily="34" charset="0"/>
                <a:ea typeface="微软雅黑" panose="020B0503020204020204" pitchFamily="34" charset="-122"/>
                <a:cs typeface="Arial" panose="020B0604020202020204" pitchFamily="34" charset="0"/>
              </a:rPr>
              <a:t>Scalar</a:t>
            </a: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优化</a:t>
            </a:r>
            <a:endParaRPr lang="en-US" altLang="zh-CN"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标量计算单元的任务是完成地址计算、循环控制、条件控制、指令发射，期望的模式是无阻塞的，直到完成所有指令发射。</a:t>
            </a:r>
            <a:endPar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p>
            <a:pPr>
              <a:lnSpc>
                <a:spcPct val="150000"/>
              </a:lnSpc>
              <a:spcAft>
                <a:spcPts val="600"/>
              </a:spcAft>
            </a:pP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标量计算单元常用的优化技术与对</a:t>
            </a:r>
            <a:r>
              <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CPU</a:t>
            </a: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的取指优化技术类似，如循环内重复计算消除、计算强度削减、计算提取至板外进行等。</a:t>
            </a:r>
            <a:endPar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避免阻塞标量计算单元</a:t>
            </a:r>
            <a:endParaRPr lang="en-US" altLang="zh-CN"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a:lnSpc>
                <a:spcPct val="150000"/>
              </a:lnSpc>
              <a:spcAft>
                <a:spcPts val="600"/>
              </a:spcAft>
            </a:pP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避免标量计算单元参与数据计算，可以避免阻塞标量计算单元。</a:t>
            </a:r>
            <a:endPar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使用底层</a:t>
            </a:r>
            <a:r>
              <a:rPr lang="en-US" altLang="zh-CN" b="1" dirty="0">
                <a:solidFill>
                  <a:srgbClr val="C00000"/>
                </a:solidFill>
                <a:latin typeface="Arial" panose="020B0604020202020204" pitchFamily="34" charset="0"/>
                <a:ea typeface="微软雅黑" panose="020B0503020204020204" pitchFamily="34" charset="-122"/>
                <a:cs typeface="Arial" panose="020B0604020202020204" pitchFamily="34" charset="0"/>
              </a:rPr>
              <a:t>API</a:t>
            </a:r>
          </a:p>
          <a:p>
            <a:pPr>
              <a:lnSpc>
                <a:spcPct val="150000"/>
              </a:lnSpc>
              <a:spcAft>
                <a:spcPts val="600"/>
              </a:spcAft>
            </a:pP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考虑使用更底层、更完整发挥硬件优势的</a:t>
            </a:r>
            <a:r>
              <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API</a:t>
            </a: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接口进行计算。</a:t>
            </a:r>
            <a:endPar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en-US" altLang="zh-CN"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Icache</a:t>
            </a:r>
            <a:r>
              <a:rPr lang="zh-CN" altLang="en-US" b="1" dirty="0">
                <a:solidFill>
                  <a:srgbClr val="C00000"/>
                </a:solidFill>
                <a:latin typeface="Arial" panose="020B0604020202020204" pitchFamily="34" charset="0"/>
                <a:ea typeface="微软雅黑" panose="020B0503020204020204" pitchFamily="34" charset="-122"/>
                <a:cs typeface="Arial" panose="020B0604020202020204" pitchFamily="34" charset="0"/>
              </a:rPr>
              <a:t>优化</a:t>
            </a:r>
            <a:endParaRPr lang="en-US" altLang="zh-CN"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en-US" altLang="zh-CN" sz="1200" b="0" dirty="0" err="1">
                <a:solidFill>
                  <a:schemeClr val="tx1"/>
                </a:solidFill>
                <a:latin typeface="Arial" panose="020B0604020202020204" pitchFamily="34" charset="0"/>
                <a:ea typeface="微软雅黑" panose="020B0503020204020204" pitchFamily="34" charset="-122"/>
                <a:cs typeface="Arial" panose="020B0604020202020204" pitchFamily="34" charset="0"/>
              </a:rPr>
              <a:t>ICache</a:t>
            </a: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用于缓存即将执行的指令。对上板运行的数据结果统计分析可发现，会存在</a:t>
            </a:r>
            <a:r>
              <a:rPr lang="en-US" altLang="zh-CN" sz="1200" b="0" dirty="0" err="1">
                <a:solidFill>
                  <a:schemeClr val="tx1"/>
                </a:solidFill>
                <a:latin typeface="Arial" panose="020B0604020202020204" pitchFamily="34" charset="0"/>
                <a:ea typeface="微软雅黑" panose="020B0503020204020204" pitchFamily="34" charset="-122"/>
                <a:cs typeface="Arial" panose="020B0604020202020204" pitchFamily="34" charset="0"/>
              </a:rPr>
              <a:t>ICachemiss</a:t>
            </a: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（缓存未命中）的情况。</a:t>
            </a:r>
            <a:endParaRPr lang="en-US" altLang="zh-CN" sz="1200" b="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en-US" altLang="zh-CN" sz="1200" b="0" dirty="0" err="1">
                <a:solidFill>
                  <a:schemeClr val="tx1"/>
                </a:solidFill>
                <a:latin typeface="Arial" panose="020B0604020202020204" pitchFamily="34" charset="0"/>
                <a:ea typeface="微软雅黑" panose="020B0503020204020204" pitchFamily="34" charset="-122"/>
                <a:cs typeface="Arial" panose="020B0604020202020204" pitchFamily="34" charset="0"/>
              </a:rPr>
              <a:t>ICachemiss</a:t>
            </a: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的优化建议措施有如下两点：一是减小代码段大小至</a:t>
            </a:r>
            <a:r>
              <a:rPr lang="en-US" altLang="zh-CN" sz="1200" b="0" dirty="0" err="1">
                <a:solidFill>
                  <a:schemeClr val="tx1"/>
                </a:solidFill>
                <a:latin typeface="Arial" panose="020B0604020202020204" pitchFamily="34" charset="0"/>
                <a:ea typeface="微软雅黑" panose="020B0503020204020204" pitchFamily="34" charset="-122"/>
                <a:cs typeface="Arial" panose="020B0604020202020204" pitchFamily="34" charset="0"/>
              </a:rPr>
              <a:t>ICache</a:t>
            </a:r>
            <a:r>
              <a:rPr lang="zh-CN" altLang="en-US" sz="1200" b="0" dirty="0">
                <a:solidFill>
                  <a:schemeClr val="tx1"/>
                </a:solidFill>
                <a:latin typeface="Arial" panose="020B0604020202020204" pitchFamily="34" charset="0"/>
                <a:ea typeface="微软雅黑" panose="020B0503020204020204" pitchFamily="34" charset="-122"/>
                <a:cs typeface="Arial" panose="020B0604020202020204" pitchFamily="34" charset="0"/>
              </a:rPr>
              <a:t>能放下；二是执行次数多的分支代码放于分支最前。</a:t>
            </a:r>
          </a:p>
        </p:txBody>
      </p:sp>
    </p:spTree>
    <p:extLst>
      <p:ext uri="{BB962C8B-B14F-4D97-AF65-F5344CB8AC3E}">
        <p14:creationId xmlns:p14="http://schemas.microsoft.com/office/powerpoint/2010/main" val="10085851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639F0-D57B-2F52-962F-5EEA9E5C460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10A60AF-E75B-173A-739E-A171F5D87FA2}"/>
              </a:ext>
            </a:extLst>
          </p:cNvPr>
          <p:cNvSpPr txBox="1">
            <a:spLocks/>
          </p:cNvSpPr>
          <p:nvPr/>
        </p:nvSpPr>
        <p:spPr>
          <a:xfrm>
            <a:off x="3070147" y="411900"/>
            <a:ext cx="6056466"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代码实现优化</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避免阻塞</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Scalar</a:t>
            </a:r>
            <a:endPar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pic>
        <p:nvPicPr>
          <p:cNvPr id="3" name="图片 2">
            <a:extLst>
              <a:ext uri="{FF2B5EF4-FFF2-40B4-BE49-F238E27FC236}">
                <a16:creationId xmlns:a16="http://schemas.microsoft.com/office/drawing/2014/main" id="{F0E66F88-592A-1015-3C39-6FC6CC81AF0F}"/>
              </a:ext>
            </a:extLst>
          </p:cNvPr>
          <p:cNvPicPr>
            <a:picLocks noChangeAspect="1"/>
          </p:cNvPicPr>
          <p:nvPr/>
        </p:nvPicPr>
        <p:blipFill>
          <a:blip r:embed="rId2"/>
          <a:stretch>
            <a:fillRect/>
          </a:stretch>
        </p:blipFill>
        <p:spPr>
          <a:xfrm>
            <a:off x="1732253" y="1797108"/>
            <a:ext cx="3098166" cy="721026"/>
          </a:xfrm>
          <a:prstGeom prst="rect">
            <a:avLst/>
          </a:prstGeom>
        </p:spPr>
      </p:pic>
      <p:pic>
        <p:nvPicPr>
          <p:cNvPr id="4" name="图片 3">
            <a:extLst>
              <a:ext uri="{FF2B5EF4-FFF2-40B4-BE49-F238E27FC236}">
                <a16:creationId xmlns:a16="http://schemas.microsoft.com/office/drawing/2014/main" id="{C527C8A7-CEB5-35B9-9C3F-3714D81B27F3}"/>
              </a:ext>
            </a:extLst>
          </p:cNvPr>
          <p:cNvPicPr>
            <a:picLocks noChangeAspect="1"/>
          </p:cNvPicPr>
          <p:nvPr/>
        </p:nvPicPr>
        <p:blipFill>
          <a:blip r:embed="rId3"/>
          <a:stretch>
            <a:fillRect/>
          </a:stretch>
        </p:blipFill>
        <p:spPr>
          <a:xfrm>
            <a:off x="5642213" y="1822566"/>
            <a:ext cx="5303944" cy="670110"/>
          </a:xfrm>
          <a:prstGeom prst="rect">
            <a:avLst/>
          </a:prstGeom>
        </p:spPr>
      </p:pic>
      <p:pic>
        <p:nvPicPr>
          <p:cNvPr id="5" name="图片 4">
            <a:extLst>
              <a:ext uri="{FF2B5EF4-FFF2-40B4-BE49-F238E27FC236}">
                <a16:creationId xmlns:a16="http://schemas.microsoft.com/office/drawing/2014/main" id="{1AC3B3B6-A113-598E-DE0D-78A5F69739A3}"/>
              </a:ext>
            </a:extLst>
          </p:cNvPr>
          <p:cNvPicPr>
            <a:picLocks noChangeAspect="1"/>
          </p:cNvPicPr>
          <p:nvPr/>
        </p:nvPicPr>
        <p:blipFill>
          <a:blip r:embed="rId4"/>
          <a:stretch>
            <a:fillRect/>
          </a:stretch>
        </p:blipFill>
        <p:spPr>
          <a:xfrm>
            <a:off x="1250606" y="2656038"/>
            <a:ext cx="4061460" cy="3131820"/>
          </a:xfrm>
          <a:prstGeom prst="rect">
            <a:avLst/>
          </a:prstGeom>
        </p:spPr>
      </p:pic>
      <p:pic>
        <p:nvPicPr>
          <p:cNvPr id="6" name="图片 1">
            <a:extLst>
              <a:ext uri="{FF2B5EF4-FFF2-40B4-BE49-F238E27FC236}">
                <a16:creationId xmlns:a16="http://schemas.microsoft.com/office/drawing/2014/main" id="{D46D5001-5182-BFA1-246A-53D0E8C28EB1}"/>
              </a:ext>
            </a:extLst>
          </p:cNvPr>
          <p:cNvPicPr>
            <a:picLocks noChangeAspect="1"/>
          </p:cNvPicPr>
          <p:nvPr/>
        </p:nvPicPr>
        <p:blipFill>
          <a:blip r:embed="rId5"/>
          <a:stretch>
            <a:fillRect/>
          </a:stretch>
        </p:blipFill>
        <p:spPr>
          <a:xfrm>
            <a:off x="6588564" y="2656038"/>
            <a:ext cx="3411242" cy="3131820"/>
          </a:xfrm>
          <a:prstGeom prst="rect">
            <a:avLst/>
          </a:prstGeom>
        </p:spPr>
      </p:pic>
    </p:spTree>
    <p:extLst>
      <p:ext uri="{BB962C8B-B14F-4D97-AF65-F5344CB8AC3E}">
        <p14:creationId xmlns:p14="http://schemas.microsoft.com/office/powerpoint/2010/main" val="41937502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4E4BD-355C-8D07-98FC-E44A86EF04C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6D5C774-74E4-9963-1599-A54D80815194}"/>
              </a:ext>
            </a:extLst>
          </p:cNvPr>
          <p:cNvSpPr txBox="1">
            <a:spLocks/>
          </p:cNvSpPr>
          <p:nvPr/>
        </p:nvSpPr>
        <p:spPr>
          <a:xfrm>
            <a:off x="4569756" y="411900"/>
            <a:ext cx="3057247"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层次化访存优化</a:t>
            </a:r>
          </a:p>
        </p:txBody>
      </p:sp>
      <p:sp>
        <p:nvSpPr>
          <p:cNvPr id="3" name="文本占位符 2">
            <a:extLst>
              <a:ext uri="{FF2B5EF4-FFF2-40B4-BE49-F238E27FC236}">
                <a16:creationId xmlns:a16="http://schemas.microsoft.com/office/drawing/2014/main" id="{97818639-FAB1-2B85-A2AB-91811BAFEDBD}"/>
              </a:ext>
            </a:extLst>
          </p:cNvPr>
          <p:cNvSpPr txBox="1">
            <a:spLocks/>
          </p:cNvSpPr>
          <p:nvPr/>
        </p:nvSpPr>
        <p:spPr>
          <a:xfrm>
            <a:off x="1007413" y="1864413"/>
            <a:ext cx="10181937" cy="3660361"/>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None/>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合理使用</a:t>
            </a:r>
            <a:r>
              <a:rPr lang="en-US" altLang="zh-CN" sz="18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TBuf</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r>
              <a:rPr lang="zh-CN" altLang="en-US" sz="1200" dirty="0">
                <a:latin typeface="Arial" panose="020B0604020202020204" pitchFamily="34" charset="0"/>
                <a:ea typeface="微软雅黑" panose="020B0503020204020204" pitchFamily="34" charset="-122"/>
                <a:cs typeface="Arial" panose="020B0604020202020204" pitchFamily="34" charset="0"/>
              </a:rPr>
              <a:t>在使用</a:t>
            </a:r>
            <a:r>
              <a:rPr lang="en-US" altLang="zh-CN" sz="1200" dirty="0" err="1">
                <a:latin typeface="Arial" panose="020B0604020202020204" pitchFamily="34" charset="0"/>
                <a:ea typeface="微软雅黑" panose="020B0503020204020204" pitchFamily="34" charset="-122"/>
                <a:cs typeface="Arial" panose="020B0604020202020204" pitchFamily="34" charset="0"/>
              </a:rPr>
              <a:t>TBuf</a:t>
            </a:r>
            <a:r>
              <a:rPr lang="zh-CN" altLang="en-US" sz="1200" dirty="0">
                <a:latin typeface="Arial" panose="020B0604020202020204" pitchFamily="34" charset="0"/>
                <a:ea typeface="微软雅黑" panose="020B0503020204020204" pitchFamily="34" charset="-122"/>
                <a:cs typeface="Arial" panose="020B0604020202020204" pitchFamily="34" charset="0"/>
              </a:rPr>
              <a:t>数据结构时会申请</a:t>
            </a:r>
            <a:r>
              <a:rPr lang="en-US" altLang="zh-CN" sz="1200" dirty="0">
                <a:latin typeface="Arial" panose="020B0604020202020204" pitchFamily="34" charset="0"/>
                <a:ea typeface="微软雅黑" panose="020B0503020204020204" pitchFamily="34" charset="-122"/>
                <a:cs typeface="Arial" panose="020B0604020202020204" pitchFamily="34" charset="0"/>
              </a:rPr>
              <a:t>TMP Buffer</a:t>
            </a:r>
            <a:r>
              <a:rPr lang="zh-CN" altLang="en-US" sz="1200" dirty="0">
                <a:latin typeface="Arial" panose="020B0604020202020204" pitchFamily="34" charset="0"/>
                <a:ea typeface="微软雅黑" panose="020B0503020204020204" pitchFamily="34" charset="-122"/>
                <a:cs typeface="Arial" panose="020B0604020202020204" pitchFamily="34" charset="0"/>
              </a:rPr>
              <a:t>（临时变量</a:t>
            </a:r>
            <a:r>
              <a:rPr lang="en-US" altLang="zh-CN" sz="1200" dirty="0">
                <a:latin typeface="Arial" panose="020B0604020202020204" pitchFamily="34" charset="0"/>
                <a:ea typeface="微软雅黑" panose="020B0503020204020204" pitchFamily="34" charset="-122"/>
                <a:cs typeface="Arial" panose="020B0604020202020204" pitchFamily="34" charset="0"/>
              </a:rPr>
              <a:t>Buffer</a:t>
            </a:r>
            <a:r>
              <a:rPr lang="zh-CN" altLang="en-US" sz="1200" dirty="0">
                <a:latin typeface="Arial" panose="020B0604020202020204" pitchFamily="34" charset="0"/>
                <a:ea typeface="微软雅黑" panose="020B0503020204020204" pitchFamily="34" charset="-122"/>
                <a:cs typeface="Arial" panose="020B0604020202020204" pitchFamily="34" charset="0"/>
              </a:rPr>
              <a:t>），对该临时变量反复使用时不需要反复申请并释放，而是将这个临时变量保存到算子类成员变量中，以便随时调用。</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合并相同生命周期变量</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r>
              <a:rPr lang="zh-CN" altLang="en-US" sz="1200" dirty="0">
                <a:latin typeface="Arial" panose="020B0604020202020204" pitchFamily="34" charset="0"/>
                <a:ea typeface="微软雅黑" panose="020B0503020204020204" pitchFamily="34" charset="-122"/>
                <a:cs typeface="Arial" panose="020B0604020202020204" pitchFamily="34" charset="0"/>
              </a:rPr>
              <a:t>对拥有相同生命周期的数据，可以对其分配的</a:t>
            </a:r>
            <a:r>
              <a:rPr lang="en-US" altLang="zh-CN" sz="1200" dirty="0" err="1">
                <a:latin typeface="Arial" panose="020B0604020202020204" pitchFamily="34" charset="0"/>
                <a:ea typeface="微软雅黑" panose="020B0503020204020204" pitchFamily="34" charset="-122"/>
                <a:cs typeface="Arial" panose="020B0604020202020204" pitchFamily="34" charset="0"/>
              </a:rPr>
              <a:t>TQue</a:t>
            </a:r>
            <a:r>
              <a:rPr lang="zh-CN" altLang="en-US" sz="1200" dirty="0">
                <a:latin typeface="Arial" panose="020B0604020202020204" pitchFamily="34" charset="0"/>
                <a:ea typeface="微软雅黑" panose="020B0503020204020204" pitchFamily="34" charset="-122"/>
                <a:cs typeface="Arial" panose="020B0604020202020204" pitchFamily="34" charset="0"/>
              </a:rPr>
              <a:t>进行合并</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降低</a:t>
            </a:r>
            <a:r>
              <a:rPr lang="en-US" altLang="zh-CN"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Scalar</a:t>
            </a:r>
            <a:r>
              <a:rPr lang="zh-CN" altLang="en-US" sz="1200" b="1" dirty="0">
                <a:solidFill>
                  <a:srgbClr val="C00000"/>
                </a:solidFill>
                <a:latin typeface="Arial" panose="020B0604020202020204" pitchFamily="34" charset="0"/>
                <a:ea typeface="微软雅黑" panose="020B0503020204020204" pitchFamily="34" charset="-122"/>
                <a:cs typeface="Arial" panose="020B0604020202020204" pitchFamily="34" charset="0"/>
              </a:rPr>
              <a:t>操作开销</a:t>
            </a:r>
            <a:r>
              <a:rPr lang="zh-CN" altLang="en-US" sz="1200" dirty="0">
                <a:latin typeface="Arial" panose="020B0604020202020204" pitchFamily="34" charset="0"/>
                <a:ea typeface="微软雅黑" panose="020B0503020204020204" pitchFamily="34" charset="-122"/>
                <a:cs typeface="Arial" panose="020B0604020202020204" pitchFamily="34" charset="0"/>
              </a:rPr>
              <a:t>。</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r>
              <a:rPr lang="zh-CN" altLang="en-US" sz="1200" dirty="0">
                <a:latin typeface="Arial" panose="020B0604020202020204" pitchFamily="34" charset="0"/>
                <a:ea typeface="微软雅黑" panose="020B0503020204020204" pitchFamily="34" charset="-122"/>
                <a:cs typeface="Arial" panose="020B0604020202020204" pitchFamily="34" charset="0"/>
              </a:rPr>
              <a:t>例如</a:t>
            </a:r>
            <a:r>
              <a:rPr lang="en-US" altLang="zh-CN" sz="1200" dirty="0">
                <a:latin typeface="Arial" panose="020B0604020202020204" pitchFamily="34" charset="0"/>
                <a:ea typeface="微软雅黑" panose="020B0503020204020204" pitchFamily="34" charset="-122"/>
                <a:cs typeface="Arial" panose="020B0604020202020204" pitchFamily="34" charset="0"/>
              </a:rPr>
              <a:t>Z = X + Y</a:t>
            </a:r>
            <a:r>
              <a:rPr lang="zh-CN" altLang="en-US" sz="1200" dirty="0">
                <a:latin typeface="Arial" panose="020B0604020202020204" pitchFamily="34" charset="0"/>
                <a:ea typeface="微软雅黑" panose="020B0503020204020204" pitchFamily="34" charset="-122"/>
                <a:cs typeface="Arial" panose="020B0604020202020204" pitchFamily="34" charset="0"/>
              </a:rPr>
              <a:t>这样的计算，</a:t>
            </a:r>
            <a:r>
              <a:rPr lang="en-US" altLang="zh-CN" sz="1200" dirty="0">
                <a:latin typeface="Arial" panose="020B0604020202020204" pitchFamily="34" charset="0"/>
                <a:ea typeface="微软雅黑" panose="020B0503020204020204" pitchFamily="34" charset="-122"/>
                <a:cs typeface="Arial" panose="020B0604020202020204" pitchFamily="34" charset="0"/>
              </a:rPr>
              <a:t>X</a:t>
            </a:r>
            <a:r>
              <a:rPr lang="zh-CN" altLang="en-US" sz="1200" dirty="0">
                <a:latin typeface="Arial" panose="020B0604020202020204" pitchFamily="34" charset="0"/>
                <a:ea typeface="微软雅黑" panose="020B0503020204020204" pitchFamily="34" charset="-122"/>
                <a:cs typeface="Arial" panose="020B0604020202020204" pitchFamily="34" charset="0"/>
              </a:rPr>
              <a:t>和</a:t>
            </a:r>
            <a:r>
              <a:rPr lang="en-US" altLang="zh-CN" sz="1200" dirty="0">
                <a:latin typeface="Arial" panose="020B0604020202020204" pitchFamily="34" charset="0"/>
                <a:ea typeface="微软雅黑" panose="020B0503020204020204" pitchFamily="34" charset="-122"/>
                <a:cs typeface="Arial" panose="020B0604020202020204" pitchFamily="34" charset="0"/>
              </a:rPr>
              <a:t>Y</a:t>
            </a:r>
            <a:r>
              <a:rPr lang="zh-CN" altLang="en-US" sz="1200" dirty="0">
                <a:latin typeface="Arial" panose="020B0604020202020204" pitchFamily="34" charset="0"/>
                <a:ea typeface="微软雅黑" panose="020B0503020204020204" pitchFamily="34" charset="-122"/>
                <a:cs typeface="Arial" panose="020B0604020202020204" pitchFamily="34" charset="0"/>
              </a:rPr>
              <a:t>操作数生命周期实际是相同的，需要各自搬运一个操作数到</a:t>
            </a:r>
            <a:r>
              <a:rPr lang="en-US" altLang="zh-CN" sz="1200" dirty="0">
                <a:latin typeface="Arial" panose="020B0604020202020204" pitchFamily="34" charset="0"/>
                <a:ea typeface="微软雅黑" panose="020B0503020204020204" pitchFamily="34" charset="-122"/>
                <a:cs typeface="Arial" panose="020B0604020202020204" pitchFamily="34" charset="0"/>
              </a:rPr>
              <a:t>UB</a:t>
            </a:r>
            <a:r>
              <a:rPr lang="zh-CN" altLang="en-US" sz="1200" dirty="0">
                <a:latin typeface="Arial" panose="020B0604020202020204" pitchFamily="34" charset="0"/>
                <a:ea typeface="微软雅黑" panose="020B0503020204020204" pitchFamily="34" charset="-122"/>
                <a:cs typeface="Arial" panose="020B0604020202020204" pitchFamily="34" charset="0"/>
              </a:rPr>
              <a:t>，然后开始计算，计算完成同时释放，那么我们可以只申请一个</a:t>
            </a:r>
            <a:r>
              <a:rPr lang="en-US" altLang="zh-CN" sz="1200" dirty="0" err="1">
                <a:latin typeface="Arial" panose="020B0604020202020204" pitchFamily="34" charset="0"/>
                <a:ea typeface="微软雅黑" panose="020B0503020204020204" pitchFamily="34" charset="-122"/>
                <a:cs typeface="Arial" panose="020B0604020202020204" pitchFamily="34" charset="0"/>
              </a:rPr>
              <a:t>TQue</a:t>
            </a:r>
            <a:r>
              <a:rPr lang="zh-CN" altLang="en-US" sz="1200" dirty="0">
                <a:latin typeface="Arial" panose="020B0604020202020204" pitchFamily="34" charset="0"/>
                <a:ea typeface="微软雅黑" panose="020B0503020204020204" pitchFamily="34" charset="-122"/>
                <a:cs typeface="Arial" panose="020B0604020202020204" pitchFamily="34" charset="0"/>
              </a:rPr>
              <a:t>，申请一个</a:t>
            </a:r>
            <a:r>
              <a:rPr lang="en-US" altLang="zh-CN" sz="1200" dirty="0">
                <a:latin typeface="Arial" panose="020B0604020202020204" pitchFamily="34" charset="0"/>
                <a:ea typeface="微软雅黑" panose="020B0503020204020204" pitchFamily="34" charset="-122"/>
                <a:cs typeface="Arial" panose="020B0604020202020204" pitchFamily="34" charset="0"/>
              </a:rPr>
              <a:t>Buffer</a:t>
            </a:r>
            <a:r>
              <a:rPr lang="zh-CN" altLang="en-US" sz="1200" dirty="0">
                <a:latin typeface="Arial" panose="020B0604020202020204" pitchFamily="34" charset="0"/>
                <a:ea typeface="微软雅黑" panose="020B0503020204020204" pitchFamily="34" charset="-122"/>
                <a:cs typeface="Arial" panose="020B0604020202020204" pitchFamily="34" charset="0"/>
              </a:rPr>
              <a:t>，存放</a:t>
            </a:r>
            <a:r>
              <a:rPr lang="en-US" altLang="zh-CN" sz="1200" dirty="0" err="1">
                <a:latin typeface="Arial" panose="020B0604020202020204" pitchFamily="34" charset="0"/>
                <a:ea typeface="微软雅黑" panose="020B0503020204020204" pitchFamily="34" charset="-122"/>
                <a:cs typeface="Arial" panose="020B0604020202020204" pitchFamily="34" charset="0"/>
              </a:rPr>
              <a:t>xLocal</a:t>
            </a:r>
            <a:r>
              <a:rPr lang="zh-CN" altLang="en-US" sz="1200" dirty="0">
                <a:latin typeface="Arial" panose="020B0604020202020204" pitchFamily="34" charset="0"/>
                <a:ea typeface="微软雅黑" panose="020B0503020204020204" pitchFamily="34" charset="-122"/>
                <a:cs typeface="Arial" panose="020B0604020202020204" pitchFamily="34" charset="0"/>
              </a:rPr>
              <a:t>和</a:t>
            </a:r>
            <a:r>
              <a:rPr lang="en-US" altLang="zh-CN" sz="1200" dirty="0" err="1">
                <a:latin typeface="Arial" panose="020B0604020202020204" pitchFamily="34" charset="0"/>
                <a:ea typeface="微软雅黑" panose="020B0503020204020204" pitchFamily="34" charset="-122"/>
                <a:cs typeface="Arial" panose="020B0604020202020204" pitchFamily="34" charset="0"/>
              </a:rPr>
              <a:t>yLocal</a:t>
            </a:r>
            <a:r>
              <a:rPr lang="zh-CN" altLang="en-US" sz="1200" dirty="0">
                <a:latin typeface="Arial" panose="020B0604020202020204" pitchFamily="34" charset="0"/>
                <a:ea typeface="微软雅黑" panose="020B0503020204020204" pitchFamily="34" charset="-122"/>
                <a:cs typeface="Arial" panose="020B0604020202020204" pitchFamily="34" charset="0"/>
              </a:rPr>
              <a:t>， 通过“</a:t>
            </a:r>
            <a:r>
              <a:rPr lang="en-US" altLang="zh-CN" sz="1200" dirty="0" err="1">
                <a:latin typeface="Arial" panose="020B0604020202020204" pitchFamily="34" charset="0"/>
                <a:ea typeface="微软雅黑" panose="020B0503020204020204" pitchFamily="34" charset="-122"/>
                <a:cs typeface="Arial" panose="020B0604020202020204" pitchFamily="34" charset="0"/>
              </a:rPr>
              <a:t>xLocal</a:t>
            </a:r>
            <a:r>
              <a:rPr lang="en-US" altLang="zh-CN" sz="1200" dirty="0">
                <a:latin typeface="Arial" panose="020B0604020202020204" pitchFamily="34" charset="0"/>
                <a:ea typeface="微软雅黑" panose="020B0503020204020204" pitchFamily="34" charset="-122"/>
                <a:cs typeface="Arial" panose="020B0604020202020204" pitchFamily="34" charset="0"/>
              </a:rPr>
              <a:t> + offset”</a:t>
            </a:r>
            <a:r>
              <a:rPr lang="zh-CN" altLang="en-US" sz="1200" dirty="0">
                <a:latin typeface="Arial" panose="020B0604020202020204" pitchFamily="34" charset="0"/>
                <a:ea typeface="微软雅黑" panose="020B0503020204020204" pitchFamily="34" charset="-122"/>
                <a:cs typeface="Arial" panose="020B0604020202020204" pitchFamily="34" charset="0"/>
              </a:rPr>
              <a:t>获得</a:t>
            </a:r>
            <a:r>
              <a:rPr lang="en-US" altLang="zh-CN" sz="1200" dirty="0" err="1">
                <a:latin typeface="Arial" panose="020B0604020202020204" pitchFamily="34" charset="0"/>
                <a:ea typeface="微软雅黑" panose="020B0503020204020204" pitchFamily="34" charset="-122"/>
                <a:cs typeface="Arial" panose="020B0604020202020204" pitchFamily="34" charset="0"/>
              </a:rPr>
              <a:t>yLocal</a:t>
            </a:r>
            <a:r>
              <a:rPr lang="zh-CN" altLang="en-US" sz="1200" dirty="0">
                <a:latin typeface="Arial" panose="020B0604020202020204" pitchFamily="34" charset="0"/>
                <a:ea typeface="微软雅黑" panose="020B0503020204020204" pitchFamily="34" charset="-122"/>
                <a:cs typeface="Arial" panose="020B0604020202020204" pitchFamily="34" charset="0"/>
              </a:rPr>
              <a:t>并使用。</a:t>
            </a:r>
          </a:p>
        </p:txBody>
      </p:sp>
      <p:pic>
        <p:nvPicPr>
          <p:cNvPr id="4" name="图片 3">
            <a:extLst>
              <a:ext uri="{FF2B5EF4-FFF2-40B4-BE49-F238E27FC236}">
                <a16:creationId xmlns:a16="http://schemas.microsoft.com/office/drawing/2014/main" id="{C43F693C-5E10-BFEF-0835-5F18678B739F}"/>
              </a:ext>
            </a:extLst>
          </p:cNvPr>
          <p:cNvPicPr>
            <a:picLocks noChangeAspect="1"/>
          </p:cNvPicPr>
          <p:nvPr/>
        </p:nvPicPr>
        <p:blipFill>
          <a:blip r:embed="rId2"/>
          <a:stretch>
            <a:fillRect/>
          </a:stretch>
        </p:blipFill>
        <p:spPr>
          <a:xfrm>
            <a:off x="3724601" y="2981007"/>
            <a:ext cx="4747561" cy="895985"/>
          </a:xfrm>
          <a:prstGeom prst="rect">
            <a:avLst/>
          </a:prstGeom>
        </p:spPr>
      </p:pic>
    </p:spTree>
    <p:extLst>
      <p:ext uri="{BB962C8B-B14F-4D97-AF65-F5344CB8AC3E}">
        <p14:creationId xmlns:p14="http://schemas.microsoft.com/office/powerpoint/2010/main" val="30081895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8E4DE-6F7C-1AFE-301F-D3B058394BA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87AD503-CC31-26EB-B02A-F77F775F8FB2}"/>
              </a:ext>
            </a:extLst>
          </p:cNvPr>
          <p:cNvSpPr txBox="1">
            <a:spLocks/>
          </p:cNvSpPr>
          <p:nvPr/>
        </p:nvSpPr>
        <p:spPr>
          <a:xfrm>
            <a:off x="4364572" y="411900"/>
            <a:ext cx="3467616" cy="584775"/>
          </a:xfrm>
          <a:prstGeom prst="rect">
            <a:avLst/>
          </a:prstGeom>
        </p:spPr>
        <p:txBody>
          <a:bodyPr wrap="none">
            <a:spAutoFit/>
          </a:bodyPr>
          <a:lst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a:lstStyle>
          <a:p>
            <a:pPr algn="ctr">
              <a:lnSpc>
                <a:spcPct val="100000"/>
              </a:lnSpc>
            </a:pPr>
            <a:r>
              <a:rPr lang="zh-CN" altLang="en-US" sz="3200" b="1" dirty="0">
                <a:solidFill>
                  <a:srgbClr val="000000"/>
                </a:solidFill>
                <a:latin typeface="微软雅黑" panose="020B0503020204020204" pitchFamily="34" charset="-122"/>
                <a:ea typeface="微软雅黑" panose="020B0503020204020204" pitchFamily="34" charset="-122"/>
              </a:rPr>
              <a:t>计算资源利用优化</a:t>
            </a:r>
          </a:p>
        </p:txBody>
      </p:sp>
      <p:sp>
        <p:nvSpPr>
          <p:cNvPr id="3" name="文本占位符 2">
            <a:extLst>
              <a:ext uri="{FF2B5EF4-FFF2-40B4-BE49-F238E27FC236}">
                <a16:creationId xmlns:a16="http://schemas.microsoft.com/office/drawing/2014/main" id="{916EC83D-44C6-63EE-E8DF-6268DBF3D99F}"/>
              </a:ext>
            </a:extLst>
          </p:cNvPr>
          <p:cNvSpPr txBox="1">
            <a:spLocks/>
          </p:cNvSpPr>
          <p:nvPr/>
        </p:nvSpPr>
        <p:spPr>
          <a:xfrm>
            <a:off x="1434089" y="2275380"/>
            <a:ext cx="6590875" cy="2906308"/>
          </a:xfrm>
          <a:prstGeom prst="rect">
            <a:avLst/>
          </a:prstGeom>
        </p:spPr>
        <p:txBody>
          <a:bodyPr wrap="square">
            <a:spAutoFit/>
          </a:bodyPr>
          <a:lst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marL="0" indent="0">
              <a:lnSpc>
                <a:spcPct val="150000"/>
              </a:lnSpc>
              <a:spcBef>
                <a:spcPts val="0"/>
              </a:spcBef>
              <a:buNone/>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大型矩阵</a:t>
            </a:r>
            <a:r>
              <a:rPr lang="en-US" altLang="zh-CN" sz="1800" b="1" dirty="0" err="1">
                <a:solidFill>
                  <a:srgbClr val="C00000"/>
                </a:solidFill>
                <a:latin typeface="Arial" panose="020B0604020202020204" pitchFamily="34" charset="0"/>
                <a:ea typeface="微软雅黑" panose="020B0503020204020204" pitchFamily="34" charset="-122"/>
                <a:cs typeface="Arial" panose="020B0604020202020204" pitchFamily="34" charset="0"/>
              </a:rPr>
              <a:t>reduce_sum</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实现</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spcAft>
                <a:spcPts val="600"/>
              </a:spcAft>
              <a:buNone/>
            </a:pPr>
            <a:r>
              <a:rPr lang="zh-CN" altLang="en-US" sz="1200" dirty="0">
                <a:latin typeface="Arial" panose="020B0604020202020204" pitchFamily="34" charset="0"/>
                <a:ea typeface="微软雅黑" panose="020B0503020204020204" pitchFamily="34" charset="-122"/>
                <a:cs typeface="Arial" panose="020B0604020202020204" pitchFamily="34" charset="0"/>
              </a:rPr>
              <a:t>主要思路是通过构造辅助矩阵利用</a:t>
            </a:r>
            <a:r>
              <a:rPr lang="en-US" altLang="zh-CN" sz="1200" dirty="0" err="1">
                <a:latin typeface="Arial" panose="020B0604020202020204" pitchFamily="34" charset="0"/>
                <a:ea typeface="微软雅黑" panose="020B0503020204020204" pitchFamily="34" charset="-122"/>
                <a:cs typeface="Arial" panose="020B0604020202020204" pitchFamily="34" charset="0"/>
              </a:rPr>
              <a:t>matmul</a:t>
            </a:r>
            <a:r>
              <a:rPr lang="zh-CN" altLang="en-US" sz="1200" dirty="0">
                <a:latin typeface="Arial" panose="020B0604020202020204" pitchFamily="34" charset="0"/>
                <a:ea typeface="微软雅黑" panose="020B0503020204020204" pitchFamily="34" charset="-122"/>
                <a:cs typeface="Arial" panose="020B0604020202020204" pitchFamily="34" charset="0"/>
              </a:rPr>
              <a:t>计算</a:t>
            </a:r>
            <a:r>
              <a:rPr lang="en-US" altLang="zh-CN" sz="1200" dirty="0" err="1">
                <a:latin typeface="Arial" panose="020B0604020202020204" pitchFamily="34" charset="0"/>
                <a:ea typeface="微软雅黑" panose="020B0503020204020204" pitchFamily="34" charset="-122"/>
                <a:cs typeface="Arial" panose="020B0604020202020204" pitchFamily="34" charset="0"/>
              </a:rPr>
              <a:t>reduce_sum</a:t>
            </a:r>
            <a:r>
              <a:rPr lang="zh-CN" altLang="en-US" sz="1200" dirty="0">
                <a:latin typeface="Arial" panose="020B0604020202020204" pitchFamily="34" charset="0"/>
                <a:ea typeface="微软雅黑" panose="020B0503020204020204" pitchFamily="34" charset="-122"/>
                <a:cs typeface="Arial" panose="020B0604020202020204" pitchFamily="34" charset="0"/>
              </a:rPr>
              <a:t>。</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矩阵计算对各</a:t>
            </a:r>
            <a:r>
              <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Buffer</a:t>
            </a:r>
            <a:r>
              <a:rPr lang="zh-CN" altLang="en-US" sz="1800" b="1" dirty="0">
                <a:solidFill>
                  <a:srgbClr val="C00000"/>
                </a:solidFill>
                <a:latin typeface="Arial" panose="020B0604020202020204" pitchFamily="34" charset="0"/>
                <a:ea typeface="微软雅黑" panose="020B0503020204020204" pitchFamily="34" charset="-122"/>
                <a:cs typeface="Arial" panose="020B0604020202020204" pitchFamily="34" charset="0"/>
              </a:rPr>
              <a:t>的充分利用</a:t>
            </a:r>
            <a:endParaRPr lang="en-US" altLang="zh-CN" sz="18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r>
              <a:rPr lang="zh-CN" altLang="en-US" sz="1200" dirty="0">
                <a:latin typeface="Arial" panose="020B0604020202020204" pitchFamily="34" charset="0"/>
                <a:ea typeface="微软雅黑" panose="020B0503020204020204" pitchFamily="34" charset="-122"/>
                <a:cs typeface="Arial" panose="020B0604020202020204" pitchFamily="34" charset="0"/>
              </a:rPr>
              <a:t>在进行矩阵计算是要想做到对各层级缓冲区充分利用，需要考虑多核复用内存，并充分利用</a:t>
            </a:r>
            <a:r>
              <a:rPr lang="en-US" altLang="zh-CN" sz="1200" dirty="0">
                <a:latin typeface="Arial" panose="020B0604020202020204" pitchFamily="34" charset="0"/>
                <a:ea typeface="微软雅黑" panose="020B0503020204020204" pitchFamily="34" charset="-122"/>
                <a:cs typeface="Arial" panose="020B0604020202020204" pitchFamily="34" charset="0"/>
              </a:rPr>
              <a:t>L2</a:t>
            </a:r>
            <a:r>
              <a:rPr lang="zh-CN" altLang="en-US" sz="1200" dirty="0">
                <a:latin typeface="Arial" panose="020B0604020202020204" pitchFamily="34" charset="0"/>
                <a:ea typeface="微软雅黑" panose="020B0503020204020204" pitchFamily="34" charset="-122"/>
                <a:cs typeface="Arial" panose="020B0604020202020204" pitchFamily="34" charset="0"/>
              </a:rPr>
              <a:t>、</a:t>
            </a:r>
            <a:r>
              <a:rPr lang="en-US" altLang="zh-CN" sz="1200" dirty="0">
                <a:latin typeface="Arial" panose="020B0604020202020204" pitchFamily="34" charset="0"/>
                <a:ea typeface="微软雅黑" panose="020B0503020204020204" pitchFamily="34" charset="-122"/>
                <a:cs typeface="Arial" panose="020B0604020202020204" pitchFamily="34" charset="0"/>
              </a:rPr>
              <a:t>L1</a:t>
            </a:r>
            <a:r>
              <a:rPr lang="zh-CN" altLang="en-US" sz="1200" dirty="0">
                <a:latin typeface="Arial" panose="020B0604020202020204" pitchFamily="34" charset="0"/>
                <a:ea typeface="微软雅黑" panose="020B0503020204020204" pitchFamily="34" charset="-122"/>
                <a:cs typeface="Arial" panose="020B0604020202020204" pitchFamily="34" charset="0"/>
              </a:rPr>
              <a:t>、</a:t>
            </a:r>
            <a:r>
              <a:rPr lang="en-US" altLang="zh-CN" sz="1200" dirty="0">
                <a:latin typeface="Arial" panose="020B0604020202020204" pitchFamily="34" charset="0"/>
                <a:ea typeface="微软雅黑" panose="020B0503020204020204" pitchFamily="34" charset="-122"/>
                <a:cs typeface="Arial" panose="020B0604020202020204" pitchFamily="34" charset="0"/>
              </a:rPr>
              <a:t>L0</a:t>
            </a:r>
            <a:r>
              <a:rPr lang="zh-CN" altLang="en-US" sz="1200" dirty="0">
                <a:latin typeface="Arial" panose="020B0604020202020204" pitchFamily="34" charset="0"/>
                <a:ea typeface="微软雅黑" panose="020B0503020204020204" pitchFamily="34" charset="-122"/>
                <a:cs typeface="Arial" panose="020B0604020202020204" pitchFamily="34" charset="0"/>
              </a:rPr>
              <a:t>的数据复用能力。</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marL="0" indent="0">
              <a:lnSpc>
                <a:spcPct val="150000"/>
              </a:lnSpc>
              <a:spcBef>
                <a:spcPts val="0"/>
              </a:spcBef>
              <a:buNone/>
            </a:pPr>
            <a:r>
              <a:rPr lang="zh-CN" altLang="en-US" sz="1200" dirty="0">
                <a:latin typeface="Arial" panose="020B0604020202020204" pitchFamily="34" charset="0"/>
                <a:ea typeface="微软雅黑" panose="020B0503020204020204" pitchFamily="34" charset="-122"/>
                <a:cs typeface="Arial" panose="020B0604020202020204" pitchFamily="34" charset="0"/>
              </a:rPr>
              <a:t>比如</a:t>
            </a:r>
            <a:r>
              <a:rPr lang="en-US" altLang="zh-CN" sz="1200" dirty="0">
                <a:latin typeface="Arial" panose="020B0604020202020204" pitchFamily="34" charset="0"/>
                <a:ea typeface="微软雅黑" panose="020B0503020204020204" pitchFamily="34" charset="-122"/>
                <a:cs typeface="Arial" panose="020B0604020202020204" pitchFamily="34" charset="0"/>
              </a:rPr>
              <a:t>L0</a:t>
            </a:r>
            <a:r>
              <a:rPr lang="zh-CN" altLang="en-US" sz="1200" dirty="0">
                <a:latin typeface="Arial" panose="020B0604020202020204" pitchFamily="34" charset="0"/>
                <a:ea typeface="微软雅黑" panose="020B0503020204020204" pitchFamily="34" charset="-122"/>
                <a:cs typeface="Arial" panose="020B0604020202020204" pitchFamily="34" charset="0"/>
              </a:rPr>
              <a:t>全载计算，即当一个矩阵小到足以放到</a:t>
            </a:r>
            <a:r>
              <a:rPr lang="en-US" altLang="zh-CN" sz="1200" dirty="0">
                <a:latin typeface="Arial" panose="020B0604020202020204" pitchFamily="34" charset="0"/>
                <a:ea typeface="微软雅黑" panose="020B0503020204020204" pitchFamily="34" charset="-122"/>
                <a:cs typeface="Arial" panose="020B0604020202020204" pitchFamily="34" charset="0"/>
              </a:rPr>
              <a:t>L0A/B</a:t>
            </a:r>
            <a:r>
              <a:rPr lang="zh-CN" altLang="en-US" sz="1200" dirty="0">
                <a:latin typeface="Arial" panose="020B0604020202020204" pitchFamily="34" charset="0"/>
                <a:ea typeface="微软雅黑" panose="020B0503020204020204" pitchFamily="34" charset="-122"/>
                <a:cs typeface="Arial" panose="020B0604020202020204" pitchFamily="34" charset="0"/>
              </a:rPr>
              <a:t>的</a:t>
            </a:r>
            <a:r>
              <a:rPr lang="en-US" altLang="zh-CN" sz="1200" dirty="0">
                <a:latin typeface="Arial" panose="020B0604020202020204" pitchFamily="34" charset="0"/>
                <a:ea typeface="微软雅黑" panose="020B0503020204020204" pitchFamily="34" charset="-122"/>
                <a:cs typeface="Arial" panose="020B0604020202020204" pitchFamily="34" charset="0"/>
              </a:rPr>
              <a:t>64KB</a:t>
            </a:r>
            <a:r>
              <a:rPr lang="zh-CN" altLang="en-US" sz="1200" dirty="0">
                <a:latin typeface="Arial" panose="020B0604020202020204" pitchFamily="34" charset="0"/>
                <a:ea typeface="微软雅黑" panose="020B0503020204020204" pitchFamily="34" charset="-122"/>
                <a:cs typeface="Arial" panose="020B0604020202020204" pitchFamily="34" charset="0"/>
              </a:rPr>
              <a:t>空间时，则直接进行全量载入，这时另外一个矩阵整体只需要进入</a:t>
            </a:r>
            <a:r>
              <a:rPr lang="en-US" altLang="zh-CN" sz="1200" dirty="0">
                <a:latin typeface="Arial" panose="020B0604020202020204" pitchFamily="34" charset="0"/>
                <a:ea typeface="微软雅黑" panose="020B0503020204020204" pitchFamily="34" charset="-122"/>
                <a:cs typeface="Arial" panose="020B0604020202020204" pitchFamily="34" charset="0"/>
              </a:rPr>
              <a:t>L0</a:t>
            </a:r>
            <a:r>
              <a:rPr lang="zh-CN" altLang="en-US" sz="1200" dirty="0">
                <a:latin typeface="Arial" panose="020B0604020202020204" pitchFamily="34" charset="0"/>
                <a:ea typeface="微软雅黑" panose="020B0503020204020204" pitchFamily="34" charset="-122"/>
                <a:cs typeface="Arial" panose="020B0604020202020204" pitchFamily="34" charset="0"/>
              </a:rPr>
              <a:t>一次就完成全部计算。如果可以</a:t>
            </a:r>
            <a:r>
              <a:rPr lang="en-US" altLang="zh-CN" sz="1200" dirty="0">
                <a:latin typeface="Arial" panose="020B0604020202020204" pitchFamily="34" charset="0"/>
                <a:ea typeface="微软雅黑" panose="020B0503020204020204" pitchFamily="34" charset="-122"/>
                <a:cs typeface="Arial" panose="020B0604020202020204" pitchFamily="34" charset="0"/>
              </a:rPr>
              <a:t>L1</a:t>
            </a:r>
            <a:r>
              <a:rPr lang="zh-CN" altLang="en-US" sz="1200" dirty="0">
                <a:latin typeface="Arial" panose="020B0604020202020204" pitchFamily="34" charset="0"/>
                <a:ea typeface="微软雅黑" panose="020B0503020204020204" pitchFamily="34" charset="-122"/>
                <a:cs typeface="Arial" panose="020B0604020202020204" pitchFamily="34" charset="0"/>
              </a:rPr>
              <a:t>全载计算，当一个矩阵小到足以放到</a:t>
            </a:r>
            <a:r>
              <a:rPr lang="en-US" altLang="zh-CN" sz="1200" dirty="0">
                <a:latin typeface="Arial" panose="020B0604020202020204" pitchFamily="34" charset="0"/>
                <a:ea typeface="微软雅黑" panose="020B0503020204020204" pitchFamily="34" charset="-122"/>
                <a:cs typeface="Arial" panose="020B0604020202020204" pitchFamily="34" charset="0"/>
              </a:rPr>
              <a:t>L1</a:t>
            </a:r>
            <a:r>
              <a:rPr lang="zh-CN" altLang="en-US" sz="1200" dirty="0">
                <a:latin typeface="Arial" panose="020B0604020202020204" pitchFamily="34" charset="0"/>
                <a:ea typeface="微软雅黑" panose="020B0503020204020204" pitchFamily="34" charset="-122"/>
                <a:cs typeface="Arial" panose="020B0604020202020204" pitchFamily="34" charset="0"/>
              </a:rPr>
              <a:t>的</a:t>
            </a:r>
            <a:r>
              <a:rPr lang="en-US" altLang="zh-CN" sz="1200" dirty="0">
                <a:latin typeface="Arial" panose="020B0604020202020204" pitchFamily="34" charset="0"/>
                <a:ea typeface="微软雅黑" panose="020B0503020204020204" pitchFamily="34" charset="-122"/>
                <a:cs typeface="Arial" panose="020B0604020202020204" pitchFamily="34" charset="0"/>
              </a:rPr>
              <a:t>504KB</a:t>
            </a:r>
            <a:r>
              <a:rPr lang="zh-CN" altLang="en-US" sz="1200" dirty="0">
                <a:latin typeface="Arial" panose="020B0604020202020204" pitchFamily="34" charset="0"/>
                <a:ea typeface="微软雅黑" panose="020B0503020204020204" pitchFamily="34" charset="-122"/>
                <a:cs typeface="Arial" panose="020B0604020202020204" pitchFamily="34" charset="0"/>
              </a:rPr>
              <a:t>空间时， 则可以直接全载</a:t>
            </a:r>
            <a:r>
              <a:rPr lang="en-US" altLang="zh-CN" sz="1200" dirty="0">
                <a:latin typeface="Arial" panose="020B0604020202020204" pitchFamily="34" charset="0"/>
                <a:ea typeface="微软雅黑" panose="020B0503020204020204" pitchFamily="34" charset="-122"/>
                <a:cs typeface="Arial" panose="020B0604020202020204" pitchFamily="34" charset="0"/>
              </a:rPr>
              <a:t>L1</a:t>
            </a:r>
            <a:r>
              <a:rPr lang="zh-CN" altLang="en-US" sz="1200" dirty="0">
                <a:latin typeface="Arial" panose="020B0604020202020204" pitchFamily="34" charset="0"/>
                <a:ea typeface="微软雅黑" panose="020B0503020204020204" pitchFamily="34" charset="-122"/>
                <a:cs typeface="Arial" panose="020B0604020202020204" pitchFamily="34" charset="0"/>
              </a:rPr>
              <a:t>，这样另外一个矩阵（高性能格式场景）只需要进入一次</a:t>
            </a:r>
            <a:r>
              <a:rPr lang="en-US" altLang="zh-CN" sz="1200" dirty="0">
                <a:latin typeface="Arial" panose="020B0604020202020204" pitchFamily="34" charset="0"/>
                <a:ea typeface="微软雅黑" panose="020B0503020204020204" pitchFamily="34" charset="-122"/>
                <a:cs typeface="Arial" panose="020B0604020202020204" pitchFamily="34" charset="0"/>
              </a:rPr>
              <a:t>L0</a:t>
            </a:r>
            <a:r>
              <a:rPr lang="zh-CN" altLang="en-US" sz="1200" dirty="0">
                <a:latin typeface="Arial" panose="020B0604020202020204" pitchFamily="34" charset="0"/>
                <a:ea typeface="微软雅黑" panose="020B0503020204020204" pitchFamily="34" charset="-122"/>
                <a:cs typeface="Arial" panose="020B0604020202020204" pitchFamily="34" charset="0"/>
              </a:rPr>
              <a:t>则完成计算。</a:t>
            </a:r>
          </a:p>
        </p:txBody>
      </p:sp>
      <p:pic>
        <p:nvPicPr>
          <p:cNvPr id="4" name="图片 3">
            <a:extLst>
              <a:ext uri="{FF2B5EF4-FFF2-40B4-BE49-F238E27FC236}">
                <a16:creationId xmlns:a16="http://schemas.microsoft.com/office/drawing/2014/main" id="{DCE97264-B8BE-B040-EE4B-3E9BEC7C06CD}"/>
              </a:ext>
            </a:extLst>
          </p:cNvPr>
          <p:cNvPicPr>
            <a:picLocks noChangeAspect="1"/>
          </p:cNvPicPr>
          <p:nvPr/>
        </p:nvPicPr>
        <p:blipFill>
          <a:blip r:embed="rId2"/>
          <a:stretch>
            <a:fillRect/>
          </a:stretch>
        </p:blipFill>
        <p:spPr>
          <a:xfrm>
            <a:off x="8136256" y="2461708"/>
            <a:ext cx="2626418" cy="2533652"/>
          </a:xfrm>
          <a:prstGeom prst="rect">
            <a:avLst/>
          </a:prstGeom>
        </p:spPr>
      </p:pic>
    </p:spTree>
    <p:extLst>
      <p:ext uri="{BB962C8B-B14F-4D97-AF65-F5344CB8AC3E}">
        <p14:creationId xmlns:p14="http://schemas.microsoft.com/office/powerpoint/2010/main" val="16624352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2022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封面页_图片版 ">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3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58AC06C-4CE3-4A3F-B594-9738C68624A0}" vid="{77E3B732-DDF7-4011-B681-28F511DF8898}"/>
    </a:ext>
  </a:extLst>
</a:theme>
</file>

<file path=ppt/theme/theme2.xml><?xml version="1.0" encoding="utf-8"?>
<a:theme xmlns:a="http://schemas.openxmlformats.org/drawingml/2006/main" name="目录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2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58AC06C-4CE3-4A3F-B594-9738C68624A0}" vid="{002891D3-441F-4843-9EAC-D44E0F2301F5}"/>
    </a:ext>
  </a:extLst>
</a:theme>
</file>

<file path=ppt/theme/theme3.xml><?xml version="1.0" encoding="utf-8"?>
<a:theme xmlns:a="http://schemas.openxmlformats.org/drawingml/2006/main" name="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58AC06C-4CE3-4A3F-B594-9738C68624A0}" vid="{9E3EAF68-ABE1-42CC-9EED-BC9EE9E8453C}"/>
    </a:ext>
  </a:extLst>
</a:theme>
</file>

<file path=ppt/theme/theme4.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结束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3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58AC06C-4CE3-4A3F-B594-9738C68624A0}" vid="{AFFA82CF-250F-4604-B0DF-1F7FF8D51155}"/>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PPT模板</Template>
  <TotalTime>1513</TotalTime>
  <Words>2998</Words>
  <Application>Microsoft Office PowerPoint</Application>
  <PresentationFormat>自定义</PresentationFormat>
  <Paragraphs>167</Paragraphs>
  <Slides>33</Slides>
  <Notes>2</Notes>
  <HiddenSlides>0</HiddenSlides>
  <MMClips>0</MMClips>
  <ScaleCrop>false</ScaleCrop>
  <HeadingPairs>
    <vt:vector size="6" baseType="variant">
      <vt:variant>
        <vt:lpstr>已用的字体</vt:lpstr>
      </vt:variant>
      <vt:variant>
        <vt:i4>5</vt:i4>
      </vt:variant>
      <vt:variant>
        <vt:lpstr>主题</vt:lpstr>
      </vt:variant>
      <vt:variant>
        <vt:i4>5</vt:i4>
      </vt:variant>
      <vt:variant>
        <vt:lpstr>幻灯片标题</vt:lpstr>
      </vt:variant>
      <vt:variant>
        <vt:i4>33</vt:i4>
      </vt:variant>
    </vt:vector>
  </HeadingPairs>
  <TitlesOfParts>
    <vt:vector size="43" baseType="lpstr">
      <vt:lpstr>.AppleSystemUIFont</vt:lpstr>
      <vt:lpstr>微软雅黑</vt:lpstr>
      <vt:lpstr>微软雅黑</vt:lpstr>
      <vt:lpstr>Arial</vt:lpstr>
      <vt:lpstr>Calibri</vt:lpstr>
      <vt:lpstr>封面页_图片版 </vt:lpstr>
      <vt:lpstr>目录页</vt:lpstr>
      <vt:lpstr>章节页</vt:lpstr>
      <vt:lpstr>1_自定义设计方案</vt:lpstr>
      <vt:lpstr>结束页</vt:lpstr>
      <vt:lpstr>第5章 Ascend C算子调试调优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yusi (A)</dc:creator>
  <cp:lastModifiedBy>a92190</cp:lastModifiedBy>
  <cp:revision>111</cp:revision>
  <dcterms:created xsi:type="dcterms:W3CDTF">2022-02-10T15:02:30Z</dcterms:created>
  <dcterms:modified xsi:type="dcterms:W3CDTF">2024-12-03T09:17:13Z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(3)C96Z1hAKosym6EbdFlMCzRXUHiiwYE22PTU1N8/Nz2n/qDo6LJV7WzI53aocoscGy5cfQZpr
EMvDwD4llbAKwgozTlti4TwFVN2DturZbkcHevYO7h/StlxEiPmHEJ/4XH1O6vVS07brnKZD
WMeEhWuDu9x4s8CxTI9+bXJPVn9sarFCjeBytrONxqof7kh4d1rCLD9esbc6gh2kL9x4RRTj
b/cP7mJscMHv0GK31U</vt:lpwstr>
  </property>
  <property fmtid="{D5CDD505-2E9C-101B-9397-08002B2CF9AE}" pid="3" name="_2015_ms_pID_7253431">
    <vt:lpwstr>+G7EV3gMKk658DH/eee45Z3t+vtmf8yh0lsvSKv6yLCRbWNMnpX0U1
xzYAty90ETFfGfibDhssu0Mva4SxzXSoKPgcTG5SZxqTOweKBnPBV6d6kCN4pINXKT7ZUsPD
qU0gn8I9MQS1tysBDuxN1sc9883rAdqB86/EN1Okg0Kl9588Lz22Blx16F17zwlzeUmT4/7k
I1MM5cTLYYSisKizyYuH7Yb1BtTNmM+xcfle</vt:lpwstr>
  </property>
  <property fmtid="{D5CDD505-2E9C-101B-9397-08002B2CF9AE}" pid="4" name="_2015_ms_pID_7253432">
    <vt:lpwstr>2UHHCpPJjfFv3TbGNdgTG/Q=</vt:lpwstr>
  </property>
</Properties>
</file>