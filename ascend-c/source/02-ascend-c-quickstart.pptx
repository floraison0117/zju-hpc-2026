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897" r:id="rId4"/>
    <p:sldMasterId id="2147483683" r:id="rId5"/>
  </p:sldMasterIdLst>
  <p:notesMasterIdLst>
    <p:notesMasterId r:id="rId39"/>
  </p:notesMasterIdLst>
  <p:handoutMasterIdLst>
    <p:handoutMasterId r:id="rId40"/>
  </p:handoutMasterIdLst>
  <p:sldIdLst>
    <p:sldId id="307" r:id="rId6"/>
    <p:sldId id="306" r:id="rId7"/>
    <p:sldId id="308" r:id="rId8"/>
    <p:sldId id="309" r:id="rId9"/>
    <p:sldId id="350" r:id="rId10"/>
    <p:sldId id="351" r:id="rId11"/>
    <p:sldId id="352" r:id="rId12"/>
    <p:sldId id="354" r:id="rId13"/>
    <p:sldId id="355" r:id="rId14"/>
    <p:sldId id="356" r:id="rId15"/>
    <p:sldId id="353" r:id="rId16"/>
    <p:sldId id="347" r:id="rId17"/>
    <p:sldId id="357" r:id="rId18"/>
    <p:sldId id="364" r:id="rId19"/>
    <p:sldId id="365" r:id="rId20"/>
    <p:sldId id="366" r:id="rId21"/>
    <p:sldId id="367" r:id="rId22"/>
    <p:sldId id="368" r:id="rId23"/>
    <p:sldId id="348" r:id="rId24"/>
    <p:sldId id="369" r:id="rId25"/>
    <p:sldId id="370" r:id="rId26"/>
    <p:sldId id="358" r:id="rId27"/>
    <p:sldId id="359" r:id="rId28"/>
    <p:sldId id="360" r:id="rId29"/>
    <p:sldId id="361" r:id="rId30"/>
    <p:sldId id="362" r:id="rId31"/>
    <p:sldId id="363" r:id="rId32"/>
    <p:sldId id="371" r:id="rId33"/>
    <p:sldId id="374" r:id="rId34"/>
    <p:sldId id="373" r:id="rId35"/>
    <p:sldId id="349" r:id="rId36"/>
    <p:sldId id="372" r:id="rId37"/>
    <p:sldId id="280" r:id="rId38"/>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891101-A41F-4D80-9CE6-1144444C4B1C}">
          <p14:sldIdLst>
            <p14:sldId id="307"/>
            <p14:sldId id="306"/>
          </p14:sldIdLst>
        </p14:section>
        <p14:section name="并行计算的基本原理" id="{BCAFB1BB-7043-416C-B4EA-8A2627309248}">
          <p14:sldIdLst>
            <p14:sldId id="308"/>
            <p14:sldId id="309"/>
            <p14:sldId id="350"/>
            <p14:sldId id="351"/>
            <p14:sldId id="352"/>
            <p14:sldId id="354"/>
            <p14:sldId id="355"/>
            <p14:sldId id="356"/>
            <p14:sldId id="353"/>
          </p14:sldIdLst>
        </p14:section>
        <p14:section name="Ascend C开发环境准备" id="{48FDD4B3-4659-4D2C-9F97-D5FC939013CF}">
          <p14:sldIdLst>
            <p14:sldId id="347"/>
            <p14:sldId id="357"/>
            <p14:sldId id="364"/>
            <p14:sldId id="365"/>
            <p14:sldId id="366"/>
            <p14:sldId id="367"/>
            <p14:sldId id="368"/>
          </p14:sldIdLst>
        </p14:section>
        <p14:section name="Ascend C算子的开发调用" id="{2327B277-D806-4315-8F0E-2BDDB73EE31F}">
          <p14:sldIdLst>
            <p14:sldId id="348"/>
            <p14:sldId id="369"/>
            <p14:sldId id="370"/>
            <p14:sldId id="358"/>
            <p14:sldId id="359"/>
            <p14:sldId id="360"/>
            <p14:sldId id="361"/>
            <p14:sldId id="362"/>
            <p14:sldId id="363"/>
            <p14:sldId id="371"/>
            <p14:sldId id="374"/>
            <p14:sldId id="373"/>
          </p14:sldIdLst>
        </p14:section>
        <p14:section name="加速比" id="{5A1E9985-D80F-489E-9335-6AEDA74EF58E}">
          <p14:sldIdLst>
            <p14:sldId id="349"/>
            <p14:sldId id="372"/>
            <p14:sldId id="280"/>
          </p14:sldIdLst>
        </p14:section>
      </p14:sectionLst>
    </p:ext>
    <p:ext uri="{EFAFB233-063F-42B5-8137-9DF3F51BA10A}">
      <p15:sldGuideLst xmlns:p15="http://schemas.microsoft.com/office/powerpoint/2012/main">
        <p15:guide id="1" orient="horz" pos="572" userDrawn="1">
          <p15:clr>
            <a:srgbClr val="A4A3A4"/>
          </p15:clr>
        </p15:guide>
        <p15:guide id="2" pos="372" userDrawn="1">
          <p15:clr>
            <a:srgbClr val="A4A3A4"/>
          </p15:clr>
        </p15:guide>
        <p15:guide id="3" orient="horz" pos="709" userDrawn="1">
          <p15:clr>
            <a:srgbClr val="A4A3A4"/>
          </p15:clr>
        </p15:guide>
        <p15:guide id="4" orient="horz" pos="3974" userDrawn="1">
          <p15:clr>
            <a:srgbClr val="A4A3A4"/>
          </p15:clr>
        </p15:guide>
        <p15:guide id="5" pos="73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E9002F"/>
    <a:srgbClr val="595757"/>
    <a:srgbClr val="221815"/>
    <a:srgbClr val="888888"/>
    <a:srgbClr val="898989"/>
    <a:srgbClr val="B5B5B5"/>
    <a:srgbClr val="DDDDDD"/>
    <a:srgbClr val="D0E8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23" autoAdjust="0"/>
    <p:restoredTop sz="96291"/>
  </p:normalViewPr>
  <p:slideViewPr>
    <p:cSldViewPr snapToGrid="0" snapToObjects="1">
      <p:cViewPr varScale="1">
        <p:scale>
          <a:sx n="111" d="100"/>
          <a:sy n="111" d="100"/>
        </p:scale>
        <p:origin x="1140" y="114"/>
      </p:cViewPr>
      <p:guideLst>
        <p:guide orient="horz" pos="572"/>
        <p:guide pos="372"/>
        <p:guide orient="horz" pos="709"/>
        <p:guide orient="horz" pos="3974"/>
        <p:guide pos="7311"/>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89" d="100"/>
          <a:sy n="89" d="100"/>
        </p:scale>
        <p:origin x="312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12/4/2024</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1</a:t>
            </a:fld>
            <a:endParaRPr lang="en-US"/>
          </a:p>
        </p:txBody>
      </p:sp>
    </p:spTree>
    <p:extLst>
      <p:ext uri="{BB962C8B-B14F-4D97-AF65-F5344CB8AC3E}">
        <p14:creationId xmlns:p14="http://schemas.microsoft.com/office/powerpoint/2010/main" val="3954106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33</a:t>
            </a:fld>
            <a:endParaRPr lang="en-US"/>
          </a:p>
        </p:txBody>
      </p:sp>
    </p:spTree>
    <p:extLst>
      <p:ext uri="{BB962C8B-B14F-4D97-AF65-F5344CB8AC3E}">
        <p14:creationId xmlns:p14="http://schemas.microsoft.com/office/powerpoint/2010/main" val="13118456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BB5F381-98AB-4934-A504-21ACFACA4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92000"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6077" y="562718"/>
            <a:ext cx="1069222"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6077" y="562718"/>
            <a:ext cx="1067473" cy="1026710"/>
          </a:xfrm>
          <a:prstGeom prst="rect">
            <a:avLst/>
          </a:prstGeom>
          <a:noFill/>
          <a:ln>
            <a:noFill/>
          </a:ln>
        </p:spPr>
      </p:pic>
      <p:sp>
        <p:nvSpPr>
          <p:cNvPr id="5"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666077" y="2738745"/>
            <a:ext cx="6559809" cy="690255"/>
          </a:xfrm>
          <a:prstGeom prst="rect">
            <a:avLst/>
          </a:prstGeom>
          <a:ln>
            <a:noFill/>
            <a:prstDash val="dash"/>
          </a:ln>
        </p:spPr>
        <p:txBody>
          <a:bodyPr lIns="0" tIns="0" rIns="0" bIns="0" anchor="t">
            <a:normAutofit/>
          </a:bodyPr>
          <a:lstStyle>
            <a:lvl1pPr algn="l">
              <a:lnSpc>
                <a:spcPct val="100000"/>
              </a:lnSpc>
              <a:defRPr sz="48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Tree>
    <p:extLst>
      <p:ext uri="{BB962C8B-B14F-4D97-AF65-F5344CB8AC3E}">
        <p14:creationId xmlns:p14="http://schemas.microsoft.com/office/powerpoint/2010/main" val="1757562615"/>
      </p:ext>
    </p:extLst>
  </p:cSld>
  <p:clrMapOvr>
    <a:masterClrMapping/>
  </p:clrMapOvr>
  <p:extLst>
    <p:ext uri="{DCECCB84-F9BA-43D5-87BE-67443E8EF086}">
      <p15:sldGuideLst xmlns:p15="http://schemas.microsoft.com/office/powerpoint/2012/main">
        <p15:guide id="1" orient="horz" pos="341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8F253EC-E992-90CA-66A0-0C07F09DFCCE}"/>
              </a:ext>
            </a:extLst>
          </p:cNvPr>
          <p:cNvSpPr/>
          <p:nvPr userDrawn="1"/>
        </p:nvSpPr>
        <p:spPr>
          <a:xfrm>
            <a:off x="0" y="0"/>
            <a:ext cx="1219676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C8514F1A-C559-F4B2-5B39-6C21732C8287}"/>
              </a:ext>
            </a:extLst>
          </p:cNvPr>
          <p:cNvSpPr txBox="1"/>
          <p:nvPr userDrawn="1"/>
        </p:nvSpPr>
        <p:spPr>
          <a:xfrm>
            <a:off x="3048000" y="6407378"/>
            <a:ext cx="6100762" cy="230832"/>
          </a:xfrm>
          <a:prstGeom prst="rect">
            <a:avLst/>
          </a:prstGeom>
          <a:noFill/>
        </p:spPr>
        <p:txBody>
          <a:bodyPr wrap="square">
            <a:spAutoFit/>
          </a:bodyPr>
          <a:lstStyle/>
          <a:p>
            <a:pPr algn="ctr" defTabSz="822960">
              <a:defRPr sz="800">
                <a:latin typeface="Verdana"/>
                <a:ea typeface="Verdana"/>
                <a:cs typeface="Verdana"/>
                <a:sym typeface="Verdana"/>
              </a:defRPr>
            </a:pPr>
            <a:r>
              <a:rPr lang="zh-CN" altLang="en-US" sz="900" dirty="0">
                <a:latin typeface="Arial" panose="020B0604020202020204" pitchFamily="34" charset="0"/>
                <a:ea typeface="微软雅黑" panose="020B0503020204020204" pitchFamily="34" charset="-122"/>
                <a:cs typeface="Arial" panose="020B0604020202020204" pitchFamily="34" charset="0"/>
              </a:rPr>
              <a:t>哈尔滨工业大学软件学院 </a:t>
            </a:r>
            <a:r>
              <a:rPr lang="en-US" altLang="zh-CN" sz="900" dirty="0">
                <a:latin typeface="Arial" panose="020B0604020202020204" pitchFamily="34" charset="0"/>
                <a:ea typeface="微软雅黑" panose="020B0503020204020204" pitchFamily="34" charset="-122"/>
                <a:cs typeface="Arial" panose="020B0604020202020204" pitchFamily="34" charset="0"/>
              </a:rPr>
              <a:t>®</a:t>
            </a:r>
          </a:p>
        </p:txBody>
      </p:sp>
      <p:sp>
        <p:nvSpPr>
          <p:cNvPr id="2" name="矩形 1">
            <a:extLst>
              <a:ext uri="{FF2B5EF4-FFF2-40B4-BE49-F238E27FC236}">
                <a16:creationId xmlns:a16="http://schemas.microsoft.com/office/drawing/2014/main" id="{43F3CBD6-EDB9-1B8D-A051-A76DB7C6A6B7}"/>
              </a:ext>
            </a:extLst>
          </p:cNvPr>
          <p:cNvSpPr/>
          <p:nvPr userDrawn="1"/>
        </p:nvSpPr>
        <p:spPr>
          <a:xfrm>
            <a:off x="0" y="0"/>
            <a:ext cx="2590800" cy="453957"/>
          </a:xfrm>
          <a:prstGeom prst="rect">
            <a:avLst/>
          </a:prstGeom>
          <a:gradFill>
            <a:gsLst>
              <a:gs pos="0">
                <a:schemeClr val="bg1">
                  <a:lumMod val="20000"/>
                  <a:lumOff val="80000"/>
                </a:schemeClr>
              </a:gs>
              <a:gs pos="100000">
                <a:schemeClr val="bg1">
                  <a:lumMod val="20000"/>
                  <a:lumOff val="80000"/>
                  <a:alpha val="0"/>
                </a:schemeClr>
              </a:gs>
            </a:gsLst>
            <a:lin ang="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5" name="矩形 4">
            <a:extLst>
              <a:ext uri="{FF2B5EF4-FFF2-40B4-BE49-F238E27FC236}">
                <a16:creationId xmlns:a16="http://schemas.microsoft.com/office/drawing/2014/main" id="{F4D89F75-E7E2-0ECC-B8CB-3A67226DBA6C}"/>
              </a:ext>
            </a:extLst>
          </p:cNvPr>
          <p:cNvSpPr/>
          <p:nvPr userDrawn="1"/>
        </p:nvSpPr>
        <p:spPr>
          <a:xfrm flipH="1">
            <a:off x="9605963" y="0"/>
            <a:ext cx="2590800" cy="453957"/>
          </a:xfrm>
          <a:prstGeom prst="rect">
            <a:avLst/>
          </a:prstGeom>
          <a:gradFill>
            <a:gsLst>
              <a:gs pos="0">
                <a:schemeClr val="bg1">
                  <a:lumMod val="20000"/>
                  <a:lumOff val="80000"/>
                </a:schemeClr>
              </a:gs>
              <a:gs pos="100000">
                <a:schemeClr val="bg1">
                  <a:lumMod val="20000"/>
                  <a:lumOff val="80000"/>
                  <a:alpha val="0"/>
                </a:schemeClr>
              </a:gs>
            </a:gsLst>
            <a:lin ang="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TextBox 1">
            <a:extLst>
              <a:ext uri="{FF2B5EF4-FFF2-40B4-BE49-F238E27FC236}">
                <a16:creationId xmlns:a16="http://schemas.microsoft.com/office/drawing/2014/main" id="{DC9185F3-5FA6-8561-8A1F-EBA859609B6C}"/>
              </a:ext>
            </a:extLst>
          </p:cNvPr>
          <p:cNvSpPr txBox="1"/>
          <p:nvPr userDrawn="1"/>
        </p:nvSpPr>
        <p:spPr>
          <a:xfrm>
            <a:off x="150514" y="61942"/>
            <a:ext cx="1578491" cy="330072"/>
          </a:xfrm>
          <a:prstGeom prst="rect">
            <a:avLst/>
          </a:prstGeom>
          <a:noFill/>
        </p:spPr>
        <p:txBody>
          <a:bodyPr wrap="none" lIns="72000" tIns="72000" rIns="72000" bIns="72000" rtlCol="0">
            <a:spAutoFit/>
          </a:bodyPr>
          <a:lstStyle/>
          <a:p>
            <a:pPr defTabSz="914400"/>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rPr>
              <a:t>2 Ascend C</a:t>
            </a:r>
            <a:r>
              <a:rPr lang="zh-CN" altLang="en-US" sz="1200" dirty="0">
                <a:solidFill>
                  <a:prstClr val="black"/>
                </a:solidFill>
                <a:latin typeface="Arial" panose="020B0604020202020204" pitchFamily="34" charset="0"/>
                <a:ea typeface="微软雅黑" panose="020B0503020204020204" pitchFamily="34" charset="-122"/>
                <a:cs typeface="Arial" panose="020B0604020202020204" pitchFamily="34" charset="0"/>
              </a:rPr>
              <a:t>快速入门</a:t>
            </a:r>
          </a:p>
        </p:txBody>
      </p:sp>
      <p:sp>
        <p:nvSpPr>
          <p:cNvPr id="7" name="TextBox 1">
            <a:extLst>
              <a:ext uri="{FF2B5EF4-FFF2-40B4-BE49-F238E27FC236}">
                <a16:creationId xmlns:a16="http://schemas.microsoft.com/office/drawing/2014/main" id="{120A125F-1FB9-6068-F37E-25A0FB03953F}"/>
              </a:ext>
            </a:extLst>
          </p:cNvPr>
          <p:cNvSpPr txBox="1"/>
          <p:nvPr userDrawn="1"/>
        </p:nvSpPr>
        <p:spPr>
          <a:xfrm>
            <a:off x="9982094" y="61942"/>
            <a:ext cx="2059392" cy="330072"/>
          </a:xfrm>
          <a:prstGeom prst="rect">
            <a:avLst/>
          </a:prstGeom>
          <a:noFill/>
        </p:spPr>
        <p:txBody>
          <a:bodyPr wrap="none" lIns="72000" tIns="72000" rIns="72000" bIns="72000" rtlCol="0">
            <a:spAutoFit/>
          </a:bodyPr>
          <a:lstStyle/>
          <a:p>
            <a:pPr defTabSz="914400"/>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200" dirty="0">
                <a:solidFill>
                  <a:prstClr val="black"/>
                </a:solidFill>
                <a:latin typeface="Arial" panose="020B0604020202020204" pitchFamily="34" charset="0"/>
                <a:ea typeface="微软雅黑" panose="020B0503020204020204" pitchFamily="34" charset="-122"/>
                <a:cs typeface="Arial" panose="020B0604020202020204" pitchFamily="34" charset="0"/>
              </a:rPr>
              <a:t>异构并行程序设计</a:t>
            </a:r>
          </a:p>
        </p:txBody>
      </p:sp>
    </p:spTree>
    <p:extLst>
      <p:ext uri="{BB962C8B-B14F-4D97-AF65-F5344CB8AC3E}">
        <p14:creationId xmlns:p14="http://schemas.microsoft.com/office/powerpoint/2010/main" val="16842298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2185791374"/>
      </p:ext>
    </p:extLst>
  </p:cSld>
  <p:clrMapOvr>
    <a:masterClrMapping/>
  </p:clrMapOvr>
  <p:extLst>
    <p:ext uri="{DCECCB84-F9BA-43D5-87BE-67443E8EF086}">
      <p15:sldGuideLst xmlns:p15="http://schemas.microsoft.com/office/powerpoint/2012/main">
        <p15:guide id="2" pos="384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97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A04B147-2E7E-4917-8235-4561D75BDAB2}"/>
              </a:ext>
            </a:extLst>
          </p:cNvPr>
          <p:cNvSpPr/>
          <p:nvPr userDrawn="1"/>
        </p:nvSpPr>
        <p:spPr>
          <a:xfrm>
            <a:off x="0" y="1415045"/>
            <a:ext cx="12196763" cy="544295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noFill/>
              </a:ln>
            </a:endParaRPr>
          </a:p>
        </p:txBody>
      </p:sp>
    </p:spTree>
    <p:extLst>
      <p:ext uri="{BB962C8B-B14F-4D97-AF65-F5344CB8AC3E}">
        <p14:creationId xmlns:p14="http://schemas.microsoft.com/office/powerpoint/2010/main" val="1396469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4.tiff"/></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5.xml"/><Relationship Id="rId1" Type="http://schemas.openxmlformats.org/officeDocument/2006/relationships/slideLayout" Target="../slideLayouts/slideLayout6.xml"/><Relationship Id="rId4" Type="http://schemas.openxmlformats.org/officeDocument/2006/relationships/image" Target="../media/image7.tif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93" r:id="rId1"/>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sldLayoutIdLst>
    <p:sldLayoutId id="2147483887"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30832"/>
          </a:xfrm>
          <a:prstGeom prst="rect">
            <a:avLst/>
          </a:prstGeom>
          <a:noFill/>
        </p:spPr>
        <p:txBody>
          <a:bodyPr wrap="square" rtlCol="0">
            <a:spAutoFit/>
          </a:bodyPr>
          <a:lstStyle/>
          <a:p>
            <a:r>
              <a:rPr lang="en-US" sz="900" b="0" baseline="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sldLayoutIdLst>
    <p:sldLayoutId id="2147483891" r:id="rId1"/>
    <p:sldLayoutId id="2147483895" r:id="rId2"/>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25" userDrawn="1">
          <p15:clr>
            <a:srgbClr val="F26B43"/>
          </p15:clr>
        </p15:guide>
        <p15:guide id="5" orient="horz" pos="410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650023"/>
      </p:ext>
    </p:extLst>
  </p:cSld>
  <p:clrMap bg1="lt1" tx1="dk1" bg2="lt2" tx2="dk2" accent1="accent1" accent2="accent2" accent3="accent3" accent4="accent4" accent5="accent5" accent6="accent6" hlink="hlink" folHlink="folHlink"/>
  <p:sldLayoutIdLst>
    <p:sldLayoutId id="21474838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5" y="0"/>
            <a:ext cx="12195413" cy="6858000"/>
          </a:xfrm>
          <a:prstGeom prst="rect">
            <a:avLst/>
          </a:prstGeom>
        </p:spPr>
      </p:pic>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hiascend.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661930" y="3100912"/>
            <a:ext cx="1468795"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930" y="2191924"/>
            <a:ext cx="8206025" cy="690255"/>
          </a:xfrm>
        </p:spPr>
        <p:txBody>
          <a:bodyPr>
            <a:normAutofit/>
          </a:bodyPr>
          <a:lstStyle/>
          <a:p>
            <a:r>
              <a:rPr lang="zh-CN" altLang="en-US" sz="4400" b="1" dirty="0">
                <a:latin typeface="+mn-lt"/>
              </a:rPr>
              <a:t>第</a:t>
            </a:r>
            <a:r>
              <a:rPr lang="en-US" altLang="zh-CN" sz="4400" b="1" dirty="0">
                <a:latin typeface="+mn-lt"/>
              </a:rPr>
              <a:t>2</a:t>
            </a:r>
            <a:r>
              <a:rPr lang="zh-CN" altLang="en-US" sz="4400" b="1" dirty="0">
                <a:latin typeface="+mn-lt"/>
              </a:rPr>
              <a:t>章 </a:t>
            </a:r>
            <a:r>
              <a:rPr lang="en-US" altLang="zh-CN" sz="4400" b="1" dirty="0">
                <a:latin typeface="+mn-lt"/>
              </a:rPr>
              <a:t>Ascend C</a:t>
            </a:r>
            <a:r>
              <a:rPr lang="zh-CN" altLang="en-US" sz="4400" b="1" dirty="0">
                <a:latin typeface="+mn-lt"/>
              </a:rPr>
              <a:t>快速入门</a:t>
            </a:r>
          </a:p>
        </p:txBody>
      </p:sp>
      <p:sp>
        <p:nvSpPr>
          <p:cNvPr id="10" name="文本占位符 4">
            <a:extLst>
              <a:ext uri="{FF2B5EF4-FFF2-40B4-BE49-F238E27FC236}">
                <a16:creationId xmlns:a16="http://schemas.microsoft.com/office/drawing/2014/main" id="{DFD77602-E5F7-4521-A54F-96BBD2B54A62}"/>
              </a:ext>
            </a:extLst>
          </p:cNvPr>
          <p:cNvSpPr txBox="1">
            <a:spLocks/>
          </p:cNvSpPr>
          <p:nvPr/>
        </p:nvSpPr>
        <p:spPr>
          <a:xfrm>
            <a:off x="661930" y="5097762"/>
            <a:ext cx="6535842" cy="643926"/>
          </a:xfrm>
          <a:prstGeom prst="rect">
            <a:avLst/>
          </a:prstGeom>
        </p:spPr>
        <p:txBody>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华为</a:t>
            </a:r>
            <a:r>
              <a:rPr lang="en-US" altLang="zh-CN" sz="1800" dirty="0"/>
              <a:t>ICT</a:t>
            </a:r>
            <a:r>
              <a:rPr lang="zh-CN" altLang="en-US" sz="1800" dirty="0"/>
              <a:t>学院  播种新</a:t>
            </a:r>
            <a:r>
              <a:rPr lang="en-US" altLang="zh-CN" sz="1800" dirty="0"/>
              <a:t>ICT</a:t>
            </a:r>
            <a:r>
              <a:rPr lang="zh-CN" altLang="en-US" sz="1800" dirty="0"/>
              <a:t>未来</a:t>
            </a:r>
          </a:p>
        </p:txBody>
      </p:sp>
      <p:sp>
        <p:nvSpPr>
          <p:cNvPr id="3" name="文本占位符 4">
            <a:extLst>
              <a:ext uri="{FF2B5EF4-FFF2-40B4-BE49-F238E27FC236}">
                <a16:creationId xmlns:a16="http://schemas.microsoft.com/office/drawing/2014/main" id="{D19C6A6F-1306-0C68-2B32-A61AAF718306}"/>
              </a:ext>
            </a:extLst>
          </p:cNvPr>
          <p:cNvSpPr txBox="1">
            <a:spLocks/>
          </p:cNvSpPr>
          <p:nvPr/>
        </p:nvSpPr>
        <p:spPr>
          <a:xfrm>
            <a:off x="592920" y="3319646"/>
            <a:ext cx="1261884" cy="905761"/>
          </a:xfrm>
          <a:prstGeom prst="rect">
            <a:avLst/>
          </a:prstGeom>
        </p:spPr>
        <p:txBody>
          <a:bodyPr wrap="none">
            <a:spAutoFit/>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Aft>
                <a:spcPts val="600"/>
              </a:spcAft>
            </a:pPr>
            <a:r>
              <a:rPr lang="zh-CN" altLang="en-US" sz="1400" b="1" dirty="0"/>
              <a:t>苏统华</a:t>
            </a:r>
          </a:p>
          <a:p>
            <a:pPr>
              <a:lnSpc>
                <a:spcPct val="130000"/>
              </a:lnSpc>
            </a:pPr>
            <a:r>
              <a:rPr lang="zh-CN" altLang="en-US" sz="1200" dirty="0"/>
              <a:t>软件学院</a:t>
            </a:r>
          </a:p>
          <a:p>
            <a:pPr>
              <a:lnSpc>
                <a:spcPct val="130000"/>
              </a:lnSpc>
            </a:pPr>
            <a:r>
              <a:rPr lang="zh-CN" altLang="en-US" sz="1200" dirty="0"/>
              <a:t>哈尔滨工业大学</a:t>
            </a:r>
          </a:p>
        </p:txBody>
      </p:sp>
    </p:spTree>
    <p:extLst>
      <p:ext uri="{BB962C8B-B14F-4D97-AF65-F5344CB8AC3E}">
        <p14:creationId xmlns:p14="http://schemas.microsoft.com/office/powerpoint/2010/main" val="201235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3F8861DB-FC39-16C1-E8EB-34605AE0D1E5}"/>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本章内容</a:t>
            </a:r>
          </a:p>
        </p:txBody>
      </p:sp>
      <p:pic>
        <p:nvPicPr>
          <p:cNvPr id="229" name="图片 228">
            <a:extLst>
              <a:ext uri="{FF2B5EF4-FFF2-40B4-BE49-F238E27FC236}">
                <a16:creationId xmlns:a16="http://schemas.microsoft.com/office/drawing/2014/main" id="{F4BBEE43-5F83-D058-F04A-7D38D0050BD7}"/>
              </a:ext>
            </a:extLst>
          </p:cNvPr>
          <p:cNvPicPr>
            <a:picLocks noChangeAspect="1"/>
          </p:cNvPicPr>
          <p:nvPr/>
        </p:nvPicPr>
        <p:blipFill>
          <a:blip r:embed="rId2">
            <a:clrChange>
              <a:clrFrom>
                <a:srgbClr val="FFFFFF">
                  <a:alpha val="100000"/>
                </a:srgbClr>
              </a:clrFrom>
              <a:clrTo>
                <a:srgbClr val="FFFFFF">
                  <a:alpha val="100000"/>
                  <a:alpha val="0"/>
                </a:srgbClr>
              </a:clrTo>
            </a:clrChange>
            <a:duotone>
              <a:prstClr val="black"/>
              <a:schemeClr val="tx2">
                <a:tint val="45000"/>
                <a:satMod val="400000"/>
              </a:schemeClr>
            </a:duotone>
          </a:blip>
          <a:stretch>
            <a:fillRect/>
          </a:stretch>
        </p:blipFill>
        <p:spPr>
          <a:xfrm>
            <a:off x="2336770" y="1143002"/>
            <a:ext cx="7523222" cy="4987470"/>
          </a:xfrm>
          <a:prstGeom prst="rect">
            <a:avLst/>
          </a:prstGeom>
        </p:spPr>
      </p:pic>
      <p:sp>
        <p:nvSpPr>
          <p:cNvPr id="230" name="矩形: 圆角 229">
            <a:extLst>
              <a:ext uri="{FF2B5EF4-FFF2-40B4-BE49-F238E27FC236}">
                <a16:creationId xmlns:a16="http://schemas.microsoft.com/office/drawing/2014/main" id="{980EF461-AEEE-A330-15AF-DB950DFEEEDB}"/>
              </a:ext>
            </a:extLst>
          </p:cNvPr>
          <p:cNvSpPr/>
          <p:nvPr/>
        </p:nvSpPr>
        <p:spPr>
          <a:xfrm>
            <a:off x="2450324" y="3580499"/>
            <a:ext cx="2504648" cy="57240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第</a:t>
            </a:r>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2</a:t>
            </a: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章 昇腾</a:t>
            </a:r>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AI</a:t>
            </a: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软硬件架构</a:t>
            </a:r>
          </a:p>
        </p:txBody>
      </p:sp>
    </p:spTree>
    <p:extLst>
      <p:ext uri="{BB962C8B-B14F-4D97-AF65-F5344CB8AC3E}">
        <p14:creationId xmlns:p14="http://schemas.microsoft.com/office/powerpoint/2010/main" val="2657417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BD1EF-9C9F-0A43-AA6B-F4BC130E6531}"/>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1BF4B9B-1A06-7882-BDB1-210FBD2E0DB8}"/>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8" name="矩形: 圆角 7">
            <a:extLst>
              <a:ext uri="{FF2B5EF4-FFF2-40B4-BE49-F238E27FC236}">
                <a16:creationId xmlns:a16="http://schemas.microsoft.com/office/drawing/2014/main" id="{E75CF867-1750-5F0D-FD6F-40142AC778F8}"/>
              </a:ext>
            </a:extLst>
          </p:cNvPr>
          <p:cNvSpPr/>
          <p:nvPr/>
        </p:nvSpPr>
        <p:spPr>
          <a:xfrm>
            <a:off x="4712642" y="2169545"/>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35EDB3FA-BAAE-C4BE-0A3B-CB20AB0D357D}"/>
              </a:ext>
            </a:extLst>
          </p:cNvPr>
          <p:cNvSpPr txBox="1"/>
          <p:nvPr/>
        </p:nvSpPr>
        <p:spPr>
          <a:xfrm>
            <a:off x="5265051" y="2213479"/>
            <a:ext cx="2262158"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并行计算的基本原理</a:t>
            </a:r>
          </a:p>
        </p:txBody>
      </p:sp>
      <p:sp>
        <p:nvSpPr>
          <p:cNvPr id="14" name="矩形: 圆角 13">
            <a:extLst>
              <a:ext uri="{FF2B5EF4-FFF2-40B4-BE49-F238E27FC236}">
                <a16:creationId xmlns:a16="http://schemas.microsoft.com/office/drawing/2014/main" id="{C7A5EAF0-257D-0B44-86AA-99EBFACDE12B}"/>
              </a:ext>
            </a:extLst>
          </p:cNvPr>
          <p:cNvSpPr/>
          <p:nvPr/>
        </p:nvSpPr>
        <p:spPr>
          <a:xfrm>
            <a:off x="4712642"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a:extLst>
              <a:ext uri="{FF2B5EF4-FFF2-40B4-BE49-F238E27FC236}">
                <a16:creationId xmlns:a16="http://schemas.microsoft.com/office/drawing/2014/main" id="{D1CE8305-A687-862C-49C2-713FF78942A7}"/>
              </a:ext>
            </a:extLst>
          </p:cNvPr>
          <p:cNvSpPr txBox="1"/>
          <p:nvPr/>
        </p:nvSpPr>
        <p:spPr>
          <a:xfrm>
            <a:off x="5265051" y="2900716"/>
            <a:ext cx="2598788" cy="369332"/>
          </a:xfrm>
          <a:prstGeom prst="rect">
            <a:avLst/>
          </a:prstGeom>
          <a:noFill/>
        </p:spPr>
        <p:txBody>
          <a:bodyPr wrap="none">
            <a:spAutoFit/>
          </a:bodyPr>
          <a:lstStyle/>
          <a:p>
            <a:pPr marL="642915" indent="-822915">
              <a:buSzTx/>
              <a:buNone/>
              <a:defRPr sz="3600">
                <a:solidFill>
                  <a:srgbClr val="FF2600"/>
                </a:solidFill>
              </a:defRPr>
            </a:pPr>
            <a:r>
              <a:rPr lang="en-US" altLang="zh-CN"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开发环境准备</a:t>
            </a:r>
          </a:p>
        </p:txBody>
      </p:sp>
      <p:sp>
        <p:nvSpPr>
          <p:cNvPr id="16" name="矩形: 圆角 15">
            <a:extLst>
              <a:ext uri="{FF2B5EF4-FFF2-40B4-BE49-F238E27FC236}">
                <a16:creationId xmlns:a16="http://schemas.microsoft.com/office/drawing/2014/main" id="{9406F92B-513E-1216-97C0-2670AB01E352}"/>
              </a:ext>
            </a:extLst>
          </p:cNvPr>
          <p:cNvSpPr/>
          <p:nvPr/>
        </p:nvSpPr>
        <p:spPr>
          <a:xfrm>
            <a:off x="4712642"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9DD766BA-A5D0-204D-4DEB-CCB9C3973AB7}"/>
              </a:ext>
            </a:extLst>
          </p:cNvPr>
          <p:cNvSpPr txBox="1"/>
          <p:nvPr/>
        </p:nvSpPr>
        <p:spPr>
          <a:xfrm>
            <a:off x="5265051" y="3587953"/>
            <a:ext cx="2829621" cy="369332"/>
          </a:xfrm>
          <a:prstGeom prst="rect">
            <a:avLst/>
          </a:prstGeom>
          <a:noFill/>
        </p:spPr>
        <p:txBody>
          <a:bodyPr wrap="none">
            <a:spAutoFit/>
          </a:bodyPr>
          <a:lstStyle/>
          <a:p>
            <a:pPr marL="642915" indent="-822915">
              <a:buSzTx/>
              <a:buNone/>
              <a:defRPr sz="3600">
                <a:solidFill>
                  <a:srgbClr val="FF2600"/>
                </a:solidFill>
              </a:defRPr>
            </a:pPr>
            <a:r>
              <a:rPr lang="en-US" altLang="zh-CN"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算子的开发调用</a:t>
            </a:r>
          </a:p>
        </p:txBody>
      </p:sp>
      <p:sp>
        <p:nvSpPr>
          <p:cNvPr id="18" name="矩形: 圆角 17">
            <a:extLst>
              <a:ext uri="{FF2B5EF4-FFF2-40B4-BE49-F238E27FC236}">
                <a16:creationId xmlns:a16="http://schemas.microsoft.com/office/drawing/2014/main" id="{C7171326-FF5D-9420-4EAC-B17C2576C911}"/>
              </a:ext>
            </a:extLst>
          </p:cNvPr>
          <p:cNvSpPr/>
          <p:nvPr/>
        </p:nvSpPr>
        <p:spPr>
          <a:xfrm>
            <a:off x="4712642"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95684297-65D8-9952-EFEC-80C2407DA6A1}"/>
              </a:ext>
            </a:extLst>
          </p:cNvPr>
          <p:cNvSpPr txBox="1"/>
          <p:nvPr/>
        </p:nvSpPr>
        <p:spPr>
          <a:xfrm>
            <a:off x="5265051" y="4275190"/>
            <a:ext cx="2954655"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昇腾向量加法程序的加速比</a:t>
            </a:r>
          </a:p>
        </p:txBody>
      </p:sp>
    </p:spTree>
    <p:extLst>
      <p:ext uri="{BB962C8B-B14F-4D97-AF65-F5344CB8AC3E}">
        <p14:creationId xmlns:p14="http://schemas.microsoft.com/office/powerpoint/2010/main" val="233087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C9C2-6D7B-8C91-877A-E64172CA7A83}"/>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8137A3C-5B15-828A-F746-32177CCF0008}"/>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并行计算的基本原理</a:t>
            </a:r>
          </a:p>
        </p:txBody>
      </p:sp>
      <p:sp>
        <p:nvSpPr>
          <p:cNvPr id="154" name="文本占位符 2">
            <a:extLst>
              <a:ext uri="{FF2B5EF4-FFF2-40B4-BE49-F238E27FC236}">
                <a16:creationId xmlns:a16="http://schemas.microsoft.com/office/drawing/2014/main" id="{E7733F50-A6C9-0FD5-AC90-388AD3BA2841}"/>
              </a:ext>
            </a:extLst>
          </p:cNvPr>
          <p:cNvSpPr txBox="1">
            <a:spLocks/>
          </p:cNvSpPr>
          <p:nvPr/>
        </p:nvSpPr>
        <p:spPr>
          <a:xfrm>
            <a:off x="1069068" y="2632363"/>
            <a:ext cx="5718299" cy="1721690"/>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并行计算是一种计算模式，它涉及同时执行多个计算任务或同时执行多个进程。串行计算是按顺序执行一个任务，然后再执行下一个任务。与串行计算不同，并行计算是多个任务或进程可以同时执行，以提高整体计算性能和效率。</a:t>
            </a:r>
          </a:p>
          <a:p>
            <a:pPr marL="126000" indent="-126000">
              <a:lnSpc>
                <a:spcPct val="150000"/>
              </a:lnSpc>
              <a:spcBef>
                <a:spcPts val="0"/>
              </a:spcBef>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并行计算可以在多个硬件处理单元（如多个处理器、多个加速硬件、多个计算节点等）上同时执行任务。并行硬件有助于处理大规模的计算密集型问题，加快计算速度，提高系统的吞吐量。</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55" name="图片 154">
            <a:extLst>
              <a:ext uri="{FF2B5EF4-FFF2-40B4-BE49-F238E27FC236}">
                <a16:creationId xmlns:a16="http://schemas.microsoft.com/office/drawing/2014/main" id="{E2F43A61-405C-9612-DFC9-B097CB3CED7D}"/>
              </a:ext>
            </a:extLst>
          </p:cNvPr>
          <p:cNvPicPr>
            <a:picLocks noChangeAspect="1"/>
          </p:cNvPicPr>
          <p:nvPr/>
        </p:nvPicPr>
        <p:blipFill>
          <a:blip r:embed="rId2"/>
          <a:stretch>
            <a:fillRect/>
          </a:stretch>
        </p:blipFill>
        <p:spPr>
          <a:xfrm>
            <a:off x="6931788" y="2364964"/>
            <a:ext cx="4195906" cy="2256488"/>
          </a:xfrm>
          <a:prstGeom prst="rect">
            <a:avLst/>
          </a:prstGeom>
        </p:spPr>
      </p:pic>
    </p:spTree>
    <p:extLst>
      <p:ext uri="{BB962C8B-B14F-4D97-AF65-F5344CB8AC3E}">
        <p14:creationId xmlns:p14="http://schemas.microsoft.com/office/powerpoint/2010/main" val="53583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C58E8-A01D-254D-8401-51DAC3F7C280}"/>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0CB76BCF-7A9F-F04E-4369-9454C133A82E}"/>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并行体系结构的分类</a:t>
            </a:r>
          </a:p>
        </p:txBody>
      </p:sp>
      <p:sp>
        <p:nvSpPr>
          <p:cNvPr id="2" name="文本占位符 2">
            <a:extLst>
              <a:ext uri="{FF2B5EF4-FFF2-40B4-BE49-F238E27FC236}">
                <a16:creationId xmlns:a16="http://schemas.microsoft.com/office/drawing/2014/main" id="{B2039B4E-20AE-22FA-1D32-1AD720DFC717}"/>
              </a:ext>
            </a:extLst>
          </p:cNvPr>
          <p:cNvSpPr txBox="1">
            <a:spLocks/>
          </p:cNvSpPr>
          <p:nvPr/>
        </p:nvSpPr>
        <p:spPr>
          <a:xfrm>
            <a:off x="2543562" y="2293003"/>
            <a:ext cx="7109639" cy="2429255"/>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从计算机硬件、系统以及应用三个层面，大致包含三类并行体系结构</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指令级并行</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线程级并行</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spcAft>
                <a:spcPts val="1200"/>
              </a:spcAft>
            </a:pPr>
            <a:r>
              <a:rPr lang="zh-CN" altLang="en-US" sz="1200" dirty="0">
                <a:latin typeface="Arial" panose="020B0604020202020204" pitchFamily="34" charset="0"/>
                <a:ea typeface="微软雅黑" panose="020B0503020204020204" pitchFamily="34" charset="-122"/>
                <a:cs typeface="Arial" panose="020B0604020202020204" pitchFamily="34" charset="0"/>
              </a:rPr>
              <a:t>请求级并行</a:t>
            </a: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从软件设计和编程模型的角度来看，并行体系结构可划分为</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数据级并行</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任务级并行</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08628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170F8-01CA-67BF-BEBB-962848403C3B}"/>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836AC3A3-7D5C-B979-EA4C-3B7EF23FFC30}"/>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指令级并行</a:t>
            </a:r>
          </a:p>
        </p:txBody>
      </p:sp>
      <p:sp>
        <p:nvSpPr>
          <p:cNvPr id="3" name="文本框 2">
            <a:extLst>
              <a:ext uri="{FF2B5EF4-FFF2-40B4-BE49-F238E27FC236}">
                <a16:creationId xmlns:a16="http://schemas.microsoft.com/office/drawing/2014/main" id="{FAAC26B8-E614-DCEA-BADF-D93B2E56F065}"/>
              </a:ext>
            </a:extLst>
          </p:cNvPr>
          <p:cNvSpPr txBox="1"/>
          <p:nvPr/>
        </p:nvSpPr>
        <p:spPr>
          <a:xfrm>
            <a:off x="1968698" y="2283622"/>
            <a:ext cx="8259366" cy="2290755"/>
          </a:xfrm>
          <a:prstGeom prst="rect">
            <a:avLst/>
          </a:prstGeom>
          <a:noFill/>
        </p:spPr>
        <p:txBody>
          <a:bodyPr wrap="square">
            <a:spAutoFit/>
          </a:bodyPr>
          <a:lstStyle/>
          <a:p>
            <a:pPr marL="36000">
              <a:lnSpc>
                <a:spcPct val="150000"/>
              </a:lnSpc>
              <a:spcAft>
                <a:spcPts val="600"/>
              </a:spcAft>
              <a:buNone/>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指令级并行</a:t>
            </a:r>
            <a:r>
              <a:rPr lang="zh-CN" altLang="en-US" sz="1200" b="0" dirty="0">
                <a:latin typeface="Arial" panose="020B0604020202020204" pitchFamily="34" charset="0"/>
                <a:ea typeface="微软雅黑" panose="020B0503020204020204" pitchFamily="34" charset="-122"/>
                <a:cs typeface="Arial" panose="020B0604020202020204" pitchFamily="34" charset="0"/>
              </a:rPr>
              <a:t>（</a:t>
            </a:r>
            <a:r>
              <a:rPr lang="en-US" altLang="zh-CN" sz="1200" b="0" dirty="0">
                <a:latin typeface="Arial" panose="020B0604020202020204" pitchFamily="34" charset="0"/>
                <a:ea typeface="微软雅黑" panose="020B0503020204020204" pitchFamily="34" charset="-122"/>
                <a:cs typeface="Arial" panose="020B0604020202020204" pitchFamily="34" charset="0"/>
              </a:rPr>
              <a:t>Instruction-Level Parallelism</a:t>
            </a:r>
            <a:r>
              <a:rPr lang="zh-CN" altLang="en-US" sz="1200" b="0" dirty="0">
                <a:latin typeface="Arial" panose="020B0604020202020204" pitchFamily="34" charset="0"/>
                <a:ea typeface="微软雅黑" panose="020B0503020204020204" pitchFamily="34" charset="-122"/>
                <a:cs typeface="Arial" panose="020B0604020202020204" pitchFamily="34" charset="0"/>
              </a:rPr>
              <a:t>）是指在处理器内部多个机器指令能够在同一时钟周期执行。这种并行性不需要程序员手动优化代码，可由处理器自身的硬件来管理。有几种技术可以用来提升指令级并行：</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Aft>
                <a:spcPts val="600"/>
              </a:spcAft>
              <a:buFont typeface="Arial" panose="020B0604020202020204" pitchFamily="34" charset="0"/>
              <a:buChar char="•"/>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超标量架构（</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Superscalar</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zh-CN" altLang="en-US" sz="1200" b="0" dirty="0">
                <a:latin typeface="Arial" panose="020B0604020202020204" pitchFamily="34" charset="0"/>
                <a:ea typeface="微软雅黑" panose="020B0503020204020204" pitchFamily="34" charset="-122"/>
                <a:cs typeface="Arial" panose="020B0604020202020204" pitchFamily="34" charset="0"/>
              </a:rPr>
              <a:t>允许每个时钟周期发射多条指令到不同的执行单元。它们具备多个执行单元，如整数运算、浮点运算、加载</a:t>
            </a:r>
            <a:r>
              <a:rPr lang="en-US" altLang="zh-CN" sz="1200" b="0" dirty="0">
                <a:latin typeface="Arial" panose="020B0604020202020204" pitchFamily="34" charset="0"/>
                <a:ea typeface="微软雅黑" panose="020B0503020204020204" pitchFamily="34" charset="-122"/>
                <a:cs typeface="Arial" panose="020B0604020202020204" pitchFamily="34" charset="0"/>
              </a:rPr>
              <a:t>/</a:t>
            </a:r>
            <a:r>
              <a:rPr lang="zh-CN" altLang="en-US" sz="1200" b="0" dirty="0">
                <a:latin typeface="Arial" panose="020B0604020202020204" pitchFamily="34" charset="0"/>
                <a:ea typeface="微软雅黑" panose="020B0503020204020204" pitchFamily="34" charset="-122"/>
                <a:cs typeface="Arial" panose="020B0604020202020204" pitchFamily="34" charset="0"/>
              </a:rPr>
              <a:t>存储等，可以同时执行多个操作。</a:t>
            </a:r>
          </a:p>
          <a:p>
            <a:pPr marL="126000" lvl="1" indent="-126000">
              <a:lnSpc>
                <a:spcPct val="150000"/>
              </a:lnSpc>
              <a:spcAft>
                <a:spcPts val="600"/>
              </a:spcAft>
              <a:buFont typeface="Arial" panose="020B0604020202020204" pitchFamily="34" charset="0"/>
              <a:buChar char="•"/>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流水线（</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Pipelining</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zh-CN" altLang="en-US" sz="1200" b="0" dirty="0">
                <a:latin typeface="Arial" panose="020B0604020202020204" pitchFamily="34" charset="0"/>
                <a:ea typeface="微软雅黑" panose="020B0503020204020204" pitchFamily="34" charset="-122"/>
                <a:cs typeface="Arial" panose="020B0604020202020204" pitchFamily="34" charset="0"/>
              </a:rPr>
              <a:t>将指令分解为小步骤，每个步骤由不同的处理器部件顺序完成，一个指令的各个阶段可以与其他指令的阶段重叠，从而同一时刻有多个指令处于不同的执行阶段。例如，一个典型的四段流水线包括取指（</a:t>
            </a:r>
            <a:r>
              <a:rPr lang="en-US" altLang="zh-CN" sz="1200" b="0" dirty="0">
                <a:latin typeface="Arial" panose="020B0604020202020204" pitchFamily="34" charset="0"/>
                <a:ea typeface="微软雅黑" panose="020B0503020204020204" pitchFamily="34" charset="-122"/>
                <a:cs typeface="Arial" panose="020B0604020202020204" pitchFamily="34" charset="0"/>
              </a:rPr>
              <a:t>IF</a:t>
            </a:r>
            <a:r>
              <a:rPr lang="zh-CN" altLang="en-US" sz="1200" b="0" dirty="0">
                <a:latin typeface="Arial" panose="020B0604020202020204" pitchFamily="34" charset="0"/>
                <a:ea typeface="微软雅黑" panose="020B0503020204020204" pitchFamily="34" charset="-122"/>
                <a:cs typeface="Arial" panose="020B0604020202020204" pitchFamily="34" charset="0"/>
              </a:rPr>
              <a:t>）、译码（</a:t>
            </a:r>
            <a:r>
              <a:rPr lang="en-US" altLang="zh-CN" sz="1200" b="0" dirty="0">
                <a:latin typeface="Arial" panose="020B0604020202020204" pitchFamily="34" charset="0"/>
                <a:ea typeface="微软雅黑" panose="020B0503020204020204" pitchFamily="34" charset="-122"/>
                <a:cs typeface="Arial" panose="020B0604020202020204" pitchFamily="34" charset="0"/>
              </a:rPr>
              <a:t>ID</a:t>
            </a:r>
            <a:r>
              <a:rPr lang="zh-CN" altLang="en-US" sz="1200" b="0" dirty="0">
                <a:latin typeface="Arial" panose="020B0604020202020204" pitchFamily="34" charset="0"/>
                <a:ea typeface="微软雅黑" panose="020B0503020204020204" pitchFamily="34" charset="-122"/>
                <a:cs typeface="Arial" panose="020B0604020202020204" pitchFamily="34" charset="0"/>
              </a:rPr>
              <a:t>）、执行（</a:t>
            </a:r>
            <a:r>
              <a:rPr lang="en-US" altLang="zh-CN" sz="1200" b="0" dirty="0">
                <a:latin typeface="Arial" panose="020B0604020202020204" pitchFamily="34" charset="0"/>
                <a:ea typeface="微软雅黑" panose="020B0503020204020204" pitchFamily="34" charset="-122"/>
                <a:cs typeface="Arial" panose="020B0604020202020204" pitchFamily="34" charset="0"/>
              </a:rPr>
              <a:t>EXE</a:t>
            </a:r>
            <a:r>
              <a:rPr lang="zh-CN" altLang="en-US" sz="1200" b="0" dirty="0">
                <a:latin typeface="Arial" panose="020B0604020202020204" pitchFamily="34" charset="0"/>
                <a:ea typeface="微软雅黑" panose="020B0503020204020204" pitchFamily="34" charset="-122"/>
                <a:cs typeface="Arial" panose="020B0604020202020204" pitchFamily="34" charset="0"/>
              </a:rPr>
              <a:t>）、写回（</a:t>
            </a:r>
            <a:r>
              <a:rPr lang="en-US" altLang="zh-CN" sz="1200" b="0" dirty="0">
                <a:latin typeface="Arial" panose="020B0604020202020204" pitchFamily="34" charset="0"/>
                <a:ea typeface="微软雅黑" panose="020B0503020204020204" pitchFamily="34" charset="-122"/>
                <a:cs typeface="Arial" panose="020B0604020202020204" pitchFamily="34" charset="0"/>
              </a:rPr>
              <a:t>WB</a:t>
            </a:r>
            <a:r>
              <a:rPr lang="zh-CN" altLang="en-US" sz="1200" b="0" dirty="0">
                <a:latin typeface="Arial" panose="020B0604020202020204" pitchFamily="34" charset="0"/>
                <a:ea typeface="微软雅黑" panose="020B0503020204020204" pitchFamily="34" charset="-122"/>
                <a:cs typeface="Arial" panose="020B0604020202020204" pitchFamily="34" charset="0"/>
              </a:rPr>
              <a:t>）等阶段。</a:t>
            </a:r>
          </a:p>
        </p:txBody>
      </p:sp>
    </p:spTree>
    <p:extLst>
      <p:ext uri="{BB962C8B-B14F-4D97-AF65-F5344CB8AC3E}">
        <p14:creationId xmlns:p14="http://schemas.microsoft.com/office/powerpoint/2010/main" val="3706035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85A01-20AD-DDC0-2C34-2F4E763CB72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6260F7B4-6900-029D-FEA4-8D7BF058B7E5}"/>
              </a:ext>
            </a:extLst>
          </p:cNvPr>
          <p:cNvSpPr txBox="1">
            <a:spLocks/>
          </p:cNvSpPr>
          <p:nvPr/>
        </p:nvSpPr>
        <p:spPr>
          <a:xfrm>
            <a:off x="3749019" y="411900"/>
            <a:ext cx="469872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线程级并行与请求级并行</a:t>
            </a:r>
          </a:p>
        </p:txBody>
      </p:sp>
      <p:sp>
        <p:nvSpPr>
          <p:cNvPr id="3" name="文本框 2">
            <a:extLst>
              <a:ext uri="{FF2B5EF4-FFF2-40B4-BE49-F238E27FC236}">
                <a16:creationId xmlns:a16="http://schemas.microsoft.com/office/drawing/2014/main" id="{2BB12589-9EBD-EFD8-6737-7A087A940993}"/>
              </a:ext>
            </a:extLst>
          </p:cNvPr>
          <p:cNvSpPr txBox="1"/>
          <p:nvPr/>
        </p:nvSpPr>
        <p:spPr>
          <a:xfrm>
            <a:off x="1876930" y="2391344"/>
            <a:ext cx="8442902" cy="2075312"/>
          </a:xfrm>
          <a:prstGeom prst="rect">
            <a:avLst/>
          </a:prstGeom>
          <a:noFill/>
        </p:spPr>
        <p:txBody>
          <a:bodyPr wrap="square">
            <a:spAutoFit/>
          </a:bodyPr>
          <a:lstStyle/>
          <a:p>
            <a:pPr marL="126000" indent="-126000">
              <a:lnSpc>
                <a:spcPct val="150000"/>
              </a:lnSpc>
              <a:spcAft>
                <a:spcPts val="600"/>
              </a:spcAft>
              <a:buFont typeface="Arial" panose="020B0604020202020204" pitchFamily="34" charset="0"/>
              <a:buChar char="•"/>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线程级并行</a:t>
            </a:r>
            <a:r>
              <a:rPr lang="zh-CN" altLang="en-US" sz="1200" b="0" dirty="0">
                <a:latin typeface="Arial" panose="020B0604020202020204" pitchFamily="34" charset="0"/>
                <a:ea typeface="微软雅黑" panose="020B0503020204020204" pitchFamily="34" charset="-122"/>
                <a:cs typeface="Arial" panose="020B0604020202020204" pitchFamily="34" charset="0"/>
              </a:rPr>
              <a:t>（</a:t>
            </a:r>
            <a:r>
              <a:rPr lang="en-US" altLang="zh-CN" sz="1200" b="0" dirty="0">
                <a:latin typeface="Arial" panose="020B0604020202020204" pitchFamily="34" charset="0"/>
                <a:ea typeface="微软雅黑" panose="020B0503020204020204" pitchFamily="34" charset="-122"/>
                <a:cs typeface="Arial" panose="020B0604020202020204" pitchFamily="34" charset="0"/>
              </a:rPr>
              <a:t>Thread-Level Parallelism</a:t>
            </a:r>
            <a:r>
              <a:rPr lang="zh-CN" altLang="en-US" sz="1200" b="0" dirty="0">
                <a:latin typeface="Arial" panose="020B0604020202020204" pitchFamily="34" charset="0"/>
                <a:ea typeface="微软雅黑" panose="020B0503020204020204" pitchFamily="34" charset="-122"/>
                <a:cs typeface="Arial" panose="020B0604020202020204" pitchFamily="34" charset="0"/>
              </a:rPr>
              <a:t>）是通过创建多个线程来实现并行计算。在多核和多处理器系统中，这些线程可以真正并行地运行在不同的处理器或核心上。线程级并行常见于</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操作系统、数据库系统以及服务端应用</a:t>
            </a:r>
            <a:r>
              <a:rPr lang="zh-CN" altLang="en-US" sz="1200" b="0" dirty="0">
                <a:latin typeface="Arial" panose="020B0604020202020204" pitchFamily="34" charset="0"/>
                <a:ea typeface="微软雅黑" panose="020B0503020204020204" pitchFamily="34" charset="-122"/>
                <a:cs typeface="Arial" panose="020B0604020202020204" pitchFamily="34" charset="0"/>
              </a:rPr>
              <a:t>等领域，并且通常需要程序员显式地通过编程来创建和管理线程。</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Aft>
                <a:spcPts val="600"/>
              </a:spcAft>
              <a:buFont typeface="Arial" panose="020B0604020202020204" pitchFamily="34" charset="0"/>
              <a:buChar char="•"/>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请求级并行</a:t>
            </a:r>
            <a:r>
              <a:rPr lang="zh-CN" altLang="en-US" sz="1200" b="0" dirty="0">
                <a:latin typeface="Arial" panose="020B0604020202020204" pitchFamily="34" charset="0"/>
                <a:ea typeface="微软雅黑" panose="020B0503020204020204" pitchFamily="34" charset="-122"/>
                <a:cs typeface="Arial" panose="020B0604020202020204" pitchFamily="34" charset="0"/>
              </a:rPr>
              <a:t>（</a:t>
            </a:r>
            <a:r>
              <a:rPr lang="en-US" altLang="zh-CN" sz="1200" b="0" dirty="0">
                <a:latin typeface="Arial" panose="020B0604020202020204" pitchFamily="34" charset="0"/>
                <a:ea typeface="微软雅黑" panose="020B0503020204020204" pitchFamily="34" charset="-122"/>
                <a:cs typeface="Arial" panose="020B0604020202020204" pitchFamily="34" charset="0"/>
              </a:rPr>
              <a:t>Request-Level Parallelism</a:t>
            </a:r>
            <a:r>
              <a:rPr lang="zh-CN" altLang="en-US" sz="1200" b="0" dirty="0">
                <a:latin typeface="Arial" panose="020B0604020202020204" pitchFamily="34" charset="0"/>
                <a:ea typeface="微软雅黑" panose="020B0503020204020204" pitchFamily="34" charset="-122"/>
                <a:cs typeface="Arial" panose="020B0604020202020204" pitchFamily="34" charset="0"/>
              </a:rPr>
              <a:t>）通常出现在</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应用服务</a:t>
            </a:r>
            <a:r>
              <a:rPr lang="zh-CN" altLang="en-US" sz="1200" b="0" dirty="0">
                <a:latin typeface="Arial" panose="020B0604020202020204" pitchFamily="34" charset="0"/>
                <a:ea typeface="微软雅黑" panose="020B0503020204020204" pitchFamily="34" charset="-122"/>
                <a:cs typeface="Arial" panose="020B0604020202020204" pitchFamily="34" charset="0"/>
              </a:rPr>
              <a:t>中，比如当多个独立的客户端发送请求到服务器时，服务器会创建不同的处理流程来同时处理这些请求。每个请求可能涉及到不同的资源和计算路径，因此可以并行处理，从而提高各种服务的执行能力和响应速度。</a:t>
            </a:r>
          </a:p>
        </p:txBody>
      </p:sp>
    </p:spTree>
    <p:extLst>
      <p:ext uri="{BB962C8B-B14F-4D97-AF65-F5344CB8AC3E}">
        <p14:creationId xmlns:p14="http://schemas.microsoft.com/office/powerpoint/2010/main" val="1899593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5682-D980-5572-8760-BB0C45992E27}"/>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D19653FD-4F8B-52F1-1D60-2181E6EC356F}"/>
              </a:ext>
            </a:extLst>
          </p:cNvPr>
          <p:cNvSpPr txBox="1">
            <a:spLocks/>
          </p:cNvSpPr>
          <p:nvPr/>
        </p:nvSpPr>
        <p:spPr>
          <a:xfrm>
            <a:off x="3749019" y="411900"/>
            <a:ext cx="469872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数据级并行与任务级并行</a:t>
            </a:r>
          </a:p>
        </p:txBody>
      </p:sp>
      <p:sp>
        <p:nvSpPr>
          <p:cNvPr id="2" name="文本占位符 2">
            <a:extLst>
              <a:ext uri="{FF2B5EF4-FFF2-40B4-BE49-F238E27FC236}">
                <a16:creationId xmlns:a16="http://schemas.microsoft.com/office/drawing/2014/main" id="{357D0DC5-2CFB-82FC-F138-6C622A7AEF0E}"/>
              </a:ext>
            </a:extLst>
          </p:cNvPr>
          <p:cNvSpPr txBox="1">
            <a:spLocks/>
          </p:cNvSpPr>
          <p:nvPr/>
        </p:nvSpPr>
        <p:spPr>
          <a:xfrm>
            <a:off x="1777726" y="2391344"/>
            <a:ext cx="8641310" cy="2075312"/>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spcAft>
                <a:spcPts val="600"/>
              </a:spcAft>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数据级并行</a:t>
            </a:r>
            <a:r>
              <a:rPr lang="zh-CN" altLang="en-US" sz="1200" dirty="0">
                <a:latin typeface="Arial" panose="020B0604020202020204" pitchFamily="34" charset="0"/>
                <a:ea typeface="微软雅黑" panose="020B0503020204020204" pitchFamily="34" charset="-122"/>
                <a:cs typeface="Arial" panose="020B0604020202020204" pitchFamily="34" charset="0"/>
              </a:rPr>
              <a:t>（</a:t>
            </a:r>
            <a:r>
              <a:rPr lang="en-US" altLang="zh-CN" sz="1200" dirty="0">
                <a:latin typeface="Arial" panose="020B0604020202020204" pitchFamily="34" charset="0"/>
                <a:ea typeface="微软雅黑" panose="020B0503020204020204" pitchFamily="34" charset="-122"/>
                <a:cs typeface="Arial" panose="020B0604020202020204" pitchFamily="34" charset="0"/>
              </a:rPr>
              <a:t>Data-Level Parallelism</a:t>
            </a:r>
            <a:r>
              <a:rPr lang="zh-CN" altLang="en-US" sz="1200" dirty="0">
                <a:latin typeface="Arial" panose="020B0604020202020204" pitchFamily="34" charset="0"/>
                <a:ea typeface="微软雅黑" panose="020B0503020204020204" pitchFamily="34" charset="-122"/>
                <a:cs typeface="Arial" panose="020B0604020202020204" pitchFamily="34" charset="0"/>
              </a:rPr>
              <a:t>）是指将较大数据块分割成较小的块，然后在多个处理单元上并行处理这些数据块。每个处理单元上运行相同的操作，但作用于不同的数据片段上。数据并行特别适合</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数组、向量和矩阵等数据结构</a:t>
            </a:r>
            <a:r>
              <a:rPr lang="zh-CN" altLang="en-US" sz="1200" dirty="0">
                <a:latin typeface="Arial" panose="020B0604020202020204" pitchFamily="34" charset="0"/>
                <a:ea typeface="微软雅黑" panose="020B0503020204020204" pitchFamily="34" charset="-122"/>
                <a:cs typeface="Arial" panose="020B0604020202020204" pitchFamily="34" charset="0"/>
              </a:rPr>
              <a:t>，常在</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科学计算和图像处理</a:t>
            </a:r>
            <a:r>
              <a:rPr lang="zh-CN" altLang="en-US" sz="1200" dirty="0">
                <a:latin typeface="Arial" panose="020B0604020202020204" pitchFamily="34" charset="0"/>
                <a:ea typeface="微软雅黑" panose="020B0503020204020204" pitchFamily="34" charset="-122"/>
                <a:cs typeface="Arial" panose="020B0604020202020204" pitchFamily="34" charset="0"/>
              </a:rPr>
              <a:t>等领域中使用。</a:t>
            </a:r>
          </a:p>
          <a:p>
            <a:pPr marL="126000" indent="-126000">
              <a:lnSpc>
                <a:spcPct val="150000"/>
              </a:lnSpc>
              <a:spcBef>
                <a:spcPts val="0"/>
              </a:spcBef>
              <a:spcAft>
                <a:spcPts val="600"/>
              </a:spcAft>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任务级并行</a:t>
            </a:r>
            <a:r>
              <a:rPr lang="zh-CN" altLang="en-US" sz="1200" dirty="0">
                <a:latin typeface="Arial" panose="020B0604020202020204" pitchFamily="34" charset="0"/>
                <a:ea typeface="微软雅黑" panose="020B0503020204020204" pitchFamily="34" charset="-122"/>
                <a:cs typeface="Arial" panose="020B0604020202020204" pitchFamily="34" charset="0"/>
              </a:rPr>
              <a:t>（</a:t>
            </a:r>
            <a:r>
              <a:rPr lang="en-US" altLang="zh-CN" sz="1200" dirty="0">
                <a:latin typeface="Arial" panose="020B0604020202020204" pitchFamily="34" charset="0"/>
                <a:ea typeface="微软雅黑" panose="020B0503020204020204" pitchFamily="34" charset="-122"/>
                <a:cs typeface="Arial" panose="020B0604020202020204" pitchFamily="34" charset="0"/>
              </a:rPr>
              <a:t>Task-Level Parallelism</a:t>
            </a:r>
            <a:r>
              <a:rPr lang="zh-CN" altLang="en-US" sz="1200" dirty="0">
                <a:latin typeface="Arial" panose="020B0604020202020204" pitchFamily="34" charset="0"/>
                <a:ea typeface="微软雅黑" panose="020B0503020204020204" pitchFamily="34" charset="-122"/>
                <a:cs typeface="Arial" panose="020B0604020202020204" pitchFamily="34" charset="0"/>
              </a:rPr>
              <a:t>）涉及将工作分解成独立的任务，这些任务可以同时在不同的处理单元上执行。这些任务可能互相依赖也可能完全独立，任务并行通常需要程序员设计能够有效利用并行硬件特性的算法和程序结构，比如在</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软件工程、复杂事件处理和多媒体应用</a:t>
            </a:r>
            <a:r>
              <a:rPr lang="zh-CN" altLang="en-US" sz="1200" dirty="0">
                <a:latin typeface="Arial" panose="020B0604020202020204" pitchFamily="34" charset="0"/>
                <a:ea typeface="微软雅黑" panose="020B0503020204020204" pitchFamily="34" charset="-122"/>
                <a:cs typeface="Arial" panose="020B0604020202020204" pitchFamily="34" charset="0"/>
              </a:rPr>
              <a:t>中广泛使用。</a:t>
            </a:r>
          </a:p>
        </p:txBody>
      </p:sp>
    </p:spTree>
    <p:extLst>
      <p:ext uri="{BB962C8B-B14F-4D97-AF65-F5344CB8AC3E}">
        <p14:creationId xmlns:p14="http://schemas.microsoft.com/office/powerpoint/2010/main" val="121246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E2AB6-130A-2CFE-F1A7-29FF9C79A2D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5FBB52C1-EF0F-BA18-FE7F-3949CB2826A2}"/>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费林分类法</a:t>
            </a:r>
          </a:p>
        </p:txBody>
      </p:sp>
      <p:sp>
        <p:nvSpPr>
          <p:cNvPr id="2" name="文本占位符 2">
            <a:extLst>
              <a:ext uri="{FF2B5EF4-FFF2-40B4-BE49-F238E27FC236}">
                <a16:creationId xmlns:a16="http://schemas.microsoft.com/office/drawing/2014/main" id="{3E1D2659-3363-D593-F5ED-6180ABBEB220}"/>
              </a:ext>
            </a:extLst>
          </p:cNvPr>
          <p:cNvSpPr txBox="1">
            <a:spLocks/>
          </p:cNvSpPr>
          <p:nvPr/>
        </p:nvSpPr>
        <p:spPr>
          <a:xfrm>
            <a:off x="590550" y="1599079"/>
            <a:ext cx="7095586" cy="4054956"/>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克尔</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费林（</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Michael Flynn</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）于</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1972</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年提出了费林分类法。费林分类法根据计算机体系结构中指令流和数据流的组织方式，将计算机系统划分为四类：</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单指令流单数据流：顺序执行一串指令，每个指令作用于单个数据元素上。</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单指令流多数据流：允许不同处理器同时对多个数据元素执行同一条指令操作。</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多指令流单数据流 ：同一时间有多条指令操作同一个数据流。</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spcBef>
                <a:spcPts val="0"/>
              </a:spcBef>
              <a:spcAft>
                <a:spcPts val="600"/>
              </a:spcAft>
            </a:pPr>
            <a:r>
              <a:rPr lang="zh-CN" altLang="en-US" sz="1200" dirty="0">
                <a:latin typeface="Arial" panose="020B0604020202020204" pitchFamily="34" charset="0"/>
                <a:ea typeface="微软雅黑" panose="020B0503020204020204" pitchFamily="34" charset="-122"/>
                <a:cs typeface="Arial" panose="020B0604020202020204" pitchFamily="34" charset="0"/>
              </a:rPr>
              <a:t>多指令流多数据流 ：支持多个独立的指令流，每个都操作不同的数据流。这意味着每个处理器可以执行不同的任务，针对不同的数据集。</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此外，还有更加复杂的并行处理模式。例如单程序多数据 （</a:t>
            </a:r>
            <a:r>
              <a:rPr lang="en-US" altLang="zh-CN"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SPMD</a:t>
            </a:r>
            <a:r>
              <a:rPr lang="zh-CN" altLang="en-US"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SPMD</a:t>
            </a:r>
            <a:r>
              <a:rPr lang="zh-CN" altLang="en-US"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属于并行计算的编程模型，当硬件的各处理器有自己独立控制部件时，可通过软件编程让各处理器并行地执行同一个程序，但每个处理器处理不同的数据，</a:t>
            </a:r>
            <a:r>
              <a:rPr lang="en-US" altLang="zh-CN"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就是基于昇腾</a:t>
            </a:r>
            <a:r>
              <a:rPr lang="en-US" altLang="zh-CN"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形成了</a:t>
            </a:r>
            <a:r>
              <a:rPr lang="en-US" altLang="zh-CN"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SPMD</a:t>
            </a:r>
            <a:r>
              <a:rPr lang="zh-CN" altLang="en-US" sz="1400" b="1" dirty="0">
                <a:solidFill>
                  <a:srgbClr val="C00000"/>
                </a:solidFill>
                <a:latin typeface="Arial" panose="020B0604020202020204" pitchFamily="34" charset="0"/>
                <a:ea typeface="微软雅黑" panose="020B0503020204020204" pitchFamily="34" charset="-122"/>
                <a:cs typeface="Arial" panose="020B0604020202020204" pitchFamily="34" charset="0"/>
              </a:rPr>
              <a:t>编程模型。</a:t>
            </a:r>
          </a:p>
        </p:txBody>
      </p:sp>
      <p:pic>
        <p:nvPicPr>
          <p:cNvPr id="3" name="图片 2">
            <a:extLst>
              <a:ext uri="{FF2B5EF4-FFF2-40B4-BE49-F238E27FC236}">
                <a16:creationId xmlns:a16="http://schemas.microsoft.com/office/drawing/2014/main" id="{2C59053D-7330-A08E-2B1D-02C1BDF97BC9}"/>
              </a:ext>
            </a:extLst>
          </p:cNvPr>
          <p:cNvPicPr>
            <a:picLocks noChangeAspect="1"/>
          </p:cNvPicPr>
          <p:nvPr/>
        </p:nvPicPr>
        <p:blipFill>
          <a:blip r:embed="rId2"/>
          <a:stretch>
            <a:fillRect/>
          </a:stretch>
        </p:blipFill>
        <p:spPr>
          <a:xfrm>
            <a:off x="7758109" y="2505347"/>
            <a:ext cx="3848104" cy="2242420"/>
          </a:xfrm>
          <a:prstGeom prst="rect">
            <a:avLst/>
          </a:prstGeom>
        </p:spPr>
      </p:pic>
    </p:spTree>
    <p:extLst>
      <p:ext uri="{BB962C8B-B14F-4D97-AF65-F5344CB8AC3E}">
        <p14:creationId xmlns:p14="http://schemas.microsoft.com/office/powerpoint/2010/main" val="2753157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6F33-99B5-39BB-674A-BE61B0264E16}"/>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46DBD467-72C0-3CAF-C837-36E6BECCF9A6}"/>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大模型并行加速的基本原理</a:t>
            </a:r>
          </a:p>
        </p:txBody>
      </p:sp>
      <p:sp>
        <p:nvSpPr>
          <p:cNvPr id="2" name="文本占位符 2">
            <a:extLst>
              <a:ext uri="{FF2B5EF4-FFF2-40B4-BE49-F238E27FC236}">
                <a16:creationId xmlns:a16="http://schemas.microsoft.com/office/drawing/2014/main" id="{BE2AD654-4E47-155C-B5E9-54E0F9CD8FDF}"/>
              </a:ext>
            </a:extLst>
          </p:cNvPr>
          <p:cNvSpPr txBox="1">
            <a:spLocks/>
          </p:cNvSpPr>
          <p:nvPr/>
        </p:nvSpPr>
        <p:spPr>
          <a:xfrm>
            <a:off x="3317012" y="1431174"/>
            <a:ext cx="5562741" cy="336374"/>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lnSpc>
                <a:spcPct val="150000"/>
              </a:lnSpc>
              <a:spcBef>
                <a:spcPts val="0"/>
              </a:spcBef>
              <a:buNone/>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目前针对</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AI</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大模型的并行化训练主要常用两类并行方式：数据并行和模型并行。</a:t>
            </a:r>
          </a:p>
        </p:txBody>
      </p:sp>
      <p:sp>
        <p:nvSpPr>
          <p:cNvPr id="3" name="文本占位符 2">
            <a:extLst>
              <a:ext uri="{FF2B5EF4-FFF2-40B4-BE49-F238E27FC236}">
                <a16:creationId xmlns:a16="http://schemas.microsoft.com/office/drawing/2014/main" id="{7970FF14-19B5-4C72-D9B2-9A799D6A2D5E}"/>
              </a:ext>
            </a:extLst>
          </p:cNvPr>
          <p:cNvSpPr txBox="1">
            <a:spLocks/>
          </p:cNvSpPr>
          <p:nvPr/>
        </p:nvSpPr>
        <p:spPr>
          <a:xfrm>
            <a:off x="1132145" y="4916434"/>
            <a:ext cx="9932473" cy="11581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1148" tIns="41148" rIns="41148" bIns="41148">
            <a:spAutoFit/>
          </a:bodyPr>
          <a:lstStyle>
            <a:lvl1pPr marL="120000" marR="0" indent="-300000" algn="l" defTabSz="822960" rtl="0" latinLnBrk="0">
              <a:lnSpc>
                <a:spcPct val="100000"/>
              </a:lnSpc>
              <a:spcBef>
                <a:spcPts val="900"/>
              </a:spcBef>
              <a:spcAft>
                <a:spcPts val="0"/>
              </a:spcAft>
              <a:buClr>
                <a:srgbClr val="0000FF"/>
              </a:buClr>
              <a:buSzPct val="120000"/>
              <a:buFontTx/>
              <a:buChar char="●"/>
              <a:tabLst/>
              <a:defRPr sz="2000" b="1" i="0" u="none" strike="noStrike" cap="none" spc="0" baseline="0">
                <a:solidFill>
                  <a:srgbClr val="0000FF"/>
                </a:solidFill>
                <a:uFillTx/>
                <a:latin typeface="Georgia"/>
                <a:ea typeface="Georgia"/>
                <a:cs typeface="Georgia"/>
                <a:sym typeface="Georgia"/>
              </a:defRPr>
            </a:lvl1pPr>
            <a:lvl2pPr marL="719998" marR="0" indent="-323998" algn="l" defTabSz="822960" rtl="0" latinLnBrk="0">
              <a:lnSpc>
                <a:spcPct val="100000"/>
              </a:lnSpc>
              <a:spcBef>
                <a:spcPts val="900"/>
              </a:spcBef>
              <a:spcAft>
                <a:spcPts val="0"/>
              </a:spcAft>
              <a:buClr>
                <a:srgbClr val="0000FF"/>
              </a:buClr>
              <a:buSzPct val="100000"/>
              <a:buFontTx/>
              <a:buChar char="✓"/>
              <a:tabLst/>
              <a:defRPr sz="2000" b="1" i="0" u="none" strike="noStrike" cap="none" spc="0" baseline="0">
                <a:solidFill>
                  <a:srgbClr val="0000FF"/>
                </a:solidFill>
                <a:uFillTx/>
                <a:latin typeface="Georgia"/>
                <a:ea typeface="Georgia"/>
                <a:cs typeface="Georgia"/>
                <a:sym typeface="Georgia"/>
              </a:defRPr>
            </a:lvl2pPr>
            <a:lvl3pPr marL="1111998" marR="0" indent="-319998" algn="l" defTabSz="822960" rtl="0" latinLnBrk="0">
              <a:lnSpc>
                <a:spcPct val="100000"/>
              </a:lnSpc>
              <a:spcBef>
                <a:spcPts val="900"/>
              </a:spcBef>
              <a:spcAft>
                <a:spcPts val="0"/>
              </a:spcAft>
              <a:buClr>
                <a:srgbClr val="0000FF"/>
              </a:buClr>
              <a:buSzPct val="171000"/>
              <a:buFontTx/>
              <a:buChar char="•"/>
              <a:tabLst/>
              <a:defRPr sz="2000" b="1" i="0" u="none" strike="noStrike" cap="none" spc="0" baseline="0">
                <a:solidFill>
                  <a:srgbClr val="0000FF"/>
                </a:solidFill>
                <a:uFillTx/>
                <a:latin typeface="Georgia"/>
                <a:ea typeface="Georgia"/>
                <a:cs typeface="Georgia"/>
                <a:sym typeface="Georgia"/>
              </a:defRPr>
            </a:lvl3pPr>
            <a:lvl4pPr marL="1511998" marR="0" indent="-359997" algn="l" defTabSz="822960" rtl="0" latinLnBrk="0">
              <a:lnSpc>
                <a:spcPct val="100000"/>
              </a:lnSpc>
              <a:spcBef>
                <a:spcPts val="900"/>
              </a:spcBef>
              <a:spcAft>
                <a:spcPts val="0"/>
              </a:spcAft>
              <a:buClr>
                <a:srgbClr val="0000FF"/>
              </a:buClr>
              <a:buSzPct val="171000"/>
              <a:buFontTx/>
              <a:buChar char="•"/>
              <a:tabLst/>
              <a:defRPr sz="2000" b="1" i="0" u="none" strike="noStrike" cap="none" spc="0" baseline="0">
                <a:solidFill>
                  <a:srgbClr val="0000FF"/>
                </a:solidFill>
                <a:uFillTx/>
                <a:latin typeface="Georgia"/>
                <a:ea typeface="Georgia"/>
                <a:cs typeface="Georgia"/>
                <a:sym typeface="Georgia"/>
              </a:defRPr>
            </a:lvl4pPr>
            <a:lvl5pPr marL="1923426" marR="0" indent="-411427" algn="l" defTabSz="822960" rtl="0" latinLnBrk="0">
              <a:lnSpc>
                <a:spcPct val="100000"/>
              </a:lnSpc>
              <a:spcBef>
                <a:spcPts val="900"/>
              </a:spcBef>
              <a:spcAft>
                <a:spcPts val="0"/>
              </a:spcAft>
              <a:buClr>
                <a:srgbClr val="0000FF"/>
              </a:buClr>
              <a:buSzPct val="171000"/>
              <a:buFontTx/>
              <a:buChar char="•"/>
              <a:tabLst/>
              <a:defRPr sz="2000" b="1" i="0" u="none" strike="noStrike" cap="none" spc="0" baseline="0">
                <a:solidFill>
                  <a:srgbClr val="0000FF"/>
                </a:solidFill>
                <a:uFillTx/>
                <a:latin typeface="Georgia"/>
                <a:ea typeface="Georgia"/>
                <a:cs typeface="Georgia"/>
                <a:sym typeface="Georgia"/>
              </a:defRPr>
            </a:lvl5pPr>
            <a:lvl6pPr marL="2553917" marR="0" indent="-268833" algn="l" defTabSz="822960" rtl="0" latinLnBrk="0">
              <a:lnSpc>
                <a:spcPct val="100000"/>
              </a:lnSpc>
              <a:spcBef>
                <a:spcPts val="900"/>
              </a:spcBef>
              <a:spcAft>
                <a:spcPts val="0"/>
              </a:spcAft>
              <a:buClr>
                <a:srgbClr val="0000FF"/>
              </a:buClr>
              <a:buSzPct val="100000"/>
              <a:buFontTx/>
              <a:buChar char="•"/>
              <a:tabLst/>
              <a:defRPr sz="2000" b="1" i="0" u="none" strike="noStrike" cap="none" spc="0" baseline="0">
                <a:solidFill>
                  <a:srgbClr val="0000FF"/>
                </a:solidFill>
                <a:uFillTx/>
                <a:latin typeface="Georgia"/>
                <a:ea typeface="Georgia"/>
                <a:cs typeface="Georgia"/>
                <a:sym typeface="Georgia"/>
              </a:defRPr>
            </a:lvl6pPr>
            <a:lvl7pPr marL="3010935" marR="0" indent="-268833" algn="l" defTabSz="822960" rtl="0" latinLnBrk="0">
              <a:lnSpc>
                <a:spcPct val="100000"/>
              </a:lnSpc>
              <a:spcBef>
                <a:spcPts val="900"/>
              </a:spcBef>
              <a:spcAft>
                <a:spcPts val="0"/>
              </a:spcAft>
              <a:buClr>
                <a:srgbClr val="0000FF"/>
              </a:buClr>
              <a:buSzPct val="100000"/>
              <a:buFontTx/>
              <a:buChar char="•"/>
              <a:tabLst/>
              <a:defRPr sz="2000" b="1" i="0" u="none" strike="noStrike" cap="none" spc="0" baseline="0">
                <a:solidFill>
                  <a:srgbClr val="0000FF"/>
                </a:solidFill>
                <a:uFillTx/>
                <a:latin typeface="Georgia"/>
                <a:ea typeface="Georgia"/>
                <a:cs typeface="Georgia"/>
                <a:sym typeface="Georgia"/>
              </a:defRPr>
            </a:lvl7pPr>
            <a:lvl8pPr marL="3467952" marR="0" indent="-268833" algn="l" defTabSz="822960" rtl="0" latinLnBrk="0">
              <a:lnSpc>
                <a:spcPct val="100000"/>
              </a:lnSpc>
              <a:spcBef>
                <a:spcPts val="900"/>
              </a:spcBef>
              <a:spcAft>
                <a:spcPts val="0"/>
              </a:spcAft>
              <a:buClr>
                <a:srgbClr val="0000FF"/>
              </a:buClr>
              <a:buSzPct val="100000"/>
              <a:buFontTx/>
              <a:buChar char="•"/>
              <a:tabLst/>
              <a:defRPr sz="2000" b="1" i="0" u="none" strike="noStrike" cap="none" spc="0" baseline="0">
                <a:solidFill>
                  <a:srgbClr val="0000FF"/>
                </a:solidFill>
                <a:uFillTx/>
                <a:latin typeface="Georgia"/>
                <a:ea typeface="Georgia"/>
                <a:cs typeface="Georgia"/>
                <a:sym typeface="Georgia"/>
              </a:defRPr>
            </a:lvl8pPr>
            <a:lvl9pPr marL="3924969" marR="0" indent="-268833" algn="l" defTabSz="822960" rtl="0" latinLnBrk="0">
              <a:lnSpc>
                <a:spcPct val="100000"/>
              </a:lnSpc>
              <a:spcBef>
                <a:spcPts val="900"/>
              </a:spcBef>
              <a:spcAft>
                <a:spcPts val="0"/>
              </a:spcAft>
              <a:buClr>
                <a:srgbClr val="0000FF"/>
              </a:buClr>
              <a:buSzPct val="100000"/>
              <a:buFontTx/>
              <a:buChar char="•"/>
              <a:tabLst/>
              <a:defRPr sz="2000" b="1" i="0" u="none" strike="noStrike" cap="none" spc="0" baseline="0">
                <a:solidFill>
                  <a:srgbClr val="0000FF"/>
                </a:solidFill>
                <a:uFillTx/>
                <a:latin typeface="Georgia"/>
                <a:ea typeface="Georgia"/>
                <a:cs typeface="Georgia"/>
                <a:sym typeface="Georgia"/>
              </a:defRPr>
            </a:lvl9pPr>
          </a:lstStyle>
          <a:p>
            <a:pPr marL="126000" indent="-126000">
              <a:lnSpc>
                <a:spcPct val="150000"/>
              </a:lnSpc>
              <a:spcBef>
                <a:spcPts val="0"/>
              </a:spcBef>
              <a:buClrTx/>
              <a:buSzPct val="100000"/>
              <a:buFont typeface="Arial" panose="020B0604020202020204" pitchFamily="34" charset="0"/>
              <a:buChar cha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数据并行通过将大规模的数据集划分为多个批次（</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batch</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），分配给不同的计算节点并行处理。数据并行使得模型训练可以扩展到更多的数据和计算资源，从而加速训练过程。</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buClrTx/>
              <a:buSzPct val="100000"/>
              <a:buFont typeface="Arial" panose="020B0604020202020204" pitchFamily="34" charset="0"/>
              <a:buChar cha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模型并行是当单个模型太大而无法放入单个计算节点的内存时，将模型的不同部分（如不同的层或子网络）分布到不同的节点上。在模型并行中，各个分布式节点负责模型的一部分计算，并可能需要频繁地进行跨节点通信以同步中间状态和梯度信息。</a:t>
            </a:r>
          </a:p>
        </p:txBody>
      </p:sp>
      <p:pic>
        <p:nvPicPr>
          <p:cNvPr id="4" name="图片 3">
            <a:extLst>
              <a:ext uri="{FF2B5EF4-FFF2-40B4-BE49-F238E27FC236}">
                <a16:creationId xmlns:a16="http://schemas.microsoft.com/office/drawing/2014/main" id="{25012681-453B-795F-A281-61CACE2B3C73}"/>
              </a:ext>
            </a:extLst>
          </p:cNvPr>
          <p:cNvPicPr>
            <a:picLocks noChangeAspect="1"/>
          </p:cNvPicPr>
          <p:nvPr/>
        </p:nvPicPr>
        <p:blipFill>
          <a:blip r:embed="rId2"/>
          <a:stretch>
            <a:fillRect/>
          </a:stretch>
        </p:blipFill>
        <p:spPr>
          <a:xfrm>
            <a:off x="2897488" y="1823163"/>
            <a:ext cx="6401788" cy="3037656"/>
          </a:xfrm>
          <a:prstGeom prst="rect">
            <a:avLst/>
          </a:prstGeom>
        </p:spPr>
      </p:pic>
    </p:spTree>
    <p:extLst>
      <p:ext uri="{BB962C8B-B14F-4D97-AF65-F5344CB8AC3E}">
        <p14:creationId xmlns:p14="http://schemas.microsoft.com/office/powerpoint/2010/main" val="256400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9582-33C0-E6DE-56FB-05D3426ED009}"/>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89FFB613-0996-136C-FA55-F71E0396492C}"/>
              </a:ext>
            </a:extLst>
          </p:cNvPr>
          <p:cNvSpPr txBox="1">
            <a:spLocks/>
          </p:cNvSpPr>
          <p:nvPr/>
        </p:nvSpPr>
        <p:spPr>
          <a:xfrm>
            <a:off x="4159387" y="411900"/>
            <a:ext cx="387798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并行效率量化的原理</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D4DBCF7-1E88-3E62-EB2A-BF05303CF3DA}"/>
                  </a:ext>
                </a:extLst>
              </p:cNvPr>
              <p:cNvSpPr txBox="1"/>
              <p:nvPr/>
            </p:nvSpPr>
            <p:spPr>
              <a:xfrm>
                <a:off x="1002605" y="1886594"/>
                <a:ext cx="10191552" cy="3528210"/>
              </a:xfrm>
              <a:prstGeom prst="rect">
                <a:avLst/>
              </a:prstGeom>
              <a:noFill/>
            </p:spPr>
            <p:txBody>
              <a:bodyPr wrap="square">
                <a:spAutoFit/>
              </a:bodyPr>
              <a:lstStyle/>
              <a:p>
                <a:pPr marL="126000"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阿姆达尔定律（</a:t>
                </a:r>
                <a:r>
                  <a:rPr lang="en-US" altLang="zh-CN" sz="1200" b="0" dirty="0">
                    <a:latin typeface="Arial" panose="020B0604020202020204" pitchFamily="34" charset="0"/>
                    <a:ea typeface="微软雅黑" panose="020B0503020204020204" pitchFamily="34" charset="-122"/>
                    <a:cs typeface="Arial" panose="020B0604020202020204" pitchFamily="34" charset="0"/>
                  </a:rPr>
                  <a:t>Amdahl's Law</a:t>
                </a:r>
                <a:r>
                  <a:rPr lang="zh-CN" altLang="en-US" sz="1200" b="0" dirty="0">
                    <a:latin typeface="Arial" panose="020B0604020202020204" pitchFamily="34" charset="0"/>
                    <a:ea typeface="微软雅黑" panose="020B0503020204020204" pitchFamily="34" charset="-122"/>
                    <a:cs typeface="Arial" panose="020B0604020202020204" pitchFamily="34" charset="0"/>
                  </a:rPr>
                  <a:t>）由吉恩</a:t>
                </a:r>
                <a:r>
                  <a:rPr lang="en-US" altLang="zh-CN" sz="1200" b="0" dirty="0">
                    <a:latin typeface="Arial" panose="020B0604020202020204" pitchFamily="34" charset="0"/>
                    <a:ea typeface="微软雅黑" panose="020B0503020204020204" pitchFamily="34" charset="-122"/>
                    <a:cs typeface="Arial" panose="020B0604020202020204" pitchFamily="34" charset="0"/>
                  </a:rPr>
                  <a:t>·</a:t>
                </a:r>
                <a:r>
                  <a:rPr lang="zh-CN" altLang="en-US" sz="1200" b="0" dirty="0">
                    <a:latin typeface="Arial" panose="020B0604020202020204" pitchFamily="34" charset="0"/>
                    <a:ea typeface="微软雅黑" panose="020B0503020204020204" pitchFamily="34" charset="-122"/>
                    <a:cs typeface="Arial" panose="020B0604020202020204" pitchFamily="34" charset="0"/>
                  </a:rPr>
                  <a:t>阿姆达尔在</a:t>
                </a:r>
                <a:r>
                  <a:rPr lang="en-US" altLang="zh-CN" sz="1200" b="0" dirty="0">
                    <a:latin typeface="Arial" panose="020B0604020202020204" pitchFamily="34" charset="0"/>
                    <a:ea typeface="微软雅黑" panose="020B0503020204020204" pitchFamily="34" charset="-122"/>
                    <a:cs typeface="Arial" panose="020B0604020202020204" pitchFamily="34" charset="0"/>
                  </a:rPr>
                  <a:t>1967</a:t>
                </a:r>
                <a:r>
                  <a:rPr lang="zh-CN" altLang="en-US" sz="1200" b="0" dirty="0">
                    <a:latin typeface="Arial" panose="020B0604020202020204" pitchFamily="34" charset="0"/>
                    <a:ea typeface="微软雅黑" panose="020B0503020204020204" pitchFamily="34" charset="-122"/>
                    <a:cs typeface="Arial" panose="020B0604020202020204" pitchFamily="34" charset="0"/>
                  </a:rPr>
                  <a:t>年提出。它用于估计程序在并行化后的理论性能提升。该定律指出，一个程序的加速比上限受到其串行部分比例的限制。</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Aft>
                    <a:spcPts val="600"/>
                  </a:spcAft>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rPr>
                        <m:t>𝑆</m:t>
                      </m:r>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1</m:t>
                          </m:r>
                        </m:num>
                        <m:den>
                          <m:r>
                            <a:rPr lang="en-US" altLang="zh-CN" sz="2000" b="0" i="1" dirty="0" smtClean="0">
                              <a:latin typeface="Cambria Math" panose="02040503050406030204" pitchFamily="18" charset="0"/>
                            </a:rPr>
                            <m:t>1−</m:t>
                          </m:r>
                          <m:r>
                            <a:rPr lang="en-US" altLang="zh-CN" sz="2000" b="0" i="1" dirty="0" smtClean="0">
                              <a:latin typeface="Cambria Math" panose="02040503050406030204" pitchFamily="18" charset="0"/>
                            </a:rPr>
                            <m:t>𝑃</m:t>
                          </m:r>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𝑃</m:t>
                          </m:r>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𝑁</m:t>
                          </m:r>
                        </m:den>
                      </m:f>
                    </m:oMath>
                  </m:oMathPara>
                </a14:m>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其中，</a:t>
                </a:r>
                <a:r>
                  <a:rPr lang="en-US" altLang="zh-CN" sz="1200" b="0" i="1" dirty="0">
                    <a:latin typeface="Arial" panose="020B0604020202020204" pitchFamily="34" charset="0"/>
                    <a:ea typeface="微软雅黑" panose="020B0503020204020204" pitchFamily="34" charset="-122"/>
                    <a:cs typeface="Arial" panose="020B0604020202020204" pitchFamily="34" charset="0"/>
                  </a:rPr>
                  <a:t>S</a:t>
                </a:r>
                <a:r>
                  <a:rPr lang="zh-CN" altLang="en-US" sz="1200" b="0" dirty="0">
                    <a:latin typeface="Arial" panose="020B0604020202020204" pitchFamily="34" charset="0"/>
                    <a:ea typeface="微软雅黑" panose="020B0503020204020204" pitchFamily="34" charset="-122"/>
                    <a:cs typeface="Arial" panose="020B0604020202020204" pitchFamily="34" charset="0"/>
                  </a:rPr>
                  <a:t>表示加速后总体性能的提升倍数，</a:t>
                </a:r>
                <a:r>
                  <a:rPr lang="en-US" altLang="zh-CN" sz="1200" b="0" i="1" dirty="0">
                    <a:latin typeface="Arial" panose="020B0604020202020204" pitchFamily="34" charset="0"/>
                    <a:ea typeface="微软雅黑" panose="020B0503020204020204" pitchFamily="34" charset="-122"/>
                    <a:cs typeface="Arial" panose="020B0604020202020204" pitchFamily="34" charset="0"/>
                  </a:rPr>
                  <a:t>P</a:t>
                </a:r>
                <a:r>
                  <a:rPr lang="zh-CN" altLang="en-US" sz="1200" b="0" dirty="0">
                    <a:latin typeface="Arial" panose="020B0604020202020204" pitchFamily="34" charset="0"/>
                    <a:ea typeface="微软雅黑" panose="020B0503020204020204" pitchFamily="34" charset="-122"/>
                    <a:cs typeface="Arial" panose="020B0604020202020204" pitchFamily="34" charset="0"/>
                  </a:rPr>
                  <a:t>是程序中可以并行化的代码部分所占的比例（介于</a:t>
                </a:r>
                <a:r>
                  <a:rPr lang="en-US" altLang="zh-CN" sz="1200" b="0" dirty="0">
                    <a:latin typeface="Arial" panose="020B0604020202020204" pitchFamily="34" charset="0"/>
                    <a:ea typeface="微软雅黑" panose="020B0503020204020204" pitchFamily="34" charset="-122"/>
                    <a:cs typeface="Arial" panose="020B0604020202020204" pitchFamily="34" charset="0"/>
                  </a:rPr>
                  <a:t>0</a:t>
                </a:r>
                <a:r>
                  <a:rPr lang="zh-CN" altLang="en-US" sz="1200" b="0" dirty="0">
                    <a:latin typeface="Arial" panose="020B0604020202020204" pitchFamily="34" charset="0"/>
                    <a:ea typeface="微软雅黑" panose="020B0503020204020204" pitchFamily="34" charset="-122"/>
                    <a:cs typeface="Arial" panose="020B0604020202020204" pitchFamily="34" charset="0"/>
                  </a:rPr>
                  <a:t>和</a:t>
                </a:r>
                <a:r>
                  <a:rPr lang="en-US" altLang="zh-CN" sz="1200" b="0" dirty="0">
                    <a:latin typeface="Arial" panose="020B0604020202020204" pitchFamily="34" charset="0"/>
                    <a:ea typeface="微软雅黑" panose="020B0503020204020204" pitchFamily="34" charset="-122"/>
                    <a:cs typeface="Arial" panose="020B0604020202020204" pitchFamily="34" charset="0"/>
                  </a:rPr>
                  <a:t>1</a:t>
                </a:r>
                <a:r>
                  <a:rPr lang="zh-CN" altLang="en-US" sz="1200" b="0" dirty="0">
                    <a:latin typeface="Arial" panose="020B0604020202020204" pitchFamily="34" charset="0"/>
                    <a:ea typeface="微软雅黑" panose="020B0503020204020204" pitchFamily="34" charset="-122"/>
                    <a:cs typeface="Arial" panose="020B0604020202020204" pitchFamily="34" charset="0"/>
                  </a:rPr>
                  <a:t>之间），</a:t>
                </a:r>
                <a:r>
                  <a:rPr lang="en-US" altLang="zh-CN" sz="1200" b="0" i="1" dirty="0">
                    <a:latin typeface="Arial" panose="020B0604020202020204" pitchFamily="34" charset="0"/>
                    <a:ea typeface="微软雅黑" panose="020B0503020204020204" pitchFamily="34" charset="-122"/>
                    <a:cs typeface="Arial" panose="020B0604020202020204" pitchFamily="34" charset="0"/>
                  </a:rPr>
                  <a:t>N</a:t>
                </a:r>
                <a:r>
                  <a:rPr lang="zh-CN" altLang="en-US" sz="1200" b="0" dirty="0">
                    <a:latin typeface="Arial" panose="020B0604020202020204" pitchFamily="34" charset="0"/>
                    <a:ea typeface="微软雅黑" panose="020B0503020204020204" pitchFamily="34" charset="-122"/>
                    <a:cs typeface="Arial" panose="020B0604020202020204" pitchFamily="34" charset="0"/>
                  </a:rPr>
                  <a:t>是用于并行处理的处理器数量。</a:t>
                </a:r>
              </a:p>
              <a:p>
                <a:pPr marL="126000"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阿姆达尔定律的核心观点是，并行计算的最大性能提升受限于</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程序中无法并行化</a:t>
                </a:r>
                <a:r>
                  <a:rPr lang="zh-CN" altLang="en-US" sz="1200" b="0" dirty="0">
                    <a:latin typeface="Arial" panose="020B0604020202020204" pitchFamily="34" charset="0"/>
                    <a:ea typeface="微软雅黑" panose="020B0503020204020204" pitchFamily="34" charset="-122"/>
                    <a:cs typeface="Arial" panose="020B0604020202020204" pitchFamily="34" charset="0"/>
                  </a:rPr>
                  <a:t>的部分。即使并行部分的速度被无限加速（即</a:t>
                </a:r>
                <a:r>
                  <a:rPr lang="en-US" altLang="zh-CN" sz="1200" b="0" i="1" dirty="0">
                    <a:latin typeface="Arial" panose="020B0604020202020204" pitchFamily="34" charset="0"/>
                    <a:ea typeface="微软雅黑" panose="020B0503020204020204" pitchFamily="34" charset="-122"/>
                    <a:cs typeface="Arial" panose="020B0604020202020204" pitchFamily="34" charset="0"/>
                  </a:rPr>
                  <a:t>N</a:t>
                </a:r>
                <a:r>
                  <a:rPr lang="zh-CN" altLang="en-US" sz="1200" b="0" dirty="0">
                    <a:latin typeface="Arial" panose="020B0604020202020204" pitchFamily="34" charset="0"/>
                    <a:ea typeface="微软雅黑" panose="020B0503020204020204" pitchFamily="34" charset="-122"/>
                    <a:cs typeface="Arial" panose="020B0604020202020204" pitchFamily="34" charset="0"/>
                  </a:rPr>
                  <a:t>→</a:t>
                </a:r>
                <a:r>
                  <a:rPr lang="en-US" altLang="zh-CN" sz="1200" b="0" dirty="0">
                    <a:latin typeface="Arial" panose="020B0604020202020204" pitchFamily="34" charset="0"/>
                    <a:ea typeface="微软雅黑" panose="020B0503020204020204" pitchFamily="34" charset="-122"/>
                    <a:cs typeface="Arial" panose="020B0604020202020204" pitchFamily="34" charset="0"/>
                  </a:rPr>
                  <a:t>∞</a:t>
                </a:r>
                <a:r>
                  <a:rPr lang="zh-CN" altLang="en-US" sz="1200" b="0" dirty="0">
                    <a:latin typeface="Arial" panose="020B0604020202020204" pitchFamily="34" charset="0"/>
                    <a:ea typeface="微软雅黑" panose="020B0503020204020204" pitchFamily="34" charset="-122"/>
                    <a:cs typeface="Arial" panose="020B0604020202020204" pitchFamily="34" charset="0"/>
                  </a:rPr>
                  <a:t>） ，总体加速比也永远不会超过</a:t>
                </a:r>
                <a14:m>
                  <m:oMath xmlns:m="http://schemas.openxmlformats.org/officeDocument/2006/math">
                    <m:r>
                      <a:rPr lang="en-US" altLang="zh-CN" sz="1200" b="1">
                        <a:solidFill>
                          <a:srgbClr val="C00000"/>
                        </a:solidFill>
                        <a:latin typeface="Cambria Math" panose="02040503050406030204" pitchFamily="18" charset="0"/>
                        <a:ea typeface="微软雅黑" panose="020B0503020204020204" pitchFamily="34" charset="-122"/>
                        <a:cs typeface="Arial" panose="020B0604020202020204" pitchFamily="34" charset="0"/>
                      </a:rPr>
                      <m:t>1/(1−</m:t>
                    </m:r>
                    <m:r>
                      <a:rPr lang="en-US" altLang="zh-CN" sz="1200" b="1">
                        <a:solidFill>
                          <a:srgbClr val="C00000"/>
                        </a:solidFill>
                        <a:latin typeface="Cambria Math" panose="02040503050406030204" pitchFamily="18" charset="0"/>
                        <a:ea typeface="微软雅黑" panose="020B0503020204020204" pitchFamily="34" charset="-122"/>
                        <a:cs typeface="Arial" panose="020B0604020202020204" pitchFamily="34" charset="0"/>
                      </a:rPr>
                      <m:t>𝑃</m:t>
                    </m:r>
                    <m:r>
                      <a:rPr lang="en-US" altLang="zh-CN" sz="1200" b="1">
                        <a:solidFill>
                          <a:srgbClr val="C00000"/>
                        </a:solidFill>
                        <a:latin typeface="Cambria Math" panose="02040503050406030204" pitchFamily="18" charset="0"/>
                        <a:ea typeface="微软雅黑" panose="020B0503020204020204" pitchFamily="34" charset="-122"/>
                        <a:cs typeface="Arial" panose="020B0604020202020204" pitchFamily="34" charset="0"/>
                      </a:rPr>
                      <m:t>)</m:t>
                    </m:r>
                  </m:oMath>
                </a14:m>
                <a:r>
                  <a:rPr lang="zh-CN" altLang="en-US" sz="1200" b="0" dirty="0">
                    <a:latin typeface="Arial" panose="020B0604020202020204" pitchFamily="34" charset="0"/>
                    <a:ea typeface="微软雅黑" panose="020B0503020204020204" pitchFamily="34" charset="-122"/>
                    <a:cs typeface="Arial" panose="020B0604020202020204" pitchFamily="34" charset="0"/>
                  </a:rPr>
                  <a:t>。因此，如果一个程序有</a:t>
                </a:r>
                <a:r>
                  <a:rPr lang="en-US" altLang="zh-CN" sz="1200" b="0" dirty="0">
                    <a:latin typeface="Arial" panose="020B0604020202020204" pitchFamily="34" charset="0"/>
                    <a:ea typeface="微软雅黑" panose="020B0503020204020204" pitchFamily="34" charset="-122"/>
                    <a:cs typeface="Arial" panose="020B0604020202020204" pitchFamily="34" charset="0"/>
                  </a:rPr>
                  <a:t>10%</a:t>
                </a:r>
                <a:r>
                  <a:rPr lang="zh-CN" altLang="en-US" sz="1200" b="0" dirty="0">
                    <a:latin typeface="Arial" panose="020B0604020202020204" pitchFamily="34" charset="0"/>
                    <a:ea typeface="微软雅黑" panose="020B0503020204020204" pitchFamily="34" charset="-122"/>
                    <a:cs typeface="Arial" panose="020B0604020202020204" pitchFamily="34" charset="0"/>
                  </a:rPr>
                  <a:t>的代码是串行的（</a:t>
                </a:r>
                <a:r>
                  <a:rPr lang="en-US" altLang="zh-CN" sz="1200" b="0" i="1" dirty="0">
                    <a:latin typeface="Arial" panose="020B0604020202020204" pitchFamily="34" charset="0"/>
                    <a:ea typeface="微软雅黑" panose="020B0503020204020204" pitchFamily="34" charset="-122"/>
                    <a:cs typeface="Arial" panose="020B0604020202020204" pitchFamily="34" charset="0"/>
                  </a:rPr>
                  <a:t>P</a:t>
                </a:r>
                <a:r>
                  <a:rPr lang="en-US" altLang="zh-CN" sz="1200" b="0" dirty="0">
                    <a:latin typeface="Arial" panose="020B0604020202020204" pitchFamily="34" charset="0"/>
                    <a:ea typeface="微软雅黑" panose="020B0503020204020204" pitchFamily="34" charset="-122"/>
                    <a:cs typeface="Arial" panose="020B0604020202020204" pitchFamily="34" charset="0"/>
                  </a:rPr>
                  <a:t>=0.9</a:t>
                </a:r>
                <a:r>
                  <a:rPr lang="zh-CN" altLang="en-US" sz="1200" b="0" dirty="0">
                    <a:latin typeface="Arial" panose="020B0604020202020204" pitchFamily="34" charset="0"/>
                    <a:ea typeface="微软雅黑" panose="020B0503020204020204" pitchFamily="34" charset="-122"/>
                    <a:cs typeface="Arial" panose="020B0604020202020204" pitchFamily="34" charset="0"/>
                  </a:rPr>
                  <a:t>），那么即使在无限多的处理器上运行，最大加速比也只能达到</a:t>
                </a:r>
                <a:r>
                  <a:rPr lang="en-US" altLang="zh-CN" sz="1200" b="0" dirty="0">
                    <a:latin typeface="Arial" panose="020B0604020202020204" pitchFamily="34" charset="0"/>
                    <a:ea typeface="微软雅黑" panose="020B0503020204020204" pitchFamily="34" charset="-122"/>
                    <a:cs typeface="Arial" panose="020B0604020202020204" pitchFamily="34" charset="0"/>
                  </a:rPr>
                  <a:t>10</a:t>
                </a:r>
                <a:r>
                  <a:rPr lang="zh-CN" altLang="en-US" sz="1200" b="0" dirty="0">
                    <a:latin typeface="Arial" panose="020B0604020202020204" pitchFamily="34" charset="0"/>
                    <a:ea typeface="微软雅黑" panose="020B0503020204020204" pitchFamily="34" charset="-122"/>
                    <a:cs typeface="Arial" panose="020B0604020202020204" pitchFamily="34" charset="0"/>
                  </a:rPr>
                  <a:t>倍，因为串行部分的执行时间成了瓶颈。</a:t>
                </a:r>
              </a:p>
              <a:p>
                <a:pPr marL="126000"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阿姆达尔定律强调了优化程序性能的一个重要策略，即尽可能增加程序的可并行化比例。同时它也揭示了并行计算面临的挑战，特别是对于那些难以大幅度并行化的应用或算法。</a:t>
                </a:r>
              </a:p>
            </p:txBody>
          </p:sp>
        </mc:Choice>
        <mc:Fallback xmlns="">
          <p:sp>
            <p:nvSpPr>
              <p:cNvPr id="3" name="文本框 2">
                <a:extLst>
                  <a:ext uri="{FF2B5EF4-FFF2-40B4-BE49-F238E27FC236}">
                    <a16:creationId xmlns:a16="http://schemas.microsoft.com/office/drawing/2014/main" id="{FD4DBCF7-1E88-3E62-EB2A-BF05303CF3DA}"/>
                  </a:ext>
                </a:extLst>
              </p:cNvPr>
              <p:cNvSpPr txBox="1">
                <a:spLocks noRot="1" noChangeAspect="1" noMove="1" noResize="1" noEditPoints="1" noAdjustHandles="1" noChangeArrowheads="1" noChangeShapeType="1" noTextEdit="1"/>
              </p:cNvSpPr>
              <p:nvPr/>
            </p:nvSpPr>
            <p:spPr>
              <a:xfrm>
                <a:off x="1002605" y="1886594"/>
                <a:ext cx="10191552" cy="3528210"/>
              </a:xfrm>
              <a:prstGeom prst="rect">
                <a:avLst/>
              </a:prstGeom>
              <a:blipFill>
                <a:blip r:embed="rId2"/>
                <a:stretch>
                  <a:fillRect b="-3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0618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1ED58-0C7E-2925-D5FD-A141104A9A6D}"/>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51691874-A9B8-440B-9E13-94C32DB8AD5F}"/>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8" name="矩形: 圆角 7">
            <a:extLst>
              <a:ext uri="{FF2B5EF4-FFF2-40B4-BE49-F238E27FC236}">
                <a16:creationId xmlns:a16="http://schemas.microsoft.com/office/drawing/2014/main" id="{150127EC-80C5-301F-7947-C4DD8E4548C0}"/>
              </a:ext>
            </a:extLst>
          </p:cNvPr>
          <p:cNvSpPr/>
          <p:nvPr/>
        </p:nvSpPr>
        <p:spPr>
          <a:xfrm>
            <a:off x="4712642"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589F79E9-6CBE-FCCD-5305-DF6329EC49C2}"/>
              </a:ext>
            </a:extLst>
          </p:cNvPr>
          <p:cNvSpPr txBox="1"/>
          <p:nvPr/>
        </p:nvSpPr>
        <p:spPr>
          <a:xfrm>
            <a:off x="5265051" y="2213479"/>
            <a:ext cx="2262158"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并行计算的基本原理</a:t>
            </a:r>
          </a:p>
        </p:txBody>
      </p:sp>
      <p:sp>
        <p:nvSpPr>
          <p:cNvPr id="14" name="矩形: 圆角 13">
            <a:extLst>
              <a:ext uri="{FF2B5EF4-FFF2-40B4-BE49-F238E27FC236}">
                <a16:creationId xmlns:a16="http://schemas.microsoft.com/office/drawing/2014/main" id="{62CA2CAA-DC14-74ED-268E-115C501E8624}"/>
              </a:ext>
            </a:extLst>
          </p:cNvPr>
          <p:cNvSpPr/>
          <p:nvPr/>
        </p:nvSpPr>
        <p:spPr>
          <a:xfrm>
            <a:off x="4712642" y="2856782"/>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a:extLst>
              <a:ext uri="{FF2B5EF4-FFF2-40B4-BE49-F238E27FC236}">
                <a16:creationId xmlns:a16="http://schemas.microsoft.com/office/drawing/2014/main" id="{00637DE0-9192-83FD-7B58-7F5A5D0612F0}"/>
              </a:ext>
            </a:extLst>
          </p:cNvPr>
          <p:cNvSpPr txBox="1"/>
          <p:nvPr/>
        </p:nvSpPr>
        <p:spPr>
          <a:xfrm>
            <a:off x="5265051" y="2900716"/>
            <a:ext cx="2637260" cy="369332"/>
          </a:xfrm>
          <a:prstGeom prst="rect">
            <a:avLst/>
          </a:prstGeom>
          <a:noFill/>
        </p:spPr>
        <p:txBody>
          <a:bodyPr wrap="none">
            <a:spAutoFit/>
          </a:bodyPr>
          <a:lstStyle/>
          <a:p>
            <a:pPr marL="642915" indent="-822915">
              <a:buSzTx/>
              <a:buNone/>
              <a:defRPr sz="3600">
                <a:solidFill>
                  <a:srgbClr val="FF2600"/>
                </a:solidFill>
              </a:defRPr>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开发环境准备</a:t>
            </a:r>
          </a:p>
        </p:txBody>
      </p:sp>
      <p:sp>
        <p:nvSpPr>
          <p:cNvPr id="16" name="矩形: 圆角 15">
            <a:extLst>
              <a:ext uri="{FF2B5EF4-FFF2-40B4-BE49-F238E27FC236}">
                <a16:creationId xmlns:a16="http://schemas.microsoft.com/office/drawing/2014/main" id="{1CA6E417-BA08-8054-C845-D79CB2A2E526}"/>
              </a:ext>
            </a:extLst>
          </p:cNvPr>
          <p:cNvSpPr/>
          <p:nvPr/>
        </p:nvSpPr>
        <p:spPr>
          <a:xfrm>
            <a:off x="4712642"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6087E3FA-8290-C2ED-7769-88E6F04481B2}"/>
              </a:ext>
            </a:extLst>
          </p:cNvPr>
          <p:cNvSpPr txBox="1"/>
          <p:nvPr/>
        </p:nvSpPr>
        <p:spPr>
          <a:xfrm>
            <a:off x="5265051" y="3587953"/>
            <a:ext cx="2829621" cy="369332"/>
          </a:xfrm>
          <a:prstGeom prst="rect">
            <a:avLst/>
          </a:prstGeom>
          <a:noFill/>
        </p:spPr>
        <p:txBody>
          <a:bodyPr wrap="none">
            <a:spAutoFit/>
          </a:bodyPr>
          <a:lstStyle/>
          <a:p>
            <a:pPr marL="642915" indent="-822915">
              <a:buSzTx/>
              <a:buNone/>
              <a:defRPr sz="3600">
                <a:solidFill>
                  <a:srgbClr val="FF2600"/>
                </a:solidFill>
              </a:defRPr>
            </a:pPr>
            <a:r>
              <a:rPr lang="en-US" altLang="zh-CN"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算子的开发调用</a:t>
            </a:r>
          </a:p>
        </p:txBody>
      </p:sp>
      <p:sp>
        <p:nvSpPr>
          <p:cNvPr id="18" name="矩形: 圆角 17">
            <a:extLst>
              <a:ext uri="{FF2B5EF4-FFF2-40B4-BE49-F238E27FC236}">
                <a16:creationId xmlns:a16="http://schemas.microsoft.com/office/drawing/2014/main" id="{25E9FD84-86D8-038C-B1B0-8572C1DBB6E0}"/>
              </a:ext>
            </a:extLst>
          </p:cNvPr>
          <p:cNvSpPr/>
          <p:nvPr/>
        </p:nvSpPr>
        <p:spPr>
          <a:xfrm>
            <a:off x="4712642"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71043BF5-EDAB-471D-D0D4-7D37E8BC9FA9}"/>
              </a:ext>
            </a:extLst>
          </p:cNvPr>
          <p:cNvSpPr txBox="1"/>
          <p:nvPr/>
        </p:nvSpPr>
        <p:spPr>
          <a:xfrm>
            <a:off x="5265051" y="4275190"/>
            <a:ext cx="2954655"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昇腾向量加法程序的加速比</a:t>
            </a:r>
          </a:p>
        </p:txBody>
      </p:sp>
    </p:spTree>
    <p:extLst>
      <p:ext uri="{BB962C8B-B14F-4D97-AF65-F5344CB8AC3E}">
        <p14:creationId xmlns:p14="http://schemas.microsoft.com/office/powerpoint/2010/main" val="4207375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5D7C2-3451-5F70-63CE-397C0AF2E307}"/>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CF093A01-C7BA-24F1-C430-9744653CEF8B}"/>
              </a:ext>
            </a:extLst>
          </p:cNvPr>
          <p:cNvSpPr txBox="1">
            <a:spLocks/>
          </p:cNvSpPr>
          <p:nvPr/>
        </p:nvSpPr>
        <p:spPr>
          <a:xfrm>
            <a:off x="4387013" y="411900"/>
            <a:ext cx="342273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软件包获取</a:t>
            </a:r>
          </a:p>
        </p:txBody>
      </p:sp>
      <p:sp>
        <p:nvSpPr>
          <p:cNvPr id="2" name="文本占位符 2">
            <a:extLst>
              <a:ext uri="{FF2B5EF4-FFF2-40B4-BE49-F238E27FC236}">
                <a16:creationId xmlns:a16="http://schemas.microsoft.com/office/drawing/2014/main" id="{64549DDE-977B-5410-B46B-1FCCF23E1B3B}"/>
              </a:ext>
            </a:extLst>
          </p:cNvPr>
          <p:cNvSpPr txBox="1">
            <a:spLocks/>
          </p:cNvSpPr>
          <p:nvPr/>
        </p:nvSpPr>
        <p:spPr>
          <a:xfrm>
            <a:off x="590549" y="1670655"/>
            <a:ext cx="3370859" cy="61337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昇腾社区网址：</a:t>
            </a:r>
            <a:r>
              <a:rPr lang="en-US" altLang="zh-CN" sz="1200" b="1" dirty="0">
                <a:latin typeface="Arial" panose="020B0604020202020204" pitchFamily="34" charset="0"/>
                <a:ea typeface="微软雅黑" panose="020B0503020204020204" pitchFamily="34" charset="-122"/>
                <a:cs typeface="Arial" panose="020B0604020202020204" pitchFamily="34" charset="0"/>
                <a:hlinkClick r:id="rId2"/>
              </a:rPr>
              <a:t>https://www.hiascend.com/</a:t>
            </a:r>
            <a:endParaRPr lang="en-US" altLang="zh-CN" sz="1200" b="1"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下载位置：</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AE28CB5B-887D-0FAB-DFCC-A78EEC86B81A}"/>
              </a:ext>
            </a:extLst>
          </p:cNvPr>
          <p:cNvPicPr>
            <a:picLocks noChangeAspect="1"/>
          </p:cNvPicPr>
          <p:nvPr/>
        </p:nvPicPr>
        <p:blipFill>
          <a:blip r:embed="rId3"/>
          <a:stretch>
            <a:fillRect/>
          </a:stretch>
        </p:blipFill>
        <p:spPr>
          <a:xfrm>
            <a:off x="590549" y="2466004"/>
            <a:ext cx="11015664" cy="3245216"/>
          </a:xfrm>
          <a:prstGeom prst="rect">
            <a:avLst/>
          </a:prstGeom>
        </p:spPr>
      </p:pic>
    </p:spTree>
    <p:extLst>
      <p:ext uri="{BB962C8B-B14F-4D97-AF65-F5344CB8AC3E}">
        <p14:creationId xmlns:p14="http://schemas.microsoft.com/office/powerpoint/2010/main" val="2108625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F2CBA-1D51-025C-61D8-4C6FC9E838EF}"/>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05C6E86A-78B0-4EBE-2ECF-5BF1C75DC51A}"/>
              </a:ext>
            </a:extLst>
          </p:cNvPr>
          <p:cNvSpPr txBox="1">
            <a:spLocks/>
          </p:cNvSpPr>
          <p:nvPr/>
        </p:nvSpPr>
        <p:spPr>
          <a:xfrm>
            <a:off x="4387013" y="411900"/>
            <a:ext cx="342273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软件包获取</a:t>
            </a:r>
          </a:p>
        </p:txBody>
      </p:sp>
      <p:pic>
        <p:nvPicPr>
          <p:cNvPr id="3" name="图片 2">
            <a:extLst>
              <a:ext uri="{FF2B5EF4-FFF2-40B4-BE49-F238E27FC236}">
                <a16:creationId xmlns:a16="http://schemas.microsoft.com/office/drawing/2014/main" id="{5BD5C130-5AF1-1B43-CAD7-A9B94BF45477}"/>
              </a:ext>
            </a:extLst>
          </p:cNvPr>
          <p:cNvPicPr>
            <a:picLocks noChangeAspect="1"/>
          </p:cNvPicPr>
          <p:nvPr/>
        </p:nvPicPr>
        <p:blipFill>
          <a:blip r:embed="rId2"/>
          <a:stretch>
            <a:fillRect/>
          </a:stretch>
        </p:blipFill>
        <p:spPr>
          <a:xfrm>
            <a:off x="1661784" y="2139822"/>
            <a:ext cx="8873194" cy="3761463"/>
          </a:xfrm>
          <a:prstGeom prst="rect">
            <a:avLst/>
          </a:prstGeom>
        </p:spPr>
      </p:pic>
      <p:sp>
        <p:nvSpPr>
          <p:cNvPr id="4" name="文本占位符 2">
            <a:extLst>
              <a:ext uri="{FF2B5EF4-FFF2-40B4-BE49-F238E27FC236}">
                <a16:creationId xmlns:a16="http://schemas.microsoft.com/office/drawing/2014/main" id="{550533F7-8C6C-85F7-9292-DCCDCFE3E697}"/>
              </a:ext>
            </a:extLst>
          </p:cNvPr>
          <p:cNvSpPr txBox="1">
            <a:spLocks/>
          </p:cNvSpPr>
          <p:nvPr/>
        </p:nvSpPr>
        <p:spPr>
          <a:xfrm>
            <a:off x="1661784" y="1327755"/>
            <a:ext cx="2347437" cy="61337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选择 </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“社区版”</a:t>
            </a:r>
            <a:r>
              <a:rPr lang="zh-CN" altLang="en-US" sz="1200" dirty="0">
                <a:latin typeface="Arial" panose="020B0604020202020204" pitchFamily="34" charset="0"/>
                <a:ea typeface="微软雅黑" panose="020B0503020204020204" pitchFamily="34" charset="-122"/>
                <a:cs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rPr>
              <a:t>or </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商用版”</a:t>
            </a: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推荐使用 </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“社区版”</a:t>
            </a:r>
          </a:p>
        </p:txBody>
      </p:sp>
    </p:spTree>
    <p:extLst>
      <p:ext uri="{BB962C8B-B14F-4D97-AF65-F5344CB8AC3E}">
        <p14:creationId xmlns:p14="http://schemas.microsoft.com/office/powerpoint/2010/main" val="189038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15915-4A96-92F6-47E9-763555F6D0F9}"/>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0FEF8D2E-642E-E0A7-85A8-9D4F509B694B}"/>
              </a:ext>
            </a:extLst>
          </p:cNvPr>
          <p:cNvSpPr txBox="1">
            <a:spLocks/>
          </p:cNvSpPr>
          <p:nvPr/>
        </p:nvSpPr>
        <p:spPr>
          <a:xfrm>
            <a:off x="4387013" y="411900"/>
            <a:ext cx="342273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软件包获取</a:t>
            </a:r>
          </a:p>
        </p:txBody>
      </p:sp>
      <p:pic>
        <p:nvPicPr>
          <p:cNvPr id="3" name="图片 2">
            <a:extLst>
              <a:ext uri="{FF2B5EF4-FFF2-40B4-BE49-F238E27FC236}">
                <a16:creationId xmlns:a16="http://schemas.microsoft.com/office/drawing/2014/main" id="{A8CA513E-3C12-7A09-3236-C7E506137569}"/>
              </a:ext>
            </a:extLst>
          </p:cNvPr>
          <p:cNvPicPr>
            <a:picLocks noChangeAspect="1"/>
          </p:cNvPicPr>
          <p:nvPr/>
        </p:nvPicPr>
        <p:blipFill>
          <a:blip r:embed="rId2"/>
          <a:stretch>
            <a:fillRect/>
          </a:stretch>
        </p:blipFill>
        <p:spPr>
          <a:xfrm>
            <a:off x="1671637" y="1821273"/>
            <a:ext cx="8853488" cy="4373152"/>
          </a:xfrm>
          <a:prstGeom prst="rect">
            <a:avLst/>
          </a:prstGeom>
        </p:spPr>
      </p:pic>
      <p:sp>
        <p:nvSpPr>
          <p:cNvPr id="4" name="文本占位符 2">
            <a:extLst>
              <a:ext uri="{FF2B5EF4-FFF2-40B4-BE49-F238E27FC236}">
                <a16:creationId xmlns:a16="http://schemas.microsoft.com/office/drawing/2014/main" id="{6EBEB280-2EFC-BBAA-018D-260D3B98CC8A}"/>
              </a:ext>
            </a:extLst>
          </p:cNvPr>
          <p:cNvSpPr txBox="1">
            <a:spLocks/>
          </p:cNvSpPr>
          <p:nvPr/>
        </p:nvSpPr>
        <p:spPr>
          <a:xfrm>
            <a:off x="1671637" y="1327755"/>
            <a:ext cx="1261884" cy="336374"/>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选择下载版本：</a:t>
            </a:r>
          </a:p>
        </p:txBody>
      </p:sp>
    </p:spTree>
    <p:extLst>
      <p:ext uri="{BB962C8B-B14F-4D97-AF65-F5344CB8AC3E}">
        <p14:creationId xmlns:p14="http://schemas.microsoft.com/office/powerpoint/2010/main" val="386090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9FB72-94E2-1813-3072-3E7DCD0CD005}"/>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2268F194-98C1-C2A6-2719-219DE90F28F3}"/>
              </a:ext>
            </a:extLst>
          </p:cNvPr>
          <p:cNvSpPr txBox="1">
            <a:spLocks/>
          </p:cNvSpPr>
          <p:nvPr/>
        </p:nvSpPr>
        <p:spPr>
          <a:xfrm>
            <a:off x="3078162" y="411900"/>
            <a:ext cx="604043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发布版本信息（</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Release Note</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p>
        </p:txBody>
      </p:sp>
      <p:pic>
        <p:nvPicPr>
          <p:cNvPr id="2" name="图片 1">
            <a:extLst>
              <a:ext uri="{FF2B5EF4-FFF2-40B4-BE49-F238E27FC236}">
                <a16:creationId xmlns:a16="http://schemas.microsoft.com/office/drawing/2014/main" id="{8B091EB9-3278-6B18-4652-48A54EDD81EC}"/>
              </a:ext>
            </a:extLst>
          </p:cNvPr>
          <p:cNvPicPr>
            <a:picLocks noChangeAspect="1"/>
          </p:cNvPicPr>
          <p:nvPr/>
        </p:nvPicPr>
        <p:blipFill>
          <a:blip r:embed="rId2"/>
          <a:stretch>
            <a:fillRect/>
          </a:stretch>
        </p:blipFill>
        <p:spPr>
          <a:xfrm>
            <a:off x="590549" y="1836532"/>
            <a:ext cx="11015664" cy="3725956"/>
          </a:xfrm>
          <a:prstGeom prst="rect">
            <a:avLst/>
          </a:prstGeom>
        </p:spPr>
      </p:pic>
    </p:spTree>
    <p:extLst>
      <p:ext uri="{BB962C8B-B14F-4D97-AF65-F5344CB8AC3E}">
        <p14:creationId xmlns:p14="http://schemas.microsoft.com/office/powerpoint/2010/main" val="2174406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C9E39-C3A8-30A0-DB02-C42D22D8BCA6}"/>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032CBD04-FEC2-6F00-1175-72CCA6958424}"/>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第三方依赖</a:t>
            </a:r>
          </a:p>
        </p:txBody>
      </p:sp>
      <p:pic>
        <p:nvPicPr>
          <p:cNvPr id="2" name="图片 1">
            <a:extLst>
              <a:ext uri="{FF2B5EF4-FFF2-40B4-BE49-F238E27FC236}">
                <a16:creationId xmlns:a16="http://schemas.microsoft.com/office/drawing/2014/main" id="{148C5263-852D-8777-F0C7-8878D9F189B8}"/>
              </a:ext>
            </a:extLst>
          </p:cNvPr>
          <p:cNvPicPr>
            <a:picLocks noChangeAspect="1"/>
          </p:cNvPicPr>
          <p:nvPr/>
        </p:nvPicPr>
        <p:blipFill>
          <a:blip r:embed="rId2"/>
          <a:stretch>
            <a:fillRect/>
          </a:stretch>
        </p:blipFill>
        <p:spPr>
          <a:xfrm>
            <a:off x="2388528" y="1485760"/>
            <a:ext cx="7419706" cy="4441168"/>
          </a:xfrm>
          <a:prstGeom prst="rect">
            <a:avLst/>
          </a:prstGeom>
        </p:spPr>
      </p:pic>
    </p:spTree>
    <p:extLst>
      <p:ext uri="{BB962C8B-B14F-4D97-AF65-F5344CB8AC3E}">
        <p14:creationId xmlns:p14="http://schemas.microsoft.com/office/powerpoint/2010/main" val="193271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89DA0-AE20-DCA3-BAF7-C684DB5EFAB6}"/>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149A638A-61C4-D24D-7B5A-C265C274FBF4}"/>
              </a:ext>
            </a:extLst>
          </p:cNvPr>
          <p:cNvSpPr txBox="1">
            <a:spLocks/>
          </p:cNvSpPr>
          <p:nvPr/>
        </p:nvSpPr>
        <p:spPr>
          <a:xfrm>
            <a:off x="4387013" y="411900"/>
            <a:ext cx="342273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软件包安装</a:t>
            </a:r>
          </a:p>
        </p:txBody>
      </p:sp>
      <p:sp>
        <p:nvSpPr>
          <p:cNvPr id="2" name="文本占位符 2">
            <a:extLst>
              <a:ext uri="{FF2B5EF4-FFF2-40B4-BE49-F238E27FC236}">
                <a16:creationId xmlns:a16="http://schemas.microsoft.com/office/drawing/2014/main" id="{01847EB5-C078-65C1-627E-8B10330EC710}"/>
              </a:ext>
            </a:extLst>
          </p:cNvPr>
          <p:cNvSpPr txBox="1">
            <a:spLocks/>
          </p:cNvSpPr>
          <p:nvPr/>
        </p:nvSpPr>
        <p:spPr>
          <a:xfrm>
            <a:off x="3164905" y="2283254"/>
            <a:ext cx="1107996" cy="336374"/>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命令行安装：</a:t>
            </a:r>
          </a:p>
        </p:txBody>
      </p:sp>
      <p:pic>
        <p:nvPicPr>
          <p:cNvPr id="3" name="图片 2">
            <a:extLst>
              <a:ext uri="{FF2B5EF4-FFF2-40B4-BE49-F238E27FC236}">
                <a16:creationId xmlns:a16="http://schemas.microsoft.com/office/drawing/2014/main" id="{EF510EE3-6CC0-075E-36AA-CFB7E212ED9E}"/>
              </a:ext>
            </a:extLst>
          </p:cNvPr>
          <p:cNvPicPr>
            <a:picLocks noChangeAspect="1"/>
          </p:cNvPicPr>
          <p:nvPr/>
        </p:nvPicPr>
        <p:blipFill>
          <a:blip r:embed="rId2">
            <a:clrChange>
              <a:clrFrom>
                <a:srgbClr val="F5F6F7"/>
              </a:clrFrom>
              <a:clrTo>
                <a:srgbClr val="F5F6F7">
                  <a:alpha val="0"/>
                </a:srgbClr>
              </a:clrTo>
            </a:clrChange>
          </a:blip>
          <a:stretch>
            <a:fillRect/>
          </a:stretch>
        </p:blipFill>
        <p:spPr>
          <a:xfrm>
            <a:off x="3164905" y="2779111"/>
            <a:ext cx="5866952" cy="1092632"/>
          </a:xfrm>
          <a:prstGeom prst="rect">
            <a:avLst/>
          </a:prstGeom>
        </p:spPr>
      </p:pic>
    </p:spTree>
    <p:extLst>
      <p:ext uri="{BB962C8B-B14F-4D97-AF65-F5344CB8AC3E}">
        <p14:creationId xmlns:p14="http://schemas.microsoft.com/office/powerpoint/2010/main" val="2704149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67FB4-B26E-1C54-EA6B-F1E5225D2012}"/>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3FE37DF3-BE9F-8F70-0CBC-5F1236547054}"/>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8" name="矩形: 圆角 7">
            <a:extLst>
              <a:ext uri="{FF2B5EF4-FFF2-40B4-BE49-F238E27FC236}">
                <a16:creationId xmlns:a16="http://schemas.microsoft.com/office/drawing/2014/main" id="{2854BF42-4687-595C-F2B6-16D2868FE96F}"/>
              </a:ext>
            </a:extLst>
          </p:cNvPr>
          <p:cNvSpPr/>
          <p:nvPr/>
        </p:nvSpPr>
        <p:spPr>
          <a:xfrm>
            <a:off x="4712642"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6B964F5A-2D8C-6BF8-4BA8-EE4D84FD287B}"/>
              </a:ext>
            </a:extLst>
          </p:cNvPr>
          <p:cNvSpPr txBox="1"/>
          <p:nvPr/>
        </p:nvSpPr>
        <p:spPr>
          <a:xfrm>
            <a:off x="5265051" y="2213479"/>
            <a:ext cx="2262158"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并行计算的基本原理</a:t>
            </a:r>
          </a:p>
        </p:txBody>
      </p:sp>
      <p:sp>
        <p:nvSpPr>
          <p:cNvPr id="14" name="矩形: 圆角 13">
            <a:extLst>
              <a:ext uri="{FF2B5EF4-FFF2-40B4-BE49-F238E27FC236}">
                <a16:creationId xmlns:a16="http://schemas.microsoft.com/office/drawing/2014/main" id="{7527EDA9-A7C0-C4B1-3D89-7720C4832637}"/>
              </a:ext>
            </a:extLst>
          </p:cNvPr>
          <p:cNvSpPr/>
          <p:nvPr/>
        </p:nvSpPr>
        <p:spPr>
          <a:xfrm>
            <a:off x="4712642"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a:extLst>
              <a:ext uri="{FF2B5EF4-FFF2-40B4-BE49-F238E27FC236}">
                <a16:creationId xmlns:a16="http://schemas.microsoft.com/office/drawing/2014/main" id="{439E3918-7867-D6CE-A2C0-BDF696AFCE18}"/>
              </a:ext>
            </a:extLst>
          </p:cNvPr>
          <p:cNvSpPr txBox="1"/>
          <p:nvPr/>
        </p:nvSpPr>
        <p:spPr>
          <a:xfrm>
            <a:off x="5265051" y="2900716"/>
            <a:ext cx="2598788" cy="369332"/>
          </a:xfrm>
          <a:prstGeom prst="rect">
            <a:avLst/>
          </a:prstGeom>
          <a:noFill/>
        </p:spPr>
        <p:txBody>
          <a:bodyPr wrap="none">
            <a:spAutoFit/>
          </a:bodyPr>
          <a:lstStyle/>
          <a:p>
            <a:pPr marL="642915" indent="-822915">
              <a:buSzTx/>
              <a:buNone/>
              <a:defRPr sz="3600">
                <a:solidFill>
                  <a:srgbClr val="FF2600"/>
                </a:solidFill>
              </a:defRPr>
            </a:pPr>
            <a:r>
              <a:rPr lang="en-US" altLang="zh-CN"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开发环境准备</a:t>
            </a:r>
          </a:p>
        </p:txBody>
      </p:sp>
      <p:sp>
        <p:nvSpPr>
          <p:cNvPr id="16" name="矩形: 圆角 15">
            <a:extLst>
              <a:ext uri="{FF2B5EF4-FFF2-40B4-BE49-F238E27FC236}">
                <a16:creationId xmlns:a16="http://schemas.microsoft.com/office/drawing/2014/main" id="{BA982E45-2A33-414D-D859-560ECDF107B5}"/>
              </a:ext>
            </a:extLst>
          </p:cNvPr>
          <p:cNvSpPr/>
          <p:nvPr/>
        </p:nvSpPr>
        <p:spPr>
          <a:xfrm>
            <a:off x="4712642" y="3544019"/>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57C73E29-0878-4403-54CC-BEBACFD93EEB}"/>
              </a:ext>
            </a:extLst>
          </p:cNvPr>
          <p:cNvSpPr txBox="1"/>
          <p:nvPr/>
        </p:nvSpPr>
        <p:spPr>
          <a:xfrm>
            <a:off x="5265051" y="3587953"/>
            <a:ext cx="2868093" cy="369332"/>
          </a:xfrm>
          <a:prstGeom prst="rect">
            <a:avLst/>
          </a:prstGeom>
          <a:noFill/>
        </p:spPr>
        <p:txBody>
          <a:bodyPr wrap="none">
            <a:spAutoFit/>
          </a:bodyPr>
          <a:lstStyle/>
          <a:p>
            <a:pPr marL="642915" indent="-822915">
              <a:buSzTx/>
              <a:buNone/>
              <a:defRPr sz="3600">
                <a:solidFill>
                  <a:srgbClr val="FF2600"/>
                </a:solidFill>
              </a:defRPr>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算子的开发调用</a:t>
            </a:r>
          </a:p>
        </p:txBody>
      </p:sp>
      <p:sp>
        <p:nvSpPr>
          <p:cNvPr id="18" name="矩形: 圆角 17">
            <a:extLst>
              <a:ext uri="{FF2B5EF4-FFF2-40B4-BE49-F238E27FC236}">
                <a16:creationId xmlns:a16="http://schemas.microsoft.com/office/drawing/2014/main" id="{D70FAD31-1079-8C33-095E-8F86BBE261FC}"/>
              </a:ext>
            </a:extLst>
          </p:cNvPr>
          <p:cNvSpPr/>
          <p:nvPr/>
        </p:nvSpPr>
        <p:spPr>
          <a:xfrm>
            <a:off x="4712642"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5E5FDD7A-3EB5-E4C5-648A-95DDEAA1AB8A}"/>
              </a:ext>
            </a:extLst>
          </p:cNvPr>
          <p:cNvSpPr txBox="1"/>
          <p:nvPr/>
        </p:nvSpPr>
        <p:spPr>
          <a:xfrm>
            <a:off x="5265051" y="4275190"/>
            <a:ext cx="2954655"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昇腾向量加法程序的加速比</a:t>
            </a:r>
          </a:p>
        </p:txBody>
      </p:sp>
    </p:spTree>
    <p:extLst>
      <p:ext uri="{BB962C8B-B14F-4D97-AF65-F5344CB8AC3E}">
        <p14:creationId xmlns:p14="http://schemas.microsoft.com/office/powerpoint/2010/main" val="94685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E5077-46D7-3893-1119-A8AB12E5A16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C0D3AAAE-E494-C5E9-BFDD-177EE5A88767}"/>
              </a:ext>
            </a:extLst>
          </p:cNvPr>
          <p:cNvSpPr txBox="1">
            <a:spLocks/>
          </p:cNvSpPr>
          <p:nvPr/>
        </p:nvSpPr>
        <p:spPr>
          <a:xfrm>
            <a:off x="4387013" y="411900"/>
            <a:ext cx="342273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算子的类型</a:t>
            </a:r>
          </a:p>
        </p:txBody>
      </p:sp>
      <p:sp>
        <p:nvSpPr>
          <p:cNvPr id="2" name="文本占位符 2">
            <a:extLst>
              <a:ext uri="{FF2B5EF4-FFF2-40B4-BE49-F238E27FC236}">
                <a16:creationId xmlns:a16="http://schemas.microsoft.com/office/drawing/2014/main" id="{543C98BB-BAB7-FE60-308B-DCBB3F22B570}"/>
              </a:ext>
            </a:extLst>
          </p:cNvPr>
          <p:cNvSpPr txBox="1">
            <a:spLocks/>
          </p:cNvSpPr>
          <p:nvPr/>
        </p:nvSpPr>
        <p:spPr>
          <a:xfrm>
            <a:off x="2549012" y="1629047"/>
            <a:ext cx="7098738" cy="139820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spcAft>
                <a:spcPts val="600"/>
              </a:spcAft>
            </a:pP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CANN</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算子有</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2</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类，分为</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a:t>
            </a:r>
            <a:endPar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spcAft>
                <a:spcPts val="600"/>
              </a:spcAft>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运行在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上的算子，执行数据密集的矩阵、向量及标量运算。</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spcAft>
                <a:spcPts val="600"/>
              </a:spcAft>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运行在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上的算子，执行不适合在</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中运行的算子，即非矩阵类复杂计算。</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spcAft>
                <a:spcPts val="600"/>
              </a:spcAft>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本课程主要介绍</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a:t>
            </a:r>
          </a:p>
        </p:txBody>
      </p:sp>
      <p:pic>
        <p:nvPicPr>
          <p:cNvPr id="3" name="图片 2">
            <a:extLst>
              <a:ext uri="{FF2B5EF4-FFF2-40B4-BE49-F238E27FC236}">
                <a16:creationId xmlns:a16="http://schemas.microsoft.com/office/drawing/2014/main" id="{5C00D563-2061-3AD8-F5FF-BE5A966C5AF8}"/>
              </a:ext>
            </a:extLst>
          </p:cNvPr>
          <p:cNvPicPr>
            <a:picLocks noChangeAspect="1"/>
          </p:cNvPicPr>
          <p:nvPr/>
        </p:nvPicPr>
        <p:blipFill>
          <a:blip r:embed="rId2"/>
          <a:stretch>
            <a:fillRect/>
          </a:stretch>
        </p:blipFill>
        <p:spPr>
          <a:xfrm>
            <a:off x="3208037" y="3248469"/>
            <a:ext cx="5780688" cy="2513042"/>
          </a:xfrm>
          <a:prstGeom prst="rect">
            <a:avLst/>
          </a:prstGeom>
        </p:spPr>
      </p:pic>
    </p:spTree>
    <p:extLst>
      <p:ext uri="{BB962C8B-B14F-4D97-AF65-F5344CB8AC3E}">
        <p14:creationId xmlns:p14="http://schemas.microsoft.com/office/powerpoint/2010/main" val="2411966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70485-C911-52F7-D341-6EDD818863CB}"/>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0E721977-4897-FFEC-1E3C-F04BD7942A8F}"/>
              </a:ext>
            </a:extLst>
          </p:cNvPr>
          <p:cNvSpPr txBox="1">
            <a:spLocks/>
          </p:cNvSpPr>
          <p:nvPr/>
        </p:nvSpPr>
        <p:spPr>
          <a:xfrm>
            <a:off x="3258500" y="411900"/>
            <a:ext cx="567976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算子编译执行涉及组件</a:t>
            </a:r>
          </a:p>
        </p:txBody>
      </p:sp>
      <p:sp>
        <p:nvSpPr>
          <p:cNvPr id="2" name="椭圆 1">
            <a:extLst>
              <a:ext uri="{FF2B5EF4-FFF2-40B4-BE49-F238E27FC236}">
                <a16:creationId xmlns:a16="http://schemas.microsoft.com/office/drawing/2014/main" id="{3AA72E95-8570-C888-2DE8-5FD55429732A}"/>
              </a:ext>
            </a:extLst>
          </p:cNvPr>
          <p:cNvSpPr/>
          <p:nvPr/>
        </p:nvSpPr>
        <p:spPr>
          <a:xfrm>
            <a:off x="4164806" y="1981200"/>
            <a:ext cx="3867150" cy="3867150"/>
          </a:xfrm>
          <a:prstGeom prst="ellipse">
            <a:avLst/>
          </a:prstGeom>
          <a:noFill/>
          <a:ln w="76200">
            <a:solidFill>
              <a:schemeClr val="bg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 name="椭圆 2">
            <a:extLst>
              <a:ext uri="{FF2B5EF4-FFF2-40B4-BE49-F238E27FC236}">
                <a16:creationId xmlns:a16="http://schemas.microsoft.com/office/drawing/2014/main" id="{8748F2FA-3596-8FA5-B946-7A002001BE0E}"/>
              </a:ext>
            </a:extLst>
          </p:cNvPr>
          <p:cNvSpPr/>
          <p:nvPr/>
        </p:nvSpPr>
        <p:spPr>
          <a:xfrm>
            <a:off x="5422105" y="1304925"/>
            <a:ext cx="1352550" cy="1352550"/>
          </a:xfrm>
          <a:prstGeom prst="ellipse">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a:r>
              <a:rPr lang="en-US" altLang="zh-CN" sz="1200" dirty="0">
                <a:solidFill>
                  <a:srgbClr val="000000"/>
                </a:solidFill>
                <a:latin typeface="Arial" panose="020B0604020202020204" pitchFamily="34" charset="0"/>
                <a:cs typeface="Arial" panose="020B0604020202020204" pitchFamily="34" charset="0"/>
              </a:rPr>
              <a:t>GE</a:t>
            </a:r>
          </a:p>
          <a:p>
            <a:pPr lvl="0" algn="ctr"/>
            <a:r>
              <a:rPr lang="zh-CN" altLang="en-US" sz="1200" dirty="0">
                <a:solidFill>
                  <a:srgbClr val="000000"/>
                </a:solidFill>
                <a:latin typeface="Arial" panose="020B0604020202020204" pitchFamily="34" charset="0"/>
                <a:cs typeface="Arial" panose="020B0604020202020204" pitchFamily="34" charset="0"/>
              </a:rPr>
              <a:t>（</a:t>
            </a:r>
            <a:r>
              <a:rPr lang="en-US" altLang="zh-CN" sz="1200" dirty="0">
                <a:solidFill>
                  <a:srgbClr val="000000"/>
                </a:solidFill>
                <a:latin typeface="Arial" panose="020B0604020202020204" pitchFamily="34" charset="0"/>
                <a:cs typeface="Arial" panose="020B0604020202020204" pitchFamily="34" charset="0"/>
              </a:rPr>
              <a:t>Graph Engine</a:t>
            </a:r>
            <a:r>
              <a:rPr lang="zh-CN" altLang="en-US" sz="1200" dirty="0">
                <a:solidFill>
                  <a:srgbClr val="000000"/>
                </a:solidFill>
                <a:latin typeface="Arial" panose="020B0604020202020204" pitchFamily="34" charset="0"/>
                <a:cs typeface="Arial" panose="020B0604020202020204" pitchFamily="34" charset="0"/>
              </a:rPr>
              <a:t>）</a:t>
            </a:r>
          </a:p>
        </p:txBody>
      </p:sp>
      <p:sp>
        <p:nvSpPr>
          <p:cNvPr id="4" name="椭圆 3">
            <a:extLst>
              <a:ext uri="{FF2B5EF4-FFF2-40B4-BE49-F238E27FC236}">
                <a16:creationId xmlns:a16="http://schemas.microsoft.com/office/drawing/2014/main" id="{13F10D39-8345-E176-7C0E-BD4B507DF2D8}"/>
              </a:ext>
            </a:extLst>
          </p:cNvPr>
          <p:cNvSpPr/>
          <p:nvPr/>
        </p:nvSpPr>
        <p:spPr>
          <a:xfrm>
            <a:off x="3620690" y="2678250"/>
            <a:ext cx="1352550" cy="1352550"/>
          </a:xfrm>
          <a:prstGeom prst="ellipse">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a:r>
              <a:rPr lang="en-US" altLang="zh-CN" sz="1200" dirty="0">
                <a:solidFill>
                  <a:srgbClr val="000000"/>
                </a:solidFill>
                <a:latin typeface="Arial" panose="020B0604020202020204" pitchFamily="34" charset="0"/>
                <a:cs typeface="Arial" panose="020B0604020202020204" pitchFamily="34" charset="0"/>
              </a:rPr>
              <a:t>Data Processor</a:t>
            </a:r>
          </a:p>
        </p:txBody>
      </p:sp>
      <p:sp>
        <p:nvSpPr>
          <p:cNvPr id="5" name="椭圆 4">
            <a:extLst>
              <a:ext uri="{FF2B5EF4-FFF2-40B4-BE49-F238E27FC236}">
                <a16:creationId xmlns:a16="http://schemas.microsoft.com/office/drawing/2014/main" id="{A642B24E-CF18-96A6-8855-DC5D021AB60E}"/>
              </a:ext>
            </a:extLst>
          </p:cNvPr>
          <p:cNvSpPr/>
          <p:nvPr/>
        </p:nvSpPr>
        <p:spPr>
          <a:xfrm>
            <a:off x="7223522" y="2678250"/>
            <a:ext cx="1352550" cy="1352550"/>
          </a:xfrm>
          <a:prstGeom prst="ellipse">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a:r>
              <a:rPr lang="en-US" altLang="zh-CN" sz="1200" dirty="0">
                <a:solidFill>
                  <a:srgbClr val="000000"/>
                </a:solidFill>
                <a:latin typeface="Arial" panose="020B0604020202020204" pitchFamily="34" charset="0"/>
                <a:cs typeface="Arial" panose="020B0604020202020204" pitchFamily="34" charset="0"/>
              </a:rPr>
              <a:t>AI CPU Engine</a:t>
            </a:r>
          </a:p>
        </p:txBody>
      </p:sp>
      <p:sp>
        <p:nvSpPr>
          <p:cNvPr id="7" name="椭圆 6">
            <a:extLst>
              <a:ext uri="{FF2B5EF4-FFF2-40B4-BE49-F238E27FC236}">
                <a16:creationId xmlns:a16="http://schemas.microsoft.com/office/drawing/2014/main" id="{2AA51E29-A39F-33F4-1FCC-6327D5D82A40}"/>
              </a:ext>
            </a:extLst>
          </p:cNvPr>
          <p:cNvSpPr/>
          <p:nvPr/>
        </p:nvSpPr>
        <p:spPr>
          <a:xfrm>
            <a:off x="6615113" y="4727850"/>
            <a:ext cx="1352550" cy="1352550"/>
          </a:xfrm>
          <a:prstGeom prst="ellipse">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a:r>
              <a:rPr lang="en-US" altLang="zh-CN" sz="1200" dirty="0">
                <a:solidFill>
                  <a:srgbClr val="000000"/>
                </a:solidFill>
                <a:latin typeface="Arial" panose="020B0604020202020204" pitchFamily="34" charset="0"/>
                <a:cs typeface="Arial" panose="020B0604020202020204" pitchFamily="34" charset="0"/>
              </a:rPr>
              <a:t>AI CPU Schedule</a:t>
            </a:r>
          </a:p>
        </p:txBody>
      </p:sp>
      <p:sp>
        <p:nvSpPr>
          <p:cNvPr id="8" name="椭圆 7">
            <a:extLst>
              <a:ext uri="{FF2B5EF4-FFF2-40B4-BE49-F238E27FC236}">
                <a16:creationId xmlns:a16="http://schemas.microsoft.com/office/drawing/2014/main" id="{01422AE3-CE46-0566-B44A-31F199018E7C}"/>
              </a:ext>
            </a:extLst>
          </p:cNvPr>
          <p:cNvSpPr/>
          <p:nvPr/>
        </p:nvSpPr>
        <p:spPr>
          <a:xfrm>
            <a:off x="4229100" y="4727850"/>
            <a:ext cx="1352550" cy="1352550"/>
          </a:xfrm>
          <a:prstGeom prst="ellipse">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a:r>
              <a:rPr lang="en-US" altLang="zh-CN" sz="1200" dirty="0">
                <a:solidFill>
                  <a:srgbClr val="000000"/>
                </a:solidFill>
                <a:latin typeface="Arial" panose="020B0604020202020204" pitchFamily="34" charset="0"/>
                <a:cs typeface="Arial" panose="020B0604020202020204" pitchFamily="34" charset="0"/>
              </a:rPr>
              <a:t>AI CPU Processor</a:t>
            </a:r>
          </a:p>
        </p:txBody>
      </p:sp>
      <p:sp>
        <p:nvSpPr>
          <p:cNvPr id="13" name="椭圆 12">
            <a:extLst>
              <a:ext uri="{FF2B5EF4-FFF2-40B4-BE49-F238E27FC236}">
                <a16:creationId xmlns:a16="http://schemas.microsoft.com/office/drawing/2014/main" id="{5D3993BB-DF77-1A08-A6BE-DC8F4DB229A2}"/>
              </a:ext>
            </a:extLst>
          </p:cNvPr>
          <p:cNvSpPr/>
          <p:nvPr/>
        </p:nvSpPr>
        <p:spPr>
          <a:xfrm>
            <a:off x="5422106" y="3238500"/>
            <a:ext cx="1352550" cy="13525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a:r>
              <a:rPr lang="en-US" altLang="zh-CN" sz="1600" b="1" dirty="0">
                <a:solidFill>
                  <a:schemeClr val="tx2"/>
                </a:solidFill>
                <a:latin typeface="Arial" panose="020B0604020202020204" pitchFamily="34" charset="0"/>
                <a:cs typeface="Arial" panose="020B0604020202020204" pitchFamily="34" charset="0"/>
              </a:rPr>
              <a:t>AI CPU</a:t>
            </a:r>
          </a:p>
        </p:txBody>
      </p:sp>
    </p:spTree>
    <p:extLst>
      <p:ext uri="{BB962C8B-B14F-4D97-AF65-F5344CB8AC3E}">
        <p14:creationId xmlns:p14="http://schemas.microsoft.com/office/powerpoint/2010/main" val="2287869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A389F-F138-3E39-9358-00037003BB3D}"/>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4436F70-5AD8-FEAD-F3B7-DDCBF1718AC1}"/>
              </a:ext>
            </a:extLst>
          </p:cNvPr>
          <p:cNvSpPr txBox="1">
            <a:spLocks/>
          </p:cNvSpPr>
          <p:nvPr/>
        </p:nvSpPr>
        <p:spPr>
          <a:xfrm>
            <a:off x="4489606" y="411900"/>
            <a:ext cx="3217547"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算子简介</a:t>
            </a:r>
          </a:p>
        </p:txBody>
      </p:sp>
      <p:sp>
        <p:nvSpPr>
          <p:cNvPr id="3" name="文本框 2">
            <a:extLst>
              <a:ext uri="{FF2B5EF4-FFF2-40B4-BE49-F238E27FC236}">
                <a16:creationId xmlns:a16="http://schemas.microsoft.com/office/drawing/2014/main" id="{9F82BDBC-8528-C1CA-5007-AD1568CF17BE}"/>
              </a:ext>
            </a:extLst>
          </p:cNvPr>
          <p:cNvSpPr txBox="1"/>
          <p:nvPr/>
        </p:nvSpPr>
        <p:spPr>
          <a:xfrm>
            <a:off x="2055019" y="2452899"/>
            <a:ext cx="8086725" cy="1952201"/>
          </a:xfrm>
          <a:prstGeom prst="rect">
            <a:avLst/>
          </a:prstGeom>
          <a:noFill/>
        </p:spPr>
        <p:txBody>
          <a:bodyPr wrap="square">
            <a:spAutoFit/>
          </a:bodyPr>
          <a:lstStyle/>
          <a:p>
            <a:pPr marL="0" indent="0">
              <a:spcAft>
                <a:spcPts val="600"/>
              </a:spcAft>
              <a:buNone/>
            </a:pPr>
            <a:r>
              <a:rPr kumimoji="0" lang="zh-CN" altLang="en-US"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rPr>
              <a:t>在以下</a:t>
            </a:r>
            <a:r>
              <a:rPr kumimoji="0" lang="en-US" altLang="zh-CN"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rPr>
              <a:t>3</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种情况下，可以使用</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方式实现自定义算子。</a:t>
            </a:r>
            <a:endParaRPr kumimoji="0" lang="zh-CN" altLang="en-US"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a:p>
            <a:pPr marL="126000" lvl="1" indent="-126000">
              <a:lnSpc>
                <a:spcPct val="150000"/>
              </a:lnSpc>
              <a:spcAft>
                <a:spcPts val="600"/>
              </a:spcAft>
              <a:buFont typeface="Arial" panose="020B0604020202020204" pitchFamily="34" charset="0"/>
              <a:buChar cha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不适合跑在</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上的算子，例如非矩阵类的复杂计算，逻辑比较复杂的分支密集型算子等；例如离散数据类的计算，资源管理类的计算，依赖随机数生成类的计算。</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Aft>
                <a:spcPts val="600"/>
              </a:spcAft>
              <a:buFont typeface="Arial" panose="020B0604020202020204" pitchFamily="34" charset="0"/>
              <a:buChar char="•"/>
            </a:pP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不支持的算子，例如算子需要某些数据类型，但</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不支持；例如</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Complex32</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Complex64</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Aft>
                <a:spcPts val="600"/>
              </a:spcAft>
              <a:buFont typeface="Arial" panose="020B0604020202020204" pitchFamily="34" charset="0"/>
              <a:buChar char="•"/>
            </a:pP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某些场景下，为了快速打通模型执行流程，在</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算子实现较为困难的情况下，可通过自定义</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算子进行功能调测，提升调测效率；功能调通之后，后续性能调测过程中再将</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CPU</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自定义算子转换为</a:t>
            </a:r>
            <a:r>
              <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AI Core</a:t>
            </a:r>
            <a:r>
              <a:rPr lang="zh-CN" altLang="en-US" sz="1200" b="0" dirty="0">
                <a:solidFill>
                  <a:srgbClr val="000000"/>
                </a:solidFill>
                <a:latin typeface="Arial" panose="020B0604020202020204" pitchFamily="34" charset="0"/>
                <a:ea typeface="微软雅黑" panose="020B0503020204020204" pitchFamily="34" charset="-122"/>
                <a:cs typeface="Arial" panose="020B0604020202020204" pitchFamily="34" charset="0"/>
              </a:rPr>
              <a:t>算子实现。</a:t>
            </a:r>
            <a:endParaRPr lang="en-US" altLang="zh-CN" sz="1200" b="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17947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234E9-14EE-71EC-B1DE-E58E7BB12BE5}"/>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38BCB7C0-E085-2487-F454-E5B5236C6319}"/>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运行时架构</a:t>
            </a:r>
          </a:p>
        </p:txBody>
      </p:sp>
      <p:sp>
        <p:nvSpPr>
          <p:cNvPr id="2" name="文本占位符 2">
            <a:extLst>
              <a:ext uri="{FF2B5EF4-FFF2-40B4-BE49-F238E27FC236}">
                <a16:creationId xmlns:a16="http://schemas.microsoft.com/office/drawing/2014/main" id="{95493AF5-7E5D-8437-8F23-56E1A4B01AFA}"/>
              </a:ext>
            </a:extLst>
          </p:cNvPr>
          <p:cNvSpPr txBox="1">
            <a:spLocks/>
          </p:cNvSpPr>
          <p:nvPr/>
        </p:nvSpPr>
        <p:spPr>
          <a:xfrm>
            <a:off x="590550" y="2793926"/>
            <a:ext cx="5775744" cy="1696747"/>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70000"/>
              </a:lnSpc>
              <a:spcBef>
                <a:spcPts val="0"/>
              </a:spcBef>
              <a:spcAft>
                <a:spcPts val="600"/>
              </a:spcAft>
            </a:pPr>
            <a:r>
              <a:rPr lang="en-US" altLang="zh-CN" sz="1200" dirty="0">
                <a:latin typeface="Arial" panose="020B0604020202020204" pitchFamily="34" charset="0"/>
                <a:ea typeface="微软雅黑" panose="020B0503020204020204" pitchFamily="34" charset="-122"/>
                <a:cs typeface="Arial" panose="020B0604020202020204" pitchFamily="34" charset="0"/>
              </a:rPr>
              <a:t>Runtime</a:t>
            </a:r>
            <a:r>
              <a:rPr lang="zh-CN" altLang="en-US" sz="1200" dirty="0">
                <a:latin typeface="Arial" panose="020B0604020202020204" pitchFamily="34" charset="0"/>
                <a:ea typeface="微软雅黑" panose="020B0503020204020204" pitchFamily="34" charset="-122"/>
                <a:cs typeface="Arial" panose="020B0604020202020204" pitchFamily="34" charset="0"/>
              </a:rPr>
              <a:t>，即运行时，为神经网络的任务分配提供了资源管理通道。</a:t>
            </a:r>
            <a:r>
              <a:rPr lang="en-US" altLang="zh-CN" sz="1200" dirty="0">
                <a:latin typeface="Arial" panose="020B0604020202020204" pitchFamily="34" charset="0"/>
                <a:ea typeface="微软雅黑" panose="020B0503020204020204" pitchFamily="34" charset="-122"/>
                <a:cs typeface="Arial" panose="020B0604020202020204" pitchFamily="34" charset="0"/>
              </a:rPr>
              <a:t>Runtime</a:t>
            </a:r>
            <a:r>
              <a:rPr lang="zh-CN" altLang="en-US" sz="1200" dirty="0">
                <a:latin typeface="Arial" panose="020B0604020202020204" pitchFamily="34" charset="0"/>
                <a:ea typeface="微软雅黑" panose="020B0503020204020204" pitchFamily="34" charset="-122"/>
                <a:cs typeface="Arial" panose="020B0604020202020204" pitchFamily="34" charset="0"/>
              </a:rPr>
              <a:t>运行在应用程序的进程空间中，为应用程序提供了</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存储</a:t>
            </a:r>
            <a:r>
              <a:rPr lang="en-US" altLang="zh-CN" sz="1200" dirty="0">
                <a:latin typeface="Arial" panose="020B0604020202020204" pitchFamily="34" charset="0"/>
                <a:ea typeface="微软雅黑" panose="020B0503020204020204" pitchFamily="34" charset="-122"/>
                <a:cs typeface="Arial" panose="020B0604020202020204" pitchFamily="34" charset="0"/>
              </a:rPr>
              <a:t>(Memory)</a:t>
            </a:r>
            <a:r>
              <a:rPr lang="zh-CN" altLang="en-US" sz="1200" dirty="0">
                <a:latin typeface="Arial" panose="020B0604020202020204" pitchFamily="34" charset="0"/>
                <a:ea typeface="微软雅黑" panose="020B0503020204020204" pitchFamily="34" charset="-122"/>
                <a:cs typeface="Arial" panose="020B0604020202020204" pitchFamily="34" charset="0"/>
              </a:rPr>
              <a:t>管理、</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设备</a:t>
            </a:r>
            <a:r>
              <a:rPr lang="en-US" altLang="zh-CN" sz="1200" dirty="0">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latin typeface="Arial" panose="020B0604020202020204" pitchFamily="34" charset="0"/>
                <a:ea typeface="微软雅黑" panose="020B0503020204020204" pitchFamily="34" charset="-122"/>
                <a:cs typeface="Arial" panose="020B0604020202020204" pitchFamily="34" charset="0"/>
              </a:rPr>
              <a:t>管理、</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执行流</a:t>
            </a:r>
            <a:r>
              <a:rPr lang="en-US" altLang="zh-CN" sz="1200" dirty="0">
                <a:latin typeface="Arial" panose="020B0604020202020204" pitchFamily="34" charset="0"/>
                <a:ea typeface="微软雅黑" panose="020B0503020204020204" pitchFamily="34" charset="-122"/>
                <a:cs typeface="Arial" panose="020B0604020202020204" pitchFamily="34" charset="0"/>
              </a:rPr>
              <a:t>(Stream)</a:t>
            </a:r>
            <a:r>
              <a:rPr lang="zh-CN" altLang="en-US" sz="1200" dirty="0">
                <a:latin typeface="Arial" panose="020B0604020202020204" pitchFamily="34" charset="0"/>
                <a:ea typeface="微软雅黑" panose="020B0503020204020204" pitchFamily="34" charset="-122"/>
                <a:cs typeface="Arial" panose="020B0604020202020204" pitchFamily="34" charset="0"/>
              </a:rPr>
              <a:t>管理、</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事件</a:t>
            </a:r>
            <a:r>
              <a:rPr lang="en-US" altLang="zh-CN" sz="1200" dirty="0">
                <a:latin typeface="Arial" panose="020B0604020202020204" pitchFamily="34" charset="0"/>
                <a:ea typeface="微软雅黑" panose="020B0503020204020204" pitchFamily="34" charset="-122"/>
                <a:cs typeface="Arial" panose="020B0604020202020204" pitchFamily="34" charset="0"/>
              </a:rPr>
              <a:t>(Event)</a:t>
            </a:r>
            <a:r>
              <a:rPr lang="zh-CN" altLang="en-US" sz="1200" dirty="0">
                <a:latin typeface="Arial" panose="020B0604020202020204" pitchFamily="34" charset="0"/>
                <a:ea typeface="微软雅黑" panose="020B0503020204020204" pitchFamily="34" charset="-122"/>
                <a:cs typeface="Arial" panose="020B0604020202020204" pitchFamily="34" charset="0"/>
              </a:rPr>
              <a:t>管理、</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核</a:t>
            </a:r>
            <a:r>
              <a:rPr lang="en-US" altLang="zh-CN" sz="1200" dirty="0">
                <a:latin typeface="Arial" panose="020B0604020202020204" pitchFamily="34" charset="0"/>
                <a:ea typeface="微软雅黑" panose="020B0503020204020204" pitchFamily="34" charset="-122"/>
                <a:cs typeface="Arial" panose="020B0604020202020204" pitchFamily="34" charset="0"/>
              </a:rPr>
              <a:t>(Kernel)</a:t>
            </a:r>
            <a:r>
              <a:rPr lang="zh-CN" altLang="en-US" sz="1200" dirty="0">
                <a:latin typeface="Arial" panose="020B0604020202020204" pitchFamily="34" charset="0"/>
                <a:ea typeface="微软雅黑" panose="020B0503020204020204" pitchFamily="34" charset="-122"/>
                <a:cs typeface="Arial" panose="020B0604020202020204" pitchFamily="34" charset="0"/>
              </a:rPr>
              <a:t>函数执行等功能。</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70000"/>
              </a:lnSpc>
              <a:spcBef>
                <a:spcPts val="0"/>
              </a:spcBef>
              <a:spcAft>
                <a:spcPts val="600"/>
              </a:spcAft>
            </a:pPr>
            <a:r>
              <a:rPr lang="en-US" altLang="zh-CN" sz="1200" dirty="0">
                <a:latin typeface="Arial" panose="020B0604020202020204" pitchFamily="34" charset="0"/>
                <a:ea typeface="微软雅黑" panose="020B0503020204020204" pitchFamily="34" charset="-122"/>
                <a:cs typeface="Arial" panose="020B0604020202020204" pitchFamily="34" charset="0"/>
              </a:rPr>
              <a:t>Task Schedule</a:t>
            </a:r>
            <a:r>
              <a:rPr lang="zh-CN" altLang="en-US" sz="1200" dirty="0">
                <a:latin typeface="Arial" panose="020B0604020202020204" pitchFamily="34" charset="0"/>
                <a:ea typeface="微软雅黑" panose="020B0503020204020204" pitchFamily="34" charset="-122"/>
                <a:cs typeface="Arial" panose="020B0604020202020204" pitchFamily="34" charset="0"/>
              </a:rPr>
              <a:t>，即任务调度，运行在</a:t>
            </a:r>
            <a:r>
              <a:rPr lang="en-US" altLang="zh-CN" sz="1200" dirty="0">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latin typeface="Arial" panose="020B0604020202020204" pitchFamily="34" charset="0"/>
                <a:ea typeface="微软雅黑" panose="020B0503020204020204" pitchFamily="34" charset="-122"/>
                <a:cs typeface="Arial" panose="020B0604020202020204" pitchFamily="34" charset="0"/>
              </a:rPr>
              <a:t>侧的任务调度</a:t>
            </a:r>
            <a:r>
              <a:rPr lang="en-US" altLang="zh-CN" sz="1200" dirty="0">
                <a:latin typeface="Arial" panose="020B0604020202020204" pitchFamily="34" charset="0"/>
                <a:ea typeface="微软雅黑" panose="020B0503020204020204" pitchFamily="34" charset="-122"/>
                <a:cs typeface="Arial" panose="020B0604020202020204" pitchFamily="34" charset="0"/>
              </a:rPr>
              <a:t>CPU </a:t>
            </a:r>
            <a:r>
              <a:rPr lang="zh-CN" altLang="en-US" sz="1200" dirty="0">
                <a:latin typeface="Arial" panose="020B0604020202020204" pitchFamily="34" charset="0"/>
                <a:ea typeface="微软雅黑" panose="020B0503020204020204" pitchFamily="34" charset="-122"/>
                <a:cs typeface="Arial" panose="020B0604020202020204" pitchFamily="34" charset="0"/>
              </a:rPr>
              <a:t>上，负责将</a:t>
            </a:r>
            <a:r>
              <a:rPr lang="en-US" altLang="zh-CN" sz="1200" dirty="0">
                <a:latin typeface="Arial" panose="020B0604020202020204" pitchFamily="34" charset="0"/>
                <a:ea typeface="微软雅黑" panose="020B0503020204020204" pitchFamily="34" charset="-122"/>
                <a:cs typeface="Arial" panose="020B0604020202020204" pitchFamily="34" charset="0"/>
              </a:rPr>
              <a:t>Runtime</a:t>
            </a:r>
            <a:r>
              <a:rPr lang="zh-CN" altLang="en-US" sz="1200" dirty="0">
                <a:latin typeface="Arial" panose="020B0604020202020204" pitchFamily="34" charset="0"/>
                <a:ea typeface="微软雅黑" panose="020B0503020204020204" pitchFamily="34" charset="-122"/>
                <a:cs typeface="Arial" panose="020B0604020202020204" pitchFamily="34" charset="0"/>
              </a:rPr>
              <a:t>分发的具体任务进一步分发到</a:t>
            </a:r>
            <a:r>
              <a:rPr lang="en-US" altLang="zh-CN" sz="1200" dirty="0">
                <a:latin typeface="Arial" panose="020B0604020202020204" pitchFamily="34" charset="0"/>
                <a:ea typeface="微软雅黑" panose="020B0503020204020204" pitchFamily="34" charset="-122"/>
                <a:cs typeface="Arial" panose="020B0604020202020204" pitchFamily="34" charset="0"/>
              </a:rPr>
              <a:t>AI CPU </a:t>
            </a:r>
            <a:r>
              <a:rPr lang="zh-CN" altLang="en-US" sz="1200" dirty="0">
                <a:latin typeface="Arial" panose="020B0604020202020204" pitchFamily="34" charset="0"/>
                <a:ea typeface="微软雅黑" panose="020B0503020204020204" pitchFamily="34" charset="-122"/>
                <a:cs typeface="Arial" panose="020B0604020202020204" pitchFamily="34" charset="0"/>
              </a:rPr>
              <a:t>上。</a:t>
            </a:r>
          </a:p>
        </p:txBody>
      </p:sp>
      <p:pic>
        <p:nvPicPr>
          <p:cNvPr id="3" name="图片 2">
            <a:extLst>
              <a:ext uri="{FF2B5EF4-FFF2-40B4-BE49-F238E27FC236}">
                <a16:creationId xmlns:a16="http://schemas.microsoft.com/office/drawing/2014/main" id="{45D05852-DF4C-323F-3BED-E102A3572433}"/>
              </a:ext>
            </a:extLst>
          </p:cNvPr>
          <p:cNvPicPr>
            <a:picLocks noChangeAspect="1"/>
          </p:cNvPicPr>
          <p:nvPr/>
        </p:nvPicPr>
        <p:blipFill>
          <a:blip r:embed="rId2"/>
          <a:stretch>
            <a:fillRect/>
          </a:stretch>
        </p:blipFill>
        <p:spPr>
          <a:xfrm>
            <a:off x="6497002" y="1818438"/>
            <a:ext cx="4763334" cy="3647722"/>
          </a:xfrm>
          <a:prstGeom prst="rect">
            <a:avLst/>
          </a:prstGeom>
        </p:spPr>
      </p:pic>
    </p:spTree>
    <p:extLst>
      <p:ext uri="{BB962C8B-B14F-4D97-AF65-F5344CB8AC3E}">
        <p14:creationId xmlns:p14="http://schemas.microsoft.com/office/powerpoint/2010/main" val="4108516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188C-0090-3C36-E0B2-652B6D34FF07}"/>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3D1D491B-292F-1F4F-9D69-E64EF003F2BC}"/>
              </a:ext>
            </a:extLst>
          </p:cNvPr>
          <p:cNvSpPr txBox="1">
            <a:spLocks/>
          </p:cNvSpPr>
          <p:nvPr/>
        </p:nvSpPr>
        <p:spPr>
          <a:xfrm>
            <a:off x="4569756" y="411900"/>
            <a:ext cx="3057247"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运行时关键模块</a:t>
            </a:r>
          </a:p>
        </p:txBody>
      </p:sp>
      <p:sp>
        <p:nvSpPr>
          <p:cNvPr id="3" name="矩形 20">
            <a:extLst>
              <a:ext uri="{FF2B5EF4-FFF2-40B4-BE49-F238E27FC236}">
                <a16:creationId xmlns:a16="http://schemas.microsoft.com/office/drawing/2014/main" id="{F7F30E91-2E8D-43B0-050B-A01D4655F65A}"/>
              </a:ext>
            </a:extLst>
          </p:cNvPr>
          <p:cNvSpPr/>
          <p:nvPr/>
        </p:nvSpPr>
        <p:spPr>
          <a:xfrm>
            <a:off x="1094381" y="2322004"/>
            <a:ext cx="10008000" cy="2568071"/>
          </a:xfrm>
          <a:prstGeom prst="rect">
            <a:avLst/>
          </a:prstGeom>
          <a:gradFill>
            <a:gsLst>
              <a:gs pos="0">
                <a:schemeClr val="bg1">
                  <a:lumMod val="20000"/>
                  <a:lumOff val="80000"/>
                  <a:alpha val="50000"/>
                </a:schemeClr>
              </a:gs>
              <a:gs pos="100000">
                <a:schemeClr val="bg1">
                  <a:lumMod val="20000"/>
                  <a:lumOff val="80000"/>
                  <a:alpha val="0"/>
                </a:schemeClr>
              </a:gs>
            </a:gsLst>
            <a:lin ang="5400000" scaled="0"/>
          </a:gradFill>
          <a:ln w="3175">
            <a:gradFill>
              <a:gsLst>
                <a:gs pos="0">
                  <a:schemeClr val="bg1">
                    <a:lumMod val="20000"/>
                    <a:lumOff val="80000"/>
                    <a:alpha val="0"/>
                  </a:schemeClr>
                </a:gs>
                <a:gs pos="100000">
                  <a:schemeClr val="bg1">
                    <a:lumMod val="20000"/>
                    <a:lumOff val="80000"/>
                    <a:alpha val="50000"/>
                  </a:schemeClr>
                </a:gs>
              </a:gsLst>
              <a:lin ang="5400000" scaled="0"/>
            </a:gradFill>
            <a:round/>
            <a:headEnd/>
            <a:tailEnd/>
          </a:ln>
        </p:spPr>
        <p:txBody>
          <a:bodyPr vert="horz" wrap="square" lIns="91440" tIns="45720" rIns="91440" bIns="45720" numCol="1" anchor="ctr" anchorCtr="0" compatLnSpc="1">
            <a:prstTxWarp prst="textNoShape">
              <a:avLst/>
            </a:prstTxWarp>
          </a:bodyPr>
          <a:lstStyle/>
          <a:p>
            <a:pPr algn="ctr">
              <a:spcAft>
                <a:spcPts val="600"/>
              </a:spcAft>
            </a:pPr>
            <a:endParaRPr sz="1200" dirty="0">
              <a:latin typeface="Arial" panose="020B0604020202020204" pitchFamily="34" charset="0"/>
              <a:ea typeface="微软雅黑" panose="020B0503020204020204" pitchFamily="34" charset="-122"/>
              <a:cs typeface="Arial" panose="020B0604020202020204" pitchFamily="34" charset="0"/>
            </a:endParaRPr>
          </a:p>
        </p:txBody>
      </p:sp>
      <p:graphicFrame>
        <p:nvGraphicFramePr>
          <p:cNvPr id="2" name="表格 1">
            <a:extLst>
              <a:ext uri="{FF2B5EF4-FFF2-40B4-BE49-F238E27FC236}">
                <a16:creationId xmlns:a16="http://schemas.microsoft.com/office/drawing/2014/main" id="{A9C2E3E8-149D-BB71-EF14-FACC55DBFCAF}"/>
              </a:ext>
            </a:extLst>
          </p:cNvPr>
          <p:cNvGraphicFramePr>
            <a:graphicFrameLocks noGrp="1"/>
          </p:cNvGraphicFramePr>
          <p:nvPr>
            <p:extLst>
              <p:ext uri="{D42A27DB-BD31-4B8C-83A1-F6EECF244321}">
                <p14:modId xmlns:p14="http://schemas.microsoft.com/office/powerpoint/2010/main" val="3849016454"/>
              </p:ext>
            </p:extLst>
          </p:nvPr>
        </p:nvGraphicFramePr>
        <p:xfrm>
          <a:off x="1094381" y="2322004"/>
          <a:ext cx="10008000" cy="2568070"/>
        </p:xfrm>
        <a:graphic>
          <a:graphicData uri="http://schemas.openxmlformats.org/drawingml/2006/table">
            <a:tbl>
              <a:tblPr firstRow="1" bandRow="1"/>
              <a:tblGrid>
                <a:gridCol w="1675159">
                  <a:extLst>
                    <a:ext uri="{9D8B030D-6E8A-4147-A177-3AD203B41FA5}">
                      <a16:colId xmlns:a16="http://schemas.microsoft.com/office/drawing/2014/main" val="3615748786"/>
                    </a:ext>
                  </a:extLst>
                </a:gridCol>
                <a:gridCol w="8332841">
                  <a:extLst>
                    <a:ext uri="{9D8B030D-6E8A-4147-A177-3AD203B41FA5}">
                      <a16:colId xmlns:a16="http://schemas.microsoft.com/office/drawing/2014/main" val="1472380900"/>
                    </a:ext>
                  </a:extLst>
                </a:gridCol>
              </a:tblGrid>
              <a:tr h="428417">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800" b="1" u="none" strike="noStrike" cap="none" spc="0" baseline="0" dirty="0">
                          <a:solidFill>
                            <a:srgbClr val="C00000"/>
                          </a:solidFill>
                          <a:uFillTx/>
                          <a:latin typeface="Arial" panose="020B0604020202020204" pitchFamily="34" charset="0"/>
                          <a:ea typeface="微软雅黑" panose="020B0503020204020204" pitchFamily="34" charset="-122"/>
                          <a:cs typeface="Arial" panose="020B0604020202020204" pitchFamily="34" charset="0"/>
                          <a:sym typeface="Georgia"/>
                        </a:rPr>
                        <a:t>模块名称</a:t>
                      </a:r>
                      <a:endParaRPr lang="zh-CN" altLang="en-US" sz="1800" b="1" i="0" u="none" strike="noStrike" cap="none" spc="0" baseline="0" dirty="0">
                        <a:solidFill>
                          <a:srgbClr val="C00000"/>
                        </a:solidFill>
                        <a:uFillTx/>
                        <a:latin typeface="Arial" panose="020B0604020202020204" pitchFamily="34" charset="0"/>
                        <a:ea typeface="微软雅黑" panose="020B0503020204020204" pitchFamily="34" charset="-122"/>
                        <a:cs typeface="Arial" panose="020B0604020202020204" pitchFamily="34" charset="0"/>
                        <a:sym typeface="Georgia"/>
                      </a:endParaRP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800" b="1" i="0" u="none" strike="noStrike" cap="none" spc="0" baseline="0" dirty="0">
                          <a:solidFill>
                            <a:srgbClr val="C00000"/>
                          </a:solidFill>
                          <a:uFillTx/>
                          <a:latin typeface="Arial" panose="020B0604020202020204" pitchFamily="34" charset="0"/>
                          <a:ea typeface="微软雅黑" panose="020B0503020204020204" pitchFamily="34" charset="-122"/>
                          <a:cs typeface="Arial" panose="020B0604020202020204" pitchFamily="34" charset="0"/>
                          <a:sym typeface="Georgia"/>
                        </a:rPr>
                        <a:t>功能</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010214064"/>
                  </a:ext>
                </a:extLst>
              </a:tr>
              <a:tr h="428417">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Device</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模块</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负责指定计算运行的真实设备</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428141264"/>
                  </a:ext>
                </a:extLst>
              </a:tr>
              <a:tr h="425985">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Stream</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模块</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该模块把整体计算任务分割为多个可独立执行的</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Stream</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，并发执行以提高整体并行度</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660459846"/>
                  </a:ext>
                </a:extLst>
              </a:tr>
              <a:tr h="428417">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Kernel</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模块</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负责进行核函数的调用</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330742098"/>
                  </a:ext>
                </a:extLst>
              </a:tr>
              <a:tr h="428417">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Memory</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模块</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显式在</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Host</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侧和</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Device</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侧间复制共享数据</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914321233"/>
                  </a:ext>
                </a:extLst>
              </a:tr>
              <a:tr h="428417">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Event</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模块</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tc>
                  <a:txBody>
                    <a:bodyPr/>
                    <a:lstStyle/>
                    <a:p>
                      <a:pPr marL="0" marR="0" indent="0" algn="ctr" defTabSz="822960" rtl="0" latinLnBrk="0">
                        <a:lnSpc>
                          <a:spcPct val="100000"/>
                        </a:lnSpc>
                        <a:spcBef>
                          <a:spcPts val="900"/>
                        </a:spcBef>
                        <a:spcAft>
                          <a:spcPts val="0"/>
                        </a:spcAft>
                        <a:buClr>
                          <a:srgbClr val="0000FF"/>
                        </a:buClr>
                        <a:buSzPct val="120000"/>
                        <a:buFontTx/>
                        <a:buNone/>
                        <a:tabLst/>
                      </a:pP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用于</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Stream</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与</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Stream</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之间、</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Task</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与</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Host</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之间、</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Stream</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与</a:t>
                      </a:r>
                      <a:r>
                        <a:rPr lang="en-US" altLang="zh-CN"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Host</a:t>
                      </a:r>
                      <a:r>
                        <a:rPr lang="zh-CN" altLang="en-US" sz="1200" b="0" i="0" u="none" strike="noStrike" cap="none" spc="0" baseline="0" dirty="0">
                          <a:solidFill>
                            <a:srgbClr val="000000"/>
                          </a:solidFill>
                          <a:uFillTx/>
                          <a:latin typeface="Arial" panose="020B0604020202020204" pitchFamily="34" charset="0"/>
                          <a:ea typeface="微软雅黑" panose="020B0503020204020204" pitchFamily="34" charset="-122"/>
                          <a:cs typeface="Arial" panose="020B0604020202020204" pitchFamily="34" charset="0"/>
                          <a:sym typeface="Georgia"/>
                        </a:rPr>
                        <a:t>之间进行同步时触发</a:t>
                      </a:r>
                    </a:p>
                  </a:txBody>
                  <a:tcPr anchor="ctr">
                    <a:lnL w="6350" cap="flat" cmpd="sng" algn="ctr">
                      <a:solidFill>
                        <a:schemeClr val="bg1">
                          <a:lumMod val="40000"/>
                          <a:lumOff val="60000"/>
                        </a:schemeClr>
                      </a:solidFill>
                      <a:prstDash val="solid"/>
                      <a:round/>
                      <a:headEnd type="none" w="med" len="med"/>
                      <a:tailEnd type="none" w="med" len="med"/>
                    </a:lnL>
                    <a:lnR w="6350" cap="flat" cmpd="sng" algn="ctr">
                      <a:solidFill>
                        <a:schemeClr val="bg1">
                          <a:lumMod val="40000"/>
                          <a:lumOff val="60000"/>
                        </a:schemeClr>
                      </a:solidFill>
                      <a:prstDash val="solid"/>
                      <a:round/>
                      <a:headEnd type="none" w="med" len="med"/>
                      <a:tailEnd type="none" w="med" len="med"/>
                    </a:lnR>
                    <a:lnT w="6350" cap="flat" cmpd="sng" algn="ctr">
                      <a:solidFill>
                        <a:schemeClr val="bg1">
                          <a:lumMod val="40000"/>
                          <a:lumOff val="60000"/>
                        </a:schemeClr>
                      </a:solidFill>
                      <a:prstDash val="solid"/>
                      <a:round/>
                      <a:headEnd type="none" w="med" len="med"/>
                      <a:tailEnd type="none" w="med" len="med"/>
                    </a:lnT>
                    <a:lnB w="6350" cap="flat" cmpd="sng" algn="ctr">
                      <a:solidFill>
                        <a:schemeClr val="bg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489333967"/>
                  </a:ext>
                </a:extLst>
              </a:tr>
            </a:tbl>
          </a:graphicData>
        </a:graphic>
      </p:graphicFrame>
    </p:spTree>
    <p:extLst>
      <p:ext uri="{BB962C8B-B14F-4D97-AF65-F5344CB8AC3E}">
        <p14:creationId xmlns:p14="http://schemas.microsoft.com/office/powerpoint/2010/main" val="280612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5D3B-9555-DD9A-18A6-600BE256976E}"/>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406061F5-8492-AD8D-BEA5-16220370EB53}"/>
              </a:ext>
            </a:extLst>
          </p:cNvPr>
          <p:cNvSpPr txBox="1">
            <a:spLocks/>
          </p:cNvSpPr>
          <p:nvPr/>
        </p:nvSpPr>
        <p:spPr>
          <a:xfrm>
            <a:off x="4569756" y="411900"/>
            <a:ext cx="3057247"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进程中任务调度</a:t>
            </a:r>
          </a:p>
        </p:txBody>
      </p:sp>
      <p:sp>
        <p:nvSpPr>
          <p:cNvPr id="2" name="文本占位符 2">
            <a:extLst>
              <a:ext uri="{FF2B5EF4-FFF2-40B4-BE49-F238E27FC236}">
                <a16:creationId xmlns:a16="http://schemas.microsoft.com/office/drawing/2014/main" id="{EE86EFAD-37F1-D01C-2910-FD9C082E039D}"/>
              </a:ext>
            </a:extLst>
          </p:cNvPr>
          <p:cNvSpPr txBox="1">
            <a:spLocks/>
          </p:cNvSpPr>
          <p:nvPr/>
        </p:nvSpPr>
        <p:spPr>
          <a:xfrm>
            <a:off x="1450742" y="2448330"/>
            <a:ext cx="4928701" cy="2470485"/>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zh-CN" altLang="en-US" sz="1800" b="1" dirty="0">
                <a:latin typeface="Arial" panose="020B0604020202020204" pitchFamily="34" charset="0"/>
                <a:ea typeface="微软雅黑" panose="020B0503020204020204" pitchFamily="34" charset="-122"/>
                <a:cs typeface="Arial" panose="020B0604020202020204" pitchFamily="34" charset="0"/>
              </a:rPr>
              <a:t>在进程中的任务调度涉及两个过程：</a:t>
            </a:r>
            <a:endParaRPr lang="en-US" altLang="zh-CN" sz="1800" b="1"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流创建过程</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spcAft>
                <a:spcPts val="600"/>
              </a:spcAft>
            </a:pPr>
            <a:r>
              <a:rPr lang="zh-CN" altLang="en-US" sz="1200" dirty="0">
                <a:latin typeface="Arial" panose="020B0604020202020204" pitchFamily="34" charset="0"/>
                <a:ea typeface="微软雅黑" panose="020B0503020204020204" pitchFamily="34" charset="-122"/>
                <a:cs typeface="Arial" panose="020B0604020202020204" pitchFamily="34" charset="0"/>
              </a:rPr>
              <a:t>任务下发调度过程</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流创建过程</a:t>
            </a:r>
            <a:r>
              <a:rPr lang="zh-CN" altLang="en-US" sz="1200" dirty="0">
                <a:latin typeface="Arial" panose="020B0604020202020204" pitchFamily="34" charset="0"/>
                <a:ea typeface="微软雅黑" panose="020B0503020204020204" pitchFamily="34" charset="-122"/>
                <a:cs typeface="Arial" panose="020B0604020202020204" pitchFamily="34" charset="0"/>
              </a:rPr>
              <a:t>是流在进程内向上提供了保序队列的抽象，每个进程在每个</a:t>
            </a:r>
            <a:r>
              <a:rPr lang="en-US" altLang="zh-CN" sz="1200" dirty="0">
                <a:latin typeface="Arial" panose="020B0604020202020204" pitchFamily="34" charset="0"/>
                <a:ea typeface="微软雅黑" panose="020B0503020204020204" pitchFamily="34" charset="-122"/>
                <a:cs typeface="Arial" panose="020B0604020202020204" pitchFamily="34" charset="0"/>
              </a:rPr>
              <a:t>Device</a:t>
            </a:r>
            <a:r>
              <a:rPr lang="zh-CN" altLang="en-US" sz="1200" dirty="0">
                <a:latin typeface="Arial" panose="020B0604020202020204" pitchFamily="34" charset="0"/>
                <a:ea typeface="微软雅黑" panose="020B0503020204020204" pitchFamily="34" charset="-122"/>
                <a:cs typeface="Arial" panose="020B0604020202020204" pitchFamily="34" charset="0"/>
              </a:rPr>
              <a:t>上都可以独立创建一条或者若干条流。</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任务下发调度</a:t>
            </a:r>
            <a:r>
              <a:rPr lang="zh-CN" altLang="en-US" sz="1200" dirty="0">
                <a:latin typeface="Arial" panose="020B0604020202020204" pitchFamily="34" charset="0"/>
                <a:ea typeface="微软雅黑" panose="020B0503020204020204" pitchFamily="34" charset="-122"/>
                <a:cs typeface="Arial" panose="020B0604020202020204" pitchFamily="34" charset="0"/>
              </a:rPr>
              <a:t>由</a:t>
            </a:r>
            <a:r>
              <a:rPr lang="en-US" altLang="zh-CN" sz="1200" dirty="0">
                <a:latin typeface="Arial" panose="020B0604020202020204" pitchFamily="34" charset="0"/>
                <a:ea typeface="微软雅黑" panose="020B0503020204020204" pitchFamily="34" charset="-122"/>
                <a:cs typeface="Arial" panose="020B0604020202020204" pitchFamily="34" charset="0"/>
              </a:rPr>
              <a:t>Kernel</a:t>
            </a:r>
            <a:r>
              <a:rPr lang="zh-CN" altLang="en-US" sz="1200" dirty="0">
                <a:latin typeface="Arial" panose="020B0604020202020204" pitchFamily="34" charset="0"/>
                <a:ea typeface="微软雅黑" panose="020B0503020204020204" pitchFamily="34" charset="-122"/>
                <a:cs typeface="Arial" panose="020B0604020202020204" pitchFamily="34" charset="0"/>
              </a:rPr>
              <a:t>完成，这是</a:t>
            </a:r>
            <a:r>
              <a:rPr lang="en-US" altLang="zh-CN" sz="1200" dirty="0">
                <a:latin typeface="Arial" panose="020B0604020202020204" pitchFamily="34" charset="0"/>
                <a:ea typeface="微软雅黑" panose="020B0503020204020204" pitchFamily="34" charset="-122"/>
                <a:cs typeface="Arial" panose="020B0604020202020204" pitchFamily="34" charset="0"/>
              </a:rPr>
              <a:t>Runtime</a:t>
            </a:r>
            <a:r>
              <a:rPr lang="zh-CN" altLang="en-US" sz="1200" dirty="0">
                <a:latin typeface="Arial" panose="020B0604020202020204" pitchFamily="34" charset="0"/>
                <a:ea typeface="微软雅黑" panose="020B0503020204020204" pitchFamily="34" charset="-122"/>
                <a:cs typeface="Arial" panose="020B0604020202020204" pitchFamily="34" charset="0"/>
              </a:rPr>
              <a:t>和</a:t>
            </a:r>
            <a:r>
              <a:rPr lang="en-US" altLang="zh-CN" sz="1200" dirty="0">
                <a:latin typeface="Arial" panose="020B0604020202020204" pitchFamily="34" charset="0"/>
                <a:ea typeface="微软雅黑" panose="020B0503020204020204" pitchFamily="34" charset="-122"/>
                <a:cs typeface="Arial" panose="020B0604020202020204" pitchFamily="34" charset="0"/>
              </a:rPr>
              <a:t>Task Scheduler</a:t>
            </a:r>
            <a:r>
              <a:rPr lang="zh-CN" altLang="en-US" sz="1200" dirty="0">
                <a:latin typeface="Arial" panose="020B0604020202020204" pitchFamily="34" charset="0"/>
                <a:ea typeface="微软雅黑" panose="020B0503020204020204" pitchFamily="34" charset="-122"/>
                <a:cs typeface="Arial" panose="020B0604020202020204" pitchFamily="34" charset="0"/>
              </a:rPr>
              <a:t>的异步流水的过程，是建立在保序队列的基础上的。</a:t>
            </a:r>
          </a:p>
        </p:txBody>
      </p:sp>
      <p:grpSp>
        <p:nvGrpSpPr>
          <p:cNvPr id="5" name="组合 4">
            <a:extLst>
              <a:ext uri="{FF2B5EF4-FFF2-40B4-BE49-F238E27FC236}">
                <a16:creationId xmlns:a16="http://schemas.microsoft.com/office/drawing/2014/main" id="{2BF20079-A932-9322-322E-C7F42A445E29}"/>
              </a:ext>
            </a:extLst>
          </p:cNvPr>
          <p:cNvGrpSpPr/>
          <p:nvPr/>
        </p:nvGrpSpPr>
        <p:grpSpPr>
          <a:xfrm>
            <a:off x="6517467" y="2143137"/>
            <a:ext cx="4228554" cy="3080870"/>
            <a:chOff x="5710612" y="1218893"/>
            <a:chExt cx="6362658" cy="4635751"/>
          </a:xfrm>
        </p:grpSpPr>
        <p:pic>
          <p:nvPicPr>
            <p:cNvPr id="3" name="图片 2">
              <a:extLst>
                <a:ext uri="{FF2B5EF4-FFF2-40B4-BE49-F238E27FC236}">
                  <a16:creationId xmlns:a16="http://schemas.microsoft.com/office/drawing/2014/main" id="{35D34ADD-41D1-BA15-C6AE-A02CCB4322F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0612" y="1307291"/>
              <a:ext cx="3144338" cy="4458952"/>
            </a:xfrm>
            <a:prstGeom prst="rect">
              <a:avLst/>
            </a:prstGeom>
            <a:noFill/>
            <a:ln>
              <a:noFill/>
            </a:ln>
          </p:spPr>
        </p:pic>
        <p:pic>
          <p:nvPicPr>
            <p:cNvPr id="4" name="图片 3">
              <a:extLst>
                <a:ext uri="{FF2B5EF4-FFF2-40B4-BE49-F238E27FC236}">
                  <a16:creationId xmlns:a16="http://schemas.microsoft.com/office/drawing/2014/main" id="{BEF9F9E7-6571-5AA5-1A0E-F48C613595F0}"/>
                </a:ext>
              </a:extLst>
            </p:cNvPr>
            <p:cNvPicPr>
              <a:picLocks noChangeAspect="1"/>
            </p:cNvPicPr>
            <p:nvPr/>
          </p:nvPicPr>
          <p:blipFill>
            <a:blip r:embed="rId3"/>
            <a:stretch>
              <a:fillRect/>
            </a:stretch>
          </p:blipFill>
          <p:spPr>
            <a:xfrm>
              <a:off x="8854950" y="1218893"/>
              <a:ext cx="3218320" cy="4635751"/>
            </a:xfrm>
            <a:prstGeom prst="rect">
              <a:avLst/>
            </a:prstGeom>
          </p:spPr>
        </p:pic>
      </p:grpSp>
    </p:spTree>
    <p:extLst>
      <p:ext uri="{BB962C8B-B14F-4D97-AF65-F5344CB8AC3E}">
        <p14:creationId xmlns:p14="http://schemas.microsoft.com/office/powerpoint/2010/main" val="1237970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BD2E-E770-C038-9689-3BAB82BC2A06}"/>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1CC3C665-0F61-CCF0-FF3F-1750060FE6A8}"/>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同步机制</a:t>
            </a:r>
          </a:p>
        </p:txBody>
      </p:sp>
      <p:sp>
        <p:nvSpPr>
          <p:cNvPr id="2" name="文本占位符 2">
            <a:extLst>
              <a:ext uri="{FF2B5EF4-FFF2-40B4-BE49-F238E27FC236}">
                <a16:creationId xmlns:a16="http://schemas.microsoft.com/office/drawing/2014/main" id="{3639D4EE-CC5A-4211-7FB3-565508CE88B6}"/>
              </a:ext>
            </a:extLst>
          </p:cNvPr>
          <p:cNvSpPr txBox="1">
            <a:spLocks/>
          </p:cNvSpPr>
          <p:nvPr/>
        </p:nvSpPr>
        <p:spPr>
          <a:xfrm>
            <a:off x="4621054" y="1193455"/>
            <a:ext cx="2954655" cy="1781898"/>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RTS</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的同步机制分为三类：</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en-US" altLang="zh-CN" sz="1200" dirty="0">
                <a:latin typeface="Arial" panose="020B0604020202020204" pitchFamily="34" charset="0"/>
                <a:ea typeface="微软雅黑" panose="020B0503020204020204" pitchFamily="34" charset="-122"/>
                <a:cs typeface="Arial" panose="020B0604020202020204" pitchFamily="34" charset="0"/>
              </a:rPr>
              <a:t>Stream</a:t>
            </a:r>
            <a:r>
              <a:rPr lang="zh-CN" altLang="en-US" sz="1200" dirty="0">
                <a:latin typeface="Arial" panose="020B0604020202020204" pitchFamily="34" charset="0"/>
                <a:ea typeface="微软雅黑" panose="020B0503020204020204" pitchFamily="34" charset="-122"/>
                <a:cs typeface="Arial" panose="020B0604020202020204" pitchFamily="34" charset="0"/>
              </a:rPr>
              <a:t>间同步</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pPr>
            <a:r>
              <a:rPr lang="en-US" altLang="zh-CN" sz="1200" dirty="0">
                <a:latin typeface="Arial" panose="020B0604020202020204" pitchFamily="34" charset="0"/>
                <a:ea typeface="微软雅黑" panose="020B0503020204020204" pitchFamily="34" charset="-122"/>
                <a:cs typeface="Arial" panose="020B0604020202020204" pitchFamily="34" charset="0"/>
              </a:rPr>
              <a:t>Task</a:t>
            </a:r>
            <a:r>
              <a:rPr lang="zh-CN" altLang="en-US" sz="1200" dirty="0">
                <a:latin typeface="Arial" panose="020B0604020202020204" pitchFamily="34" charset="0"/>
                <a:ea typeface="微软雅黑" panose="020B0503020204020204" pitchFamily="34" charset="-122"/>
                <a:cs typeface="Arial" panose="020B0604020202020204" pitchFamily="34" charset="0"/>
              </a:rPr>
              <a:t>与</a:t>
            </a:r>
            <a:r>
              <a:rPr lang="en-US" altLang="zh-CN" sz="1200" dirty="0">
                <a:latin typeface="Arial" panose="020B0604020202020204" pitchFamily="34" charset="0"/>
                <a:ea typeface="微软雅黑" panose="020B0503020204020204" pitchFamily="34" charset="-122"/>
                <a:cs typeface="Arial" panose="020B0604020202020204" pitchFamily="34" charset="0"/>
              </a:rPr>
              <a:t>Host</a:t>
            </a:r>
            <a:r>
              <a:rPr lang="zh-CN" altLang="en-US" sz="1200" dirty="0">
                <a:latin typeface="Arial" panose="020B0604020202020204" pitchFamily="34" charset="0"/>
                <a:ea typeface="微软雅黑" panose="020B0503020204020204" pitchFamily="34" charset="-122"/>
                <a:cs typeface="Arial" panose="020B0604020202020204" pitchFamily="34" charset="0"/>
              </a:rPr>
              <a:t>同步</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Bef>
                <a:spcPts val="0"/>
              </a:spcBef>
              <a:spcAft>
                <a:spcPts val="600"/>
              </a:spcAft>
            </a:pPr>
            <a:r>
              <a:rPr lang="en-US" altLang="zh-CN" sz="1200" dirty="0">
                <a:latin typeface="Arial" panose="020B0604020202020204" pitchFamily="34" charset="0"/>
                <a:ea typeface="微软雅黑" panose="020B0503020204020204" pitchFamily="34" charset="-122"/>
                <a:cs typeface="Arial" panose="020B0604020202020204" pitchFamily="34" charset="0"/>
              </a:rPr>
              <a:t>Stream</a:t>
            </a:r>
            <a:r>
              <a:rPr lang="zh-CN" altLang="en-US" sz="1200" dirty="0">
                <a:latin typeface="Arial" panose="020B0604020202020204" pitchFamily="34" charset="0"/>
                <a:ea typeface="微软雅黑" panose="020B0503020204020204" pitchFamily="34" charset="-122"/>
                <a:cs typeface="Arial" panose="020B0604020202020204" pitchFamily="34" charset="0"/>
              </a:rPr>
              <a:t>与</a:t>
            </a:r>
            <a:r>
              <a:rPr lang="en-US" altLang="zh-CN" sz="1200" dirty="0">
                <a:latin typeface="Arial" panose="020B0604020202020204" pitchFamily="34" charset="0"/>
                <a:ea typeface="微软雅黑" panose="020B0503020204020204" pitchFamily="34" charset="-122"/>
                <a:cs typeface="Arial" panose="020B0604020202020204" pitchFamily="34" charset="0"/>
              </a:rPr>
              <a:t>Host</a:t>
            </a:r>
            <a:r>
              <a:rPr lang="zh-CN" altLang="en-US" sz="1200" dirty="0">
                <a:latin typeface="Arial" panose="020B0604020202020204" pitchFamily="34" charset="0"/>
                <a:ea typeface="微软雅黑" panose="020B0503020204020204" pitchFamily="34" charset="-122"/>
                <a:cs typeface="Arial" panose="020B0604020202020204" pitchFamily="34" charset="0"/>
              </a:rPr>
              <a:t>同步</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Stream</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内是串行执行的。</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D581A54D-F491-1C58-9792-05B7A7984A87}"/>
              </a:ext>
            </a:extLst>
          </p:cNvPr>
          <p:cNvPicPr>
            <a:picLocks noChangeAspect="1"/>
          </p:cNvPicPr>
          <p:nvPr/>
        </p:nvPicPr>
        <p:blipFill>
          <a:blip r:embed="rId2"/>
          <a:stretch>
            <a:fillRect/>
          </a:stretch>
        </p:blipFill>
        <p:spPr>
          <a:xfrm>
            <a:off x="2781376" y="3075853"/>
            <a:ext cx="6634010" cy="3046774"/>
          </a:xfrm>
          <a:prstGeom prst="rect">
            <a:avLst/>
          </a:prstGeom>
        </p:spPr>
      </p:pic>
    </p:spTree>
    <p:extLst>
      <p:ext uri="{BB962C8B-B14F-4D97-AF65-F5344CB8AC3E}">
        <p14:creationId xmlns:p14="http://schemas.microsoft.com/office/powerpoint/2010/main" val="288845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FA1E6-1315-F006-BE8B-9E9AEBC82960}"/>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C3C36E4-9017-98F3-DF8F-7C9BD79B57A0}"/>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核函数调用</a:t>
            </a:r>
          </a:p>
        </p:txBody>
      </p:sp>
      <p:sp>
        <p:nvSpPr>
          <p:cNvPr id="3" name="文本框 2">
            <a:extLst>
              <a:ext uri="{FF2B5EF4-FFF2-40B4-BE49-F238E27FC236}">
                <a16:creationId xmlns:a16="http://schemas.microsoft.com/office/drawing/2014/main" id="{B404686C-379F-E5F3-A897-9FEFBB9D5543}"/>
              </a:ext>
            </a:extLst>
          </p:cNvPr>
          <p:cNvSpPr txBox="1"/>
          <p:nvPr/>
        </p:nvSpPr>
        <p:spPr>
          <a:xfrm>
            <a:off x="2141258" y="2477631"/>
            <a:ext cx="7914246" cy="2290755"/>
          </a:xfrm>
          <a:prstGeom prst="rect">
            <a:avLst/>
          </a:prstGeom>
          <a:noFill/>
        </p:spPr>
        <p:txBody>
          <a:bodyPr wrap="square">
            <a:spAutoFit/>
          </a:bodyPr>
          <a:lstStyle/>
          <a:p>
            <a:pPr>
              <a:lnSpc>
                <a:spcPct val="150000"/>
              </a:lnSpc>
            </a:pPr>
            <a:r>
              <a:rPr lang="en-US" altLang="zh-CN" b="1" dirty="0">
                <a:solidFill>
                  <a:srgbClr val="000000"/>
                </a:solidFill>
                <a:latin typeface="Arial" panose="020B0604020202020204" pitchFamily="34" charset="0"/>
                <a:ea typeface="微软雅黑" panose="020B0503020204020204" pitchFamily="34" charset="-122"/>
                <a:cs typeface="Arial" panose="020B0604020202020204" pitchFamily="34" charset="0"/>
              </a:rPr>
              <a:t>Ascend C</a:t>
            </a: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算子核函数的调用方式有</a:t>
            </a:r>
            <a:r>
              <a:rPr lang="en-US" altLang="zh-CN" b="1" dirty="0">
                <a:solidFill>
                  <a:srgbClr val="000000"/>
                </a:solidFill>
                <a:latin typeface="Arial" panose="020B0604020202020204" pitchFamily="34" charset="0"/>
                <a:ea typeface="微软雅黑" panose="020B0503020204020204" pitchFamily="34" charset="-122"/>
                <a:cs typeface="Arial" panose="020B0604020202020204" pitchFamily="34" charset="0"/>
              </a:rPr>
              <a:t>2</a:t>
            </a:r>
            <a:r>
              <a:rPr lang="zh-CN" altLang="en-US" b="1" dirty="0">
                <a:solidFill>
                  <a:srgbClr val="000000"/>
                </a:solidFill>
                <a:latin typeface="Arial" panose="020B0604020202020204" pitchFamily="34" charset="0"/>
                <a:ea typeface="微软雅黑" panose="020B0503020204020204" pitchFamily="34" charset="-122"/>
                <a:cs typeface="Arial" panose="020B0604020202020204" pitchFamily="34" charset="0"/>
              </a:rPr>
              <a:t>种：</a:t>
            </a:r>
            <a:endParaRPr lang="en-US" altLang="zh-CN"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内核符调用</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单算子</a:t>
            </a:r>
            <a:r>
              <a:rPr lang="en-US" altLang="zh-CN" sz="1200" b="0" dirty="0">
                <a:latin typeface="Arial" panose="020B0604020202020204" pitchFamily="34" charset="0"/>
                <a:ea typeface="微软雅黑" panose="020B0503020204020204" pitchFamily="34" charset="-122"/>
                <a:cs typeface="Arial" panose="020B0604020202020204" pitchFamily="34" charset="0"/>
              </a:rPr>
              <a:t>API</a:t>
            </a:r>
            <a:r>
              <a:rPr lang="zh-CN" altLang="en-US" sz="1200" b="0" dirty="0">
                <a:latin typeface="Arial" panose="020B0604020202020204" pitchFamily="34" charset="0"/>
                <a:ea typeface="微软雅黑" panose="020B0503020204020204" pitchFamily="34" charset="-122"/>
                <a:cs typeface="Arial" panose="020B0604020202020204" pitchFamily="34" charset="0"/>
              </a:rPr>
              <a:t>调用</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spcAft>
                <a:spcPts val="600"/>
              </a:spcAft>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内核符调用</a:t>
            </a:r>
            <a:r>
              <a:rPr lang="zh-CN" altLang="en-US" sz="1200" b="0" dirty="0">
                <a:latin typeface="Arial" panose="020B0604020202020204" pitchFamily="34" charset="0"/>
                <a:ea typeface="微软雅黑" panose="020B0503020204020204" pitchFamily="34" charset="-122"/>
                <a:cs typeface="Arial" panose="020B0604020202020204" pitchFamily="34" charset="0"/>
              </a:rPr>
              <a:t>方式通常在算子的快速开发中使用，是一种简单直接的调用方式，主要目的是检验算子的正确性。</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单算子</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调用</a:t>
            </a:r>
            <a:r>
              <a:rPr lang="zh-CN" altLang="en-US" sz="1200" b="0" dirty="0">
                <a:latin typeface="Arial" panose="020B0604020202020204" pitchFamily="34" charset="0"/>
                <a:ea typeface="微软雅黑" panose="020B0503020204020204" pitchFamily="34" charset="-122"/>
                <a:cs typeface="Arial" panose="020B0604020202020204" pitchFamily="34" charset="0"/>
              </a:rPr>
              <a:t>使用前提是所使用的算子已在算子库中或已经通过完整开发流程进行编译部署，在</a:t>
            </a:r>
            <a:r>
              <a:rPr lang="en-US" altLang="zh-CN" sz="1200" b="0" dirty="0">
                <a:latin typeface="Arial" panose="020B0604020202020204" pitchFamily="34" charset="0"/>
                <a:ea typeface="微软雅黑" panose="020B0503020204020204" pitchFamily="34" charset="-122"/>
                <a:cs typeface="Arial" panose="020B0604020202020204" pitchFamily="34" charset="0"/>
              </a:rPr>
              <a:t>Ascend C</a:t>
            </a:r>
            <a:r>
              <a:rPr lang="zh-CN" altLang="en-US" sz="1200" b="0" dirty="0">
                <a:latin typeface="Arial" panose="020B0604020202020204" pitchFamily="34" charset="0"/>
                <a:ea typeface="微软雅黑" panose="020B0503020204020204" pitchFamily="34" charset="-122"/>
                <a:cs typeface="Arial" panose="020B0604020202020204" pitchFamily="34" charset="0"/>
              </a:rPr>
              <a:t>完整算子开发过程中通常使用此方式进行算子调用。</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092719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AB78-CA20-4946-8C47-44C2D63B46D7}"/>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5D59B920-F0D6-C022-C493-879E61E07871}"/>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内核符调用</a:t>
            </a:r>
          </a:p>
        </p:txBody>
      </p:sp>
      <p:sp>
        <p:nvSpPr>
          <p:cNvPr id="3" name="Freeform 3">
            <a:extLst>
              <a:ext uri="{FF2B5EF4-FFF2-40B4-BE49-F238E27FC236}">
                <a16:creationId xmlns:a16="http://schemas.microsoft.com/office/drawing/2014/main" id="{6FECF132-97A4-AF12-0E7C-31C632CD9E46}"/>
              </a:ext>
            </a:extLst>
          </p:cNvPr>
          <p:cNvSpPr/>
          <p:nvPr/>
        </p:nvSpPr>
        <p:spPr>
          <a:xfrm>
            <a:off x="4024063" y="2097826"/>
            <a:ext cx="4199522" cy="622405"/>
          </a:xfrm>
          <a:custGeom>
            <a:avLst/>
            <a:gdLst>
              <a:gd name="connsiteX0" fmla="*/ 12700 w 4199522"/>
              <a:gd name="connsiteY0" fmla="*/ 12700 h 622405"/>
              <a:gd name="connsiteX1" fmla="*/ 4186822 w 4199522"/>
              <a:gd name="connsiteY1" fmla="*/ 12700 h 622405"/>
              <a:gd name="connsiteX2" fmla="*/ 4186822 w 4199522"/>
              <a:gd name="connsiteY2" fmla="*/ 609705 h 622405"/>
              <a:gd name="connsiteX3" fmla="*/ 12700 w 4199522"/>
              <a:gd name="connsiteY3" fmla="*/ 609705 h 622405"/>
              <a:gd name="connsiteX4" fmla="*/ 12700 w 4199522"/>
              <a:gd name="connsiteY4" fmla="*/ 12700 h 622405"/>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199522" h="622405">
                <a:moveTo>
                  <a:pt x="12700" y="12700"/>
                </a:moveTo>
                <a:lnTo>
                  <a:pt x="4186822" y="12700"/>
                </a:lnTo>
                <a:lnTo>
                  <a:pt x="4186822" y="609705"/>
                </a:lnTo>
                <a:lnTo>
                  <a:pt x="12700" y="609705"/>
                </a:lnTo>
                <a:lnTo>
                  <a:pt x="12700" y="12700"/>
                </a:lnTo>
              </a:path>
            </a:pathLst>
          </a:custGeom>
          <a:solidFill>
            <a:srgbClr val="000000">
              <a:alpha val="0"/>
            </a:srgbClr>
          </a:solidFill>
          <a:ln w="25400">
            <a:solidFill>
              <a:srgbClr val="FF00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3">
            <a:extLst>
              <a:ext uri="{FF2B5EF4-FFF2-40B4-BE49-F238E27FC236}">
                <a16:creationId xmlns:a16="http://schemas.microsoft.com/office/drawing/2014/main" id="{6DE53FC4-34E5-2977-6970-38B8C43F33FA}"/>
              </a:ext>
            </a:extLst>
          </p:cNvPr>
          <p:cNvSpPr/>
          <p:nvPr/>
        </p:nvSpPr>
        <p:spPr>
          <a:xfrm>
            <a:off x="4224020" y="3416300"/>
            <a:ext cx="3164840" cy="668528"/>
          </a:xfrm>
          <a:custGeom>
            <a:avLst/>
            <a:gdLst>
              <a:gd name="connsiteX0" fmla="*/ 12700 w 3164840"/>
              <a:gd name="connsiteY0" fmla="*/ 12700 h 668528"/>
              <a:gd name="connsiteX1" fmla="*/ 3152139 w 3164840"/>
              <a:gd name="connsiteY1" fmla="*/ 12700 h 668528"/>
              <a:gd name="connsiteX2" fmla="*/ 3152139 w 3164840"/>
              <a:gd name="connsiteY2" fmla="*/ 655828 h 668528"/>
              <a:gd name="connsiteX3" fmla="*/ 12700 w 3164840"/>
              <a:gd name="connsiteY3" fmla="*/ 655828 h 668528"/>
              <a:gd name="connsiteX4" fmla="*/ 12700 w 3164840"/>
              <a:gd name="connsiteY4" fmla="*/ 12700 h 66852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64840" h="668528">
                <a:moveTo>
                  <a:pt x="12700" y="12700"/>
                </a:moveTo>
                <a:lnTo>
                  <a:pt x="3152139" y="12700"/>
                </a:lnTo>
                <a:lnTo>
                  <a:pt x="3152139" y="655828"/>
                </a:lnTo>
                <a:lnTo>
                  <a:pt x="12700" y="655828"/>
                </a:lnTo>
                <a:lnTo>
                  <a:pt x="12700" y="12700"/>
                </a:lnTo>
              </a:path>
            </a:pathLst>
          </a:custGeom>
          <a:solidFill>
            <a:srgbClr val="000000">
              <a:alpha val="0"/>
            </a:srgbClr>
          </a:solidFill>
          <a:ln w="25400">
            <a:solidFill>
              <a:srgbClr val="FF00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a:extLst>
              <a:ext uri="{FF2B5EF4-FFF2-40B4-BE49-F238E27FC236}">
                <a16:creationId xmlns:a16="http://schemas.microsoft.com/office/drawing/2014/main" id="{F8D5CAEB-EFB7-9304-94C1-E613E24797E8}"/>
              </a:ext>
            </a:extLst>
          </p:cNvPr>
          <p:cNvSpPr/>
          <p:nvPr/>
        </p:nvSpPr>
        <p:spPr>
          <a:xfrm>
            <a:off x="4224020" y="4167632"/>
            <a:ext cx="3932509" cy="1988311"/>
          </a:xfrm>
          <a:custGeom>
            <a:avLst/>
            <a:gdLst>
              <a:gd name="connsiteX0" fmla="*/ 12700 w 3932509"/>
              <a:gd name="connsiteY0" fmla="*/ 12700 h 1988311"/>
              <a:gd name="connsiteX1" fmla="*/ 3919809 w 3932509"/>
              <a:gd name="connsiteY1" fmla="*/ 12700 h 1988311"/>
              <a:gd name="connsiteX2" fmla="*/ 3919809 w 3932509"/>
              <a:gd name="connsiteY2" fmla="*/ 1975611 h 1988311"/>
              <a:gd name="connsiteX3" fmla="*/ 12700 w 3932509"/>
              <a:gd name="connsiteY3" fmla="*/ 1975611 h 1988311"/>
              <a:gd name="connsiteX4" fmla="*/ 12700 w 3932509"/>
              <a:gd name="connsiteY4" fmla="*/ 12700 h 198831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932509" h="1988311">
                <a:moveTo>
                  <a:pt x="12700" y="12700"/>
                </a:moveTo>
                <a:lnTo>
                  <a:pt x="3919809" y="12700"/>
                </a:lnTo>
                <a:lnTo>
                  <a:pt x="3919809" y="1975611"/>
                </a:lnTo>
                <a:lnTo>
                  <a:pt x="12700" y="1975611"/>
                </a:lnTo>
                <a:lnTo>
                  <a:pt x="12700" y="12700"/>
                </a:lnTo>
              </a:path>
            </a:pathLst>
          </a:custGeom>
          <a:solidFill>
            <a:srgbClr val="000000">
              <a:alpha val="0"/>
            </a:srgbClr>
          </a:solidFill>
          <a:ln w="25400">
            <a:solidFill>
              <a:srgbClr val="FF00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Picture 3">
            <a:extLst>
              <a:ext uri="{FF2B5EF4-FFF2-40B4-BE49-F238E27FC236}">
                <a16:creationId xmlns:a16="http://schemas.microsoft.com/office/drawing/2014/main" id="{4A3D88BD-A44C-4498-762B-FEF83D9847E1}"/>
              </a:ext>
            </a:extLst>
          </p:cNvPr>
          <p:cNvPicPr>
            <a:picLocks noChangeAspect="1" noChangeArrowheads="1"/>
          </p:cNvPicPr>
          <p:nvPr/>
        </p:nvPicPr>
        <p:blipFill>
          <a:blip r:embed="rId2">
            <a:clrChange>
              <a:clrFrom>
                <a:srgbClr val="D6DFE8"/>
              </a:clrFrom>
              <a:clrTo>
                <a:srgbClr val="D6DFE8">
                  <a:alpha val="0"/>
                </a:srgbClr>
              </a:clrTo>
            </a:clrChange>
          </a:blip>
          <a:srcRect/>
          <a:stretch>
            <a:fillRect/>
          </a:stretch>
        </p:blipFill>
        <p:spPr bwMode="auto">
          <a:xfrm>
            <a:off x="2935287" y="1163366"/>
            <a:ext cx="8670926" cy="5174396"/>
          </a:xfrm>
          <a:prstGeom prst="rect">
            <a:avLst/>
          </a:prstGeom>
          <a:noFill/>
        </p:spPr>
      </p:pic>
      <p:sp>
        <p:nvSpPr>
          <p:cNvPr id="22" name="TextBox 1">
            <a:extLst>
              <a:ext uri="{FF2B5EF4-FFF2-40B4-BE49-F238E27FC236}">
                <a16:creationId xmlns:a16="http://schemas.microsoft.com/office/drawing/2014/main" id="{BE3A4A72-4C75-D988-888F-AD8AA86A71B7}"/>
              </a:ext>
            </a:extLst>
          </p:cNvPr>
          <p:cNvSpPr txBox="1"/>
          <p:nvPr/>
        </p:nvSpPr>
        <p:spPr>
          <a:xfrm>
            <a:off x="1676929" y="5262649"/>
            <a:ext cx="1258358" cy="432234"/>
          </a:xfrm>
          <a:prstGeom prst="rect">
            <a:avLst/>
          </a:prstGeom>
          <a:noFill/>
        </p:spPr>
        <p:txBody>
          <a:bodyPr wrap="none" lIns="0" tIns="0" rIns="0" rtlCol="0">
            <a:spAutoFit/>
          </a:bodyPr>
          <a:lstStyle/>
          <a:p>
            <a:pPr>
              <a:lnSpc>
                <a:spcPts val="13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NPU模式执行代码</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a:lnSpc>
                <a:spcPts val="19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用于NPU上板执行</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sp>
        <p:nvSpPr>
          <p:cNvPr id="27" name="文本框 26">
            <a:extLst>
              <a:ext uri="{FF2B5EF4-FFF2-40B4-BE49-F238E27FC236}">
                <a16:creationId xmlns:a16="http://schemas.microsoft.com/office/drawing/2014/main" id="{97DD770B-5799-B495-F302-95465314CEAC}"/>
              </a:ext>
            </a:extLst>
          </p:cNvPr>
          <p:cNvSpPr txBox="1"/>
          <p:nvPr/>
        </p:nvSpPr>
        <p:spPr>
          <a:xfrm>
            <a:off x="918353" y="1365982"/>
            <a:ext cx="2299027" cy="596702"/>
          </a:xfrm>
          <a:prstGeom prst="rect">
            <a:avLst/>
          </a:prstGeom>
          <a:noFill/>
        </p:spPr>
        <p:txBody>
          <a:bodyPr wrap="none">
            <a:spAutoFit/>
          </a:bodyPr>
          <a:lstStyle/>
          <a:p>
            <a:pPr>
              <a:lnSpc>
                <a:spcPts val="23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核函数</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HelloWorld</a:t>
            </a:r>
            <a:endPar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a:lnSpc>
                <a:spcPts val="18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打印“this</a:t>
            </a:r>
            <a:r>
              <a:rPr lang="en-US" altLang="zh-CN" sz="1200" dirty="0">
                <a:latin typeface="Arial" panose="020B0604020202020204" pitchFamily="34" charset="0"/>
                <a:ea typeface="微软雅黑" panose="020B0503020204020204" pitchFamily="34" charset="-122"/>
                <a:cs typeface="Arial" panose="020B0604020202020204" pitchFamily="34" charset="0"/>
              </a:rPr>
              <a:t> is </a:t>
            </a:r>
            <a:r>
              <a:rPr lang="en-US" altLang="zh-CN" sz="1200" dirty="0" err="1">
                <a:latin typeface="Arial" panose="020B0604020202020204" pitchFamily="34" charset="0"/>
                <a:ea typeface="微软雅黑" panose="020B0503020204020204" pitchFamily="34" charset="-122"/>
                <a:cs typeface="Arial" panose="020B0604020202020204" pitchFamily="34" charset="0"/>
              </a:rPr>
              <a:t>coren，hello</a:t>
            </a:r>
            <a:r>
              <a:rPr lang="en-US" altLang="zh-CN" sz="1200" dirty="0">
                <a:latin typeface="Arial" panose="020B0604020202020204" pitchFamily="34" charset="0"/>
                <a:ea typeface="微软雅黑" panose="020B0503020204020204" pitchFamily="34" charset="-122"/>
                <a:cs typeface="Arial" panose="020B0604020202020204" pitchFamily="34" charset="0"/>
              </a:rPr>
              <a:t> world”</a:t>
            </a:r>
          </a:p>
        </p:txBody>
      </p:sp>
      <p:sp>
        <p:nvSpPr>
          <p:cNvPr id="29" name="文本框 28">
            <a:extLst>
              <a:ext uri="{FF2B5EF4-FFF2-40B4-BE49-F238E27FC236}">
                <a16:creationId xmlns:a16="http://schemas.microsoft.com/office/drawing/2014/main" id="{6B1069C5-D809-ABC9-72F5-71CF7FA5DFD3}"/>
              </a:ext>
            </a:extLst>
          </p:cNvPr>
          <p:cNvSpPr txBox="1"/>
          <p:nvPr/>
        </p:nvSpPr>
        <p:spPr>
          <a:xfrm>
            <a:off x="1365627" y="2145814"/>
            <a:ext cx="1569660" cy="875945"/>
          </a:xfrm>
          <a:prstGeom prst="rect">
            <a:avLst/>
          </a:prstGeom>
          <a:noFill/>
        </p:spPr>
        <p:txBody>
          <a:bodyPr wrap="none">
            <a:spAutoFit/>
          </a:bodyPr>
          <a:lstStyle/>
          <a:p>
            <a:pPr>
              <a:lnSpc>
                <a:spcPts val="25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CPU模式执行代码</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a:lnSpc>
                <a:spcPts val="19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用于CPU下的仿真</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a:lnSpc>
                <a:spcPts val="19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验证代码逻辑正确性</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948A1668-B829-A64F-7E97-F8AB0D93EB33}"/>
              </a:ext>
            </a:extLst>
          </p:cNvPr>
          <p:cNvSpPr txBox="1"/>
          <p:nvPr/>
        </p:nvSpPr>
        <p:spPr>
          <a:xfrm>
            <a:off x="847895" y="3468236"/>
            <a:ext cx="2143985" cy="673967"/>
          </a:xfrm>
          <a:prstGeom prst="rect">
            <a:avLst/>
          </a:prstGeom>
          <a:noFill/>
        </p:spPr>
        <p:txBody>
          <a:bodyPr wrap="none">
            <a:spAutoFit/>
          </a:bodyPr>
          <a:lstStyle/>
          <a:p>
            <a:pPr>
              <a:lnSpc>
                <a:spcPts val="29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使用接口</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ICPU_RUN_KF</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 )</a:t>
            </a:r>
          </a:p>
          <a:p>
            <a:pPr>
              <a:lnSpc>
                <a:spcPts val="1800"/>
              </a:lnSpc>
              <a:tabLst>
                <a:tab pos="63500" algn="l"/>
                <a:tab pos="101600" algn="l"/>
                <a:tab pos="520700" algn="l"/>
                <a:tab pos="673100" algn="l"/>
              </a:tabLst>
            </a:pPr>
            <a:r>
              <a:rPr lang="en-US" altLang="zh-CN" sz="1200" dirty="0" err="1">
                <a:latin typeface="Arial" panose="020B0604020202020204" pitchFamily="34" charset="0"/>
                <a:ea typeface="微软雅黑" panose="020B0503020204020204" pitchFamily="34" charset="-122"/>
                <a:cs typeface="Arial" panose="020B0604020202020204" pitchFamily="34" charset="0"/>
              </a:rPr>
              <a:t>直接调用核函数</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HelloWorld</a:t>
            </a:r>
            <a:endPar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262090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F234-4EFD-40B3-CAB4-B8E10D975E60}"/>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154560B8-DABF-6703-2FE2-79689E9DA846}"/>
              </a:ext>
            </a:extLst>
          </p:cNvPr>
          <p:cNvSpPr txBox="1">
            <a:spLocks/>
          </p:cNvSpPr>
          <p:nvPr/>
        </p:nvSpPr>
        <p:spPr>
          <a:xfrm>
            <a:off x="4980124"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内核符调用</a:t>
            </a:r>
          </a:p>
        </p:txBody>
      </p:sp>
      <p:pic>
        <p:nvPicPr>
          <p:cNvPr id="2" name="图片 1">
            <a:extLst>
              <a:ext uri="{FF2B5EF4-FFF2-40B4-BE49-F238E27FC236}">
                <a16:creationId xmlns:a16="http://schemas.microsoft.com/office/drawing/2014/main" id="{415A577C-0F5F-F589-3BF5-F98F063661B2}"/>
              </a:ext>
            </a:extLst>
          </p:cNvPr>
          <p:cNvPicPr>
            <a:picLocks noChangeAspect="1"/>
          </p:cNvPicPr>
          <p:nvPr/>
        </p:nvPicPr>
        <p:blipFill>
          <a:blip r:embed="rId2"/>
          <a:stretch>
            <a:fillRect/>
          </a:stretch>
        </p:blipFill>
        <p:spPr>
          <a:xfrm>
            <a:off x="4800088" y="1300162"/>
            <a:ext cx="4857750" cy="4257675"/>
          </a:xfrm>
          <a:prstGeom prst="rect">
            <a:avLst/>
          </a:prstGeom>
        </p:spPr>
      </p:pic>
      <p:pic>
        <p:nvPicPr>
          <p:cNvPr id="5" name="图片 4">
            <a:extLst>
              <a:ext uri="{FF2B5EF4-FFF2-40B4-BE49-F238E27FC236}">
                <a16:creationId xmlns:a16="http://schemas.microsoft.com/office/drawing/2014/main" id="{BD94E253-1A52-1D7E-56C8-184D7EFFE998}"/>
              </a:ext>
            </a:extLst>
          </p:cNvPr>
          <p:cNvPicPr>
            <a:picLocks noChangeAspect="1"/>
          </p:cNvPicPr>
          <p:nvPr/>
        </p:nvPicPr>
        <p:blipFill>
          <a:blip r:embed="rId3"/>
          <a:stretch>
            <a:fillRect/>
          </a:stretch>
        </p:blipFill>
        <p:spPr>
          <a:xfrm>
            <a:off x="9595471" y="1418362"/>
            <a:ext cx="2151107" cy="4672306"/>
          </a:xfrm>
          <a:prstGeom prst="rect">
            <a:avLst/>
          </a:prstGeom>
        </p:spPr>
      </p:pic>
      <p:sp>
        <p:nvSpPr>
          <p:cNvPr id="10" name="矩形 9">
            <a:extLst>
              <a:ext uri="{FF2B5EF4-FFF2-40B4-BE49-F238E27FC236}">
                <a16:creationId xmlns:a16="http://schemas.microsoft.com/office/drawing/2014/main" id="{77661E1A-0CFB-CBAC-2096-4D17E5EEF07B}"/>
              </a:ext>
            </a:extLst>
          </p:cNvPr>
          <p:cNvSpPr/>
          <p:nvPr/>
        </p:nvSpPr>
        <p:spPr>
          <a:xfrm>
            <a:off x="5383338" y="3821190"/>
            <a:ext cx="2699963" cy="207885"/>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cxnSp>
        <p:nvCxnSpPr>
          <p:cNvPr id="12" name="直接箭头连接符 11">
            <a:extLst>
              <a:ext uri="{FF2B5EF4-FFF2-40B4-BE49-F238E27FC236}">
                <a16:creationId xmlns:a16="http://schemas.microsoft.com/office/drawing/2014/main" id="{1FDFC8DD-D955-0A99-34CA-AA0EE4DA6E2D}"/>
              </a:ext>
            </a:extLst>
          </p:cNvPr>
          <p:cNvCxnSpPr>
            <a:cxnSpLocks/>
            <a:stCxn id="17" idx="3"/>
          </p:cNvCxnSpPr>
          <p:nvPr/>
        </p:nvCxnSpPr>
        <p:spPr>
          <a:xfrm flipV="1">
            <a:off x="8248174" y="3273136"/>
            <a:ext cx="1277692" cy="530312"/>
          </a:xfrm>
          <a:prstGeom prst="straightConnector1">
            <a:avLst/>
          </a:prstGeom>
          <a:noFill/>
          <a:ln w="12700" cap="flat">
            <a:solidFill>
              <a:schemeClr val="bg1">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C0054544-2C90-E6F4-795D-6F98F52217E1}"/>
              </a:ext>
            </a:extLst>
          </p:cNvPr>
          <p:cNvSpPr txBox="1"/>
          <p:nvPr/>
        </p:nvSpPr>
        <p:spPr>
          <a:xfrm>
            <a:off x="1797489" y="1571686"/>
            <a:ext cx="1713414" cy="4616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77" rtl="0" fontAlgn="auto" latinLnBrk="0" hangingPunct="0">
              <a:lnSpc>
                <a:spcPct val="100000"/>
              </a:lnSpc>
              <a:spcBef>
                <a:spcPts val="0"/>
              </a:spcBef>
              <a:spcAft>
                <a:spcPts val="0"/>
              </a:spcAft>
              <a:buClrTx/>
              <a:buSzTx/>
              <a:buFontTx/>
              <a:buNone/>
              <a:tabLst/>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核函数</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hello_world</a:t>
            </a:r>
            <a:endPar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marR="0" indent="0" algn="l" defTabSz="914477" rtl="0" fontAlgn="auto" latinLnBrk="0" hangingPunct="0">
              <a:lnSpc>
                <a:spcPct val="100000"/>
              </a:lnSpc>
              <a:spcBef>
                <a:spcPts val="0"/>
              </a:spcBef>
              <a:spcAft>
                <a:spcPts val="0"/>
              </a:spcAft>
              <a:buClrTx/>
              <a:buSzTx/>
              <a:buFontTx/>
              <a:buNone/>
              <a:tabLst/>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打印“</a:t>
            </a:r>
            <a:r>
              <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rPr>
              <a:t>Hello World! ! !</a:t>
            </a: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kumimoji="0" lang="zh-CN" altLang="en-US" sz="1200" i="0" u="none" strike="noStrike" cap="none" spc="0" normalizeH="0" baseline="0" dirty="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grpSp>
        <p:nvGrpSpPr>
          <p:cNvPr id="21" name="组合 20">
            <a:extLst>
              <a:ext uri="{FF2B5EF4-FFF2-40B4-BE49-F238E27FC236}">
                <a16:creationId xmlns:a16="http://schemas.microsoft.com/office/drawing/2014/main" id="{36D4347F-007A-0838-4AC2-C4AE71D50751}"/>
              </a:ext>
            </a:extLst>
          </p:cNvPr>
          <p:cNvGrpSpPr/>
          <p:nvPr/>
        </p:nvGrpSpPr>
        <p:grpSpPr>
          <a:xfrm>
            <a:off x="590549" y="2390382"/>
            <a:ext cx="4127295" cy="2261902"/>
            <a:chOff x="355395" y="1894237"/>
            <a:chExt cx="4362450" cy="2390775"/>
          </a:xfrm>
        </p:grpSpPr>
        <p:pic>
          <p:nvPicPr>
            <p:cNvPr id="4" name="图片 3">
              <a:extLst>
                <a:ext uri="{FF2B5EF4-FFF2-40B4-BE49-F238E27FC236}">
                  <a16:creationId xmlns:a16="http://schemas.microsoft.com/office/drawing/2014/main" id="{51383FE1-72A9-E072-3248-95A0899C65CD}"/>
                </a:ext>
              </a:extLst>
            </p:cNvPr>
            <p:cNvPicPr>
              <a:picLocks noChangeAspect="1"/>
            </p:cNvPicPr>
            <p:nvPr/>
          </p:nvPicPr>
          <p:blipFill>
            <a:blip r:embed="rId4"/>
            <a:stretch>
              <a:fillRect/>
            </a:stretch>
          </p:blipFill>
          <p:spPr>
            <a:xfrm>
              <a:off x="355395" y="1894237"/>
              <a:ext cx="4362450" cy="2390775"/>
            </a:xfrm>
            <a:prstGeom prst="rect">
              <a:avLst/>
            </a:prstGeom>
          </p:spPr>
        </p:pic>
        <p:sp>
          <p:nvSpPr>
            <p:cNvPr id="6" name="矩形 5">
              <a:extLst>
                <a:ext uri="{FF2B5EF4-FFF2-40B4-BE49-F238E27FC236}">
                  <a16:creationId xmlns:a16="http://schemas.microsoft.com/office/drawing/2014/main" id="{F71B7EE1-0BDE-CF85-8A7C-B853248533EA}"/>
                </a:ext>
              </a:extLst>
            </p:cNvPr>
            <p:cNvSpPr/>
            <p:nvPr/>
          </p:nvSpPr>
          <p:spPr>
            <a:xfrm>
              <a:off x="911135" y="2657828"/>
              <a:ext cx="3250969" cy="369328"/>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sp>
          <p:nvSpPr>
            <p:cNvPr id="9" name="矩形 8">
              <a:extLst>
                <a:ext uri="{FF2B5EF4-FFF2-40B4-BE49-F238E27FC236}">
                  <a16:creationId xmlns:a16="http://schemas.microsoft.com/office/drawing/2014/main" id="{D5157495-137A-A103-E0D4-775448B01DB0}"/>
                </a:ext>
              </a:extLst>
            </p:cNvPr>
            <p:cNvSpPr/>
            <p:nvPr/>
          </p:nvSpPr>
          <p:spPr>
            <a:xfrm>
              <a:off x="914265" y="3711603"/>
              <a:ext cx="3564217" cy="369328"/>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grpSp>
      <p:sp>
        <p:nvSpPr>
          <p:cNvPr id="14" name="文本框 13">
            <a:extLst>
              <a:ext uri="{FF2B5EF4-FFF2-40B4-BE49-F238E27FC236}">
                <a16:creationId xmlns:a16="http://schemas.microsoft.com/office/drawing/2014/main" id="{FDD866D4-5ADA-05BB-054D-7E2D342E9E27}"/>
              </a:ext>
            </a:extLst>
          </p:cNvPr>
          <p:cNvSpPr txBox="1"/>
          <p:nvPr/>
        </p:nvSpPr>
        <p:spPr>
          <a:xfrm>
            <a:off x="1492342" y="5009318"/>
            <a:ext cx="2323709"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77" rtl="0" fontAlgn="auto" latinLnBrk="0" hangingPunct="0">
              <a:lnSpc>
                <a:spcPct val="100000"/>
              </a:lnSpc>
              <a:spcBef>
                <a:spcPts val="0"/>
              </a:spcBef>
              <a:spcAft>
                <a:spcPts val="0"/>
              </a:spcAft>
              <a:buClrTx/>
              <a:buSzTx/>
              <a:buFontTx/>
              <a:buNone/>
              <a:tabLst/>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封装为内核符调用模式</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&lt;&lt;&lt;…&gt;&gt;&gt;</a:t>
            </a:r>
          </a:p>
        </p:txBody>
      </p:sp>
      <p:cxnSp>
        <p:nvCxnSpPr>
          <p:cNvPr id="15" name="直接箭头连接符 14">
            <a:extLst>
              <a:ext uri="{FF2B5EF4-FFF2-40B4-BE49-F238E27FC236}">
                <a16:creationId xmlns:a16="http://schemas.microsoft.com/office/drawing/2014/main" id="{CFB5C7C2-EF40-4882-E1C3-1EADC4040221}"/>
              </a:ext>
            </a:extLst>
          </p:cNvPr>
          <p:cNvCxnSpPr>
            <a:cxnSpLocks/>
            <a:stCxn id="10" idx="2"/>
            <a:endCxn id="16" idx="0"/>
          </p:cNvCxnSpPr>
          <p:nvPr/>
        </p:nvCxnSpPr>
        <p:spPr>
          <a:xfrm flipH="1">
            <a:off x="6733319" y="4029075"/>
            <a:ext cx="1" cy="1656680"/>
          </a:xfrm>
          <a:prstGeom prst="straightConnector1">
            <a:avLst/>
          </a:prstGeom>
          <a:noFill/>
          <a:ln w="19050" cap="flat">
            <a:solidFill>
              <a:srgbClr val="C00000"/>
            </a:solidFill>
            <a:prstDash val="solid"/>
            <a:round/>
            <a:tailEnd type="triangle"/>
          </a:ln>
          <a:effectLst/>
          <a:sp3d/>
        </p:spPr>
        <p:style>
          <a:lnRef idx="0">
            <a:scrgbClr r="0" g="0" b="0"/>
          </a:lnRef>
          <a:fillRef idx="0">
            <a:scrgbClr r="0" g="0" b="0"/>
          </a:fillRef>
          <a:effectRef idx="0">
            <a:scrgbClr r="0" g="0" b="0"/>
          </a:effectRef>
          <a:fontRef idx="none"/>
        </p:style>
      </p:cxnSp>
      <p:sp>
        <p:nvSpPr>
          <p:cNvPr id="16" name="文本框 15">
            <a:extLst>
              <a:ext uri="{FF2B5EF4-FFF2-40B4-BE49-F238E27FC236}">
                <a16:creationId xmlns:a16="http://schemas.microsoft.com/office/drawing/2014/main" id="{F604245F-05E1-7DD3-5CE5-700EC607EE5F}"/>
              </a:ext>
            </a:extLst>
          </p:cNvPr>
          <p:cNvSpPr txBox="1"/>
          <p:nvPr/>
        </p:nvSpPr>
        <p:spPr>
          <a:xfrm>
            <a:off x="5302160" y="5685755"/>
            <a:ext cx="28623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77" rtl="0" fontAlgn="auto" latinLnBrk="0" hangingPunct="0">
              <a:lnSpc>
                <a:spcPct val="100000"/>
              </a:lnSpc>
              <a:spcBef>
                <a:spcPts val="0"/>
              </a:spcBef>
              <a:spcAft>
                <a:spcPts val="0"/>
              </a:spcAft>
              <a:buClrTx/>
              <a:buSzTx/>
              <a:buFontTx/>
              <a:buNone/>
              <a:tabLst/>
            </a:pPr>
            <a:r>
              <a:rPr lang="zh-CN" altLang="en-US" sz="1200" dirty="0">
                <a:solidFill>
                  <a:srgbClr val="000000"/>
                </a:solidFill>
                <a:latin typeface="Arial" panose="020B0604020202020204" pitchFamily="34" charset="0"/>
                <a:ea typeface="微软雅黑" panose="020B0503020204020204" pitchFamily="34" charset="-122"/>
                <a:cs typeface="Arial" panose="020B0604020202020204" pitchFamily="34" charset="0"/>
              </a:rPr>
              <a:t>在核函数调用应用程序中进行内核符调用</a:t>
            </a:r>
            <a:endParaRPr lang="en-US" altLang="zh-CN" sz="12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矩形 16">
            <a:extLst>
              <a:ext uri="{FF2B5EF4-FFF2-40B4-BE49-F238E27FC236}">
                <a16:creationId xmlns:a16="http://schemas.microsoft.com/office/drawing/2014/main" id="{F2C11516-8133-9EB2-2DEC-A87952945F4E}"/>
              </a:ext>
            </a:extLst>
          </p:cNvPr>
          <p:cNvSpPr/>
          <p:nvPr/>
        </p:nvSpPr>
        <p:spPr>
          <a:xfrm>
            <a:off x="5302160" y="2320521"/>
            <a:ext cx="2946014" cy="2965854"/>
          </a:xfrm>
          <a:prstGeom prst="rect">
            <a:avLst/>
          </a:prstGeom>
          <a:noFill/>
          <a:ln w="12700" cap="flat">
            <a:solidFill>
              <a:schemeClr val="bg1">
                <a:lumMod val="60000"/>
                <a:lumOff val="40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cxnSp>
        <p:nvCxnSpPr>
          <p:cNvPr id="7" name="直接箭头连接符 6">
            <a:extLst>
              <a:ext uri="{FF2B5EF4-FFF2-40B4-BE49-F238E27FC236}">
                <a16:creationId xmlns:a16="http://schemas.microsoft.com/office/drawing/2014/main" id="{73F48F24-8FCD-3DDA-6B37-19CEBA0BBAEB}"/>
              </a:ext>
            </a:extLst>
          </p:cNvPr>
          <p:cNvCxnSpPr>
            <a:cxnSpLocks/>
            <a:stCxn id="6" idx="0"/>
            <a:endCxn id="8" idx="2"/>
          </p:cNvCxnSpPr>
          <p:nvPr/>
        </p:nvCxnSpPr>
        <p:spPr>
          <a:xfrm flipV="1">
            <a:off x="2654196" y="2033347"/>
            <a:ext cx="0" cy="1079465"/>
          </a:xfrm>
          <a:prstGeom prst="straightConnector1">
            <a:avLst/>
          </a:prstGeom>
          <a:noFill/>
          <a:ln w="19050" cap="flat">
            <a:solidFill>
              <a:srgbClr val="C00000"/>
            </a:solidFill>
            <a:prstDash val="solid"/>
            <a:round/>
            <a:tailEnd type="triangle"/>
          </a:ln>
          <a:effectLst/>
          <a:sp3d/>
        </p:spPr>
        <p:style>
          <a:lnRef idx="0">
            <a:scrgbClr r="0" g="0" b="0"/>
          </a:lnRef>
          <a:fillRef idx="0">
            <a:scrgbClr r="0" g="0" b="0"/>
          </a:fillRef>
          <a:effectRef idx="0">
            <a:scrgbClr r="0" g="0" b="0"/>
          </a:effectRef>
          <a:fontRef idx="none"/>
        </p:style>
      </p:cxnSp>
      <p:cxnSp>
        <p:nvCxnSpPr>
          <p:cNvPr id="13" name="直接箭头连接符 12">
            <a:extLst>
              <a:ext uri="{FF2B5EF4-FFF2-40B4-BE49-F238E27FC236}">
                <a16:creationId xmlns:a16="http://schemas.microsoft.com/office/drawing/2014/main" id="{3951D5CE-5E6F-7095-A2E3-11BA6DB0E854}"/>
              </a:ext>
            </a:extLst>
          </p:cNvPr>
          <p:cNvCxnSpPr>
            <a:cxnSpLocks/>
            <a:endCxn id="14" idx="0"/>
          </p:cNvCxnSpPr>
          <p:nvPr/>
        </p:nvCxnSpPr>
        <p:spPr>
          <a:xfrm>
            <a:off x="2654197" y="4459204"/>
            <a:ext cx="0" cy="550114"/>
          </a:xfrm>
          <a:prstGeom prst="straightConnector1">
            <a:avLst/>
          </a:prstGeom>
          <a:noFill/>
          <a:ln w="19050" cap="flat">
            <a:solidFill>
              <a:srgbClr val="C00000"/>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97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AC7D-9635-AB9B-E4B8-9FC12EE49FF2}"/>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6818D644-582E-B3B3-0B67-9AE13F7DFF64}"/>
              </a:ext>
            </a:extLst>
          </p:cNvPr>
          <p:cNvSpPr txBox="1">
            <a:spLocks/>
          </p:cNvSpPr>
          <p:nvPr/>
        </p:nvSpPr>
        <p:spPr>
          <a:xfrm>
            <a:off x="4637883" y="411900"/>
            <a:ext cx="2920992"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单算子</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调用</a:t>
            </a:r>
          </a:p>
        </p:txBody>
      </p:sp>
      <p:pic>
        <p:nvPicPr>
          <p:cNvPr id="2" name="图片 1">
            <a:extLst>
              <a:ext uri="{FF2B5EF4-FFF2-40B4-BE49-F238E27FC236}">
                <a16:creationId xmlns:a16="http://schemas.microsoft.com/office/drawing/2014/main" id="{C8247B82-7FBD-490E-A9AF-8900A759C77B}"/>
              </a:ext>
            </a:extLst>
          </p:cNvPr>
          <p:cNvPicPr>
            <a:picLocks noChangeAspect="1"/>
          </p:cNvPicPr>
          <p:nvPr/>
        </p:nvPicPr>
        <p:blipFill>
          <a:blip r:embed="rId2"/>
          <a:stretch>
            <a:fillRect/>
          </a:stretch>
        </p:blipFill>
        <p:spPr>
          <a:xfrm>
            <a:off x="7700864" y="1069826"/>
            <a:ext cx="2864644" cy="5268454"/>
          </a:xfrm>
          <a:prstGeom prst="rect">
            <a:avLst/>
          </a:prstGeom>
        </p:spPr>
      </p:pic>
      <p:pic>
        <p:nvPicPr>
          <p:cNvPr id="3" name="图片 2">
            <a:extLst>
              <a:ext uri="{FF2B5EF4-FFF2-40B4-BE49-F238E27FC236}">
                <a16:creationId xmlns:a16="http://schemas.microsoft.com/office/drawing/2014/main" id="{E03B8C72-DA36-EFF9-B75C-10DA6B2A7E31}"/>
              </a:ext>
            </a:extLst>
          </p:cNvPr>
          <p:cNvPicPr>
            <a:picLocks noChangeAspect="1"/>
          </p:cNvPicPr>
          <p:nvPr/>
        </p:nvPicPr>
        <p:blipFill>
          <a:blip r:embed="rId3"/>
          <a:stretch>
            <a:fillRect/>
          </a:stretch>
        </p:blipFill>
        <p:spPr>
          <a:xfrm>
            <a:off x="1901019" y="1125538"/>
            <a:ext cx="4950408" cy="5183187"/>
          </a:xfrm>
          <a:prstGeom prst="rect">
            <a:avLst/>
          </a:prstGeom>
        </p:spPr>
      </p:pic>
      <p:sp>
        <p:nvSpPr>
          <p:cNvPr id="4" name="矩形 3">
            <a:extLst>
              <a:ext uri="{FF2B5EF4-FFF2-40B4-BE49-F238E27FC236}">
                <a16:creationId xmlns:a16="http://schemas.microsoft.com/office/drawing/2014/main" id="{CB3E8A5A-C9BB-CAB6-8D48-B104C5299D3A}"/>
              </a:ext>
            </a:extLst>
          </p:cNvPr>
          <p:cNvSpPr/>
          <p:nvPr/>
        </p:nvSpPr>
        <p:spPr>
          <a:xfrm>
            <a:off x="2151990" y="1125538"/>
            <a:ext cx="4600039" cy="295576"/>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5" name="矩形 4">
            <a:extLst>
              <a:ext uri="{FF2B5EF4-FFF2-40B4-BE49-F238E27FC236}">
                <a16:creationId xmlns:a16="http://schemas.microsoft.com/office/drawing/2014/main" id="{D887CE12-AC7A-D1EA-F260-2A5EA9642426}"/>
              </a:ext>
            </a:extLst>
          </p:cNvPr>
          <p:cNvSpPr/>
          <p:nvPr/>
        </p:nvSpPr>
        <p:spPr>
          <a:xfrm>
            <a:off x="2151990" y="1573922"/>
            <a:ext cx="4600039" cy="295576"/>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6" name="矩形 5">
            <a:extLst>
              <a:ext uri="{FF2B5EF4-FFF2-40B4-BE49-F238E27FC236}">
                <a16:creationId xmlns:a16="http://schemas.microsoft.com/office/drawing/2014/main" id="{EDAA30DD-208D-C5D5-6ED0-BCCA1B46E66E}"/>
              </a:ext>
            </a:extLst>
          </p:cNvPr>
          <p:cNvSpPr/>
          <p:nvPr/>
        </p:nvSpPr>
        <p:spPr>
          <a:xfrm>
            <a:off x="2151990" y="2450010"/>
            <a:ext cx="4600039" cy="295576"/>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7" name="矩形 6">
            <a:extLst>
              <a:ext uri="{FF2B5EF4-FFF2-40B4-BE49-F238E27FC236}">
                <a16:creationId xmlns:a16="http://schemas.microsoft.com/office/drawing/2014/main" id="{B3610D49-2DAF-051E-D530-D578780C7754}"/>
              </a:ext>
            </a:extLst>
          </p:cNvPr>
          <p:cNvSpPr/>
          <p:nvPr/>
        </p:nvSpPr>
        <p:spPr>
          <a:xfrm>
            <a:off x="2151990" y="3637619"/>
            <a:ext cx="4600039" cy="295576"/>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8" name="矩形 7">
            <a:extLst>
              <a:ext uri="{FF2B5EF4-FFF2-40B4-BE49-F238E27FC236}">
                <a16:creationId xmlns:a16="http://schemas.microsoft.com/office/drawing/2014/main" id="{90BA0D59-F5DD-6C1C-1435-4B9249AD4D33}"/>
              </a:ext>
            </a:extLst>
          </p:cNvPr>
          <p:cNvSpPr/>
          <p:nvPr/>
        </p:nvSpPr>
        <p:spPr>
          <a:xfrm>
            <a:off x="2151990" y="4981383"/>
            <a:ext cx="4600039" cy="295576"/>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9" name="矩形 8">
            <a:extLst>
              <a:ext uri="{FF2B5EF4-FFF2-40B4-BE49-F238E27FC236}">
                <a16:creationId xmlns:a16="http://schemas.microsoft.com/office/drawing/2014/main" id="{061ACC8C-CDEE-35F2-9E74-6511E750F5C0}"/>
              </a:ext>
            </a:extLst>
          </p:cNvPr>
          <p:cNvSpPr/>
          <p:nvPr/>
        </p:nvSpPr>
        <p:spPr>
          <a:xfrm>
            <a:off x="2151990" y="5400635"/>
            <a:ext cx="4600039" cy="295575"/>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10" name="矩形 9">
            <a:extLst>
              <a:ext uri="{FF2B5EF4-FFF2-40B4-BE49-F238E27FC236}">
                <a16:creationId xmlns:a16="http://schemas.microsoft.com/office/drawing/2014/main" id="{6909BBB8-DF1B-5F9E-C74F-DAD518C8FA46}"/>
              </a:ext>
            </a:extLst>
          </p:cNvPr>
          <p:cNvSpPr/>
          <p:nvPr/>
        </p:nvSpPr>
        <p:spPr>
          <a:xfrm>
            <a:off x="2151990" y="5744535"/>
            <a:ext cx="4600039" cy="252000"/>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sp>
        <p:nvSpPr>
          <p:cNvPr id="12" name="矩形 11">
            <a:extLst>
              <a:ext uri="{FF2B5EF4-FFF2-40B4-BE49-F238E27FC236}">
                <a16:creationId xmlns:a16="http://schemas.microsoft.com/office/drawing/2014/main" id="{99C6CA6D-E27A-AADF-DE43-662C043333B5}"/>
              </a:ext>
            </a:extLst>
          </p:cNvPr>
          <p:cNvSpPr/>
          <p:nvPr/>
        </p:nvSpPr>
        <p:spPr>
          <a:xfrm>
            <a:off x="2151990" y="6044860"/>
            <a:ext cx="4600039" cy="252000"/>
          </a:xfrm>
          <a:prstGeom prst="rect">
            <a:avLst/>
          </a:prstGeom>
          <a:noFill/>
          <a:ln w="19050" cap="flat">
            <a:solidFill>
              <a:srgbClr val="C0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indent="0" algn="l" defTabSz="914477"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黑体" panose="02010609060101010101" pitchFamily="49" charset="-122"/>
              <a:cs typeface="Times New Roman" panose="02020603050405020304" pitchFamily="18" charset="0"/>
              <a:sym typeface="Huawei Sans"/>
            </a:endParaRPr>
          </a:p>
        </p:txBody>
      </p:sp>
      <p:cxnSp>
        <p:nvCxnSpPr>
          <p:cNvPr id="13" name="直接箭头连接符 12">
            <a:extLst>
              <a:ext uri="{FF2B5EF4-FFF2-40B4-BE49-F238E27FC236}">
                <a16:creationId xmlns:a16="http://schemas.microsoft.com/office/drawing/2014/main" id="{6F86354D-AB75-B577-83EA-8AA6E6D4CDDA}"/>
              </a:ext>
            </a:extLst>
          </p:cNvPr>
          <p:cNvCxnSpPr>
            <a:cxnSpLocks/>
            <a:stCxn id="4" idx="3"/>
          </p:cNvCxnSpPr>
          <p:nvPr/>
        </p:nvCxnSpPr>
        <p:spPr>
          <a:xfrm>
            <a:off x="6752029" y="1273326"/>
            <a:ext cx="1445115" cy="497356"/>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a:extLst>
              <a:ext uri="{FF2B5EF4-FFF2-40B4-BE49-F238E27FC236}">
                <a16:creationId xmlns:a16="http://schemas.microsoft.com/office/drawing/2014/main" id="{45C0750F-19E6-0887-07B0-3E982AB018CC}"/>
              </a:ext>
            </a:extLst>
          </p:cNvPr>
          <p:cNvCxnSpPr>
            <a:cxnSpLocks/>
            <a:stCxn id="5" idx="3"/>
          </p:cNvCxnSpPr>
          <p:nvPr/>
        </p:nvCxnSpPr>
        <p:spPr>
          <a:xfrm>
            <a:off x="6752029" y="1721710"/>
            <a:ext cx="1445115" cy="397312"/>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5" name="直接箭头连接符 14">
            <a:extLst>
              <a:ext uri="{FF2B5EF4-FFF2-40B4-BE49-F238E27FC236}">
                <a16:creationId xmlns:a16="http://schemas.microsoft.com/office/drawing/2014/main" id="{EC2FE4BC-BD51-F79D-785D-2B59E523D5D1}"/>
              </a:ext>
            </a:extLst>
          </p:cNvPr>
          <p:cNvCxnSpPr>
            <a:cxnSpLocks/>
            <a:stCxn id="6" idx="3"/>
          </p:cNvCxnSpPr>
          <p:nvPr/>
        </p:nvCxnSpPr>
        <p:spPr>
          <a:xfrm>
            <a:off x="6752029" y="2597798"/>
            <a:ext cx="1445115" cy="473727"/>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直接箭头连接符 15">
            <a:extLst>
              <a:ext uri="{FF2B5EF4-FFF2-40B4-BE49-F238E27FC236}">
                <a16:creationId xmlns:a16="http://schemas.microsoft.com/office/drawing/2014/main" id="{0C3A2B98-02E5-6C06-9A36-D89A455F05FD}"/>
              </a:ext>
            </a:extLst>
          </p:cNvPr>
          <p:cNvCxnSpPr>
            <a:cxnSpLocks/>
            <a:stCxn id="7" idx="3"/>
          </p:cNvCxnSpPr>
          <p:nvPr/>
        </p:nvCxnSpPr>
        <p:spPr>
          <a:xfrm flipV="1">
            <a:off x="6752029" y="3562297"/>
            <a:ext cx="1445115" cy="223110"/>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7" name="直接箭头连接符 16">
            <a:extLst>
              <a:ext uri="{FF2B5EF4-FFF2-40B4-BE49-F238E27FC236}">
                <a16:creationId xmlns:a16="http://schemas.microsoft.com/office/drawing/2014/main" id="{35F977AB-6BC7-139C-D54E-28A75B7D3F53}"/>
              </a:ext>
            </a:extLst>
          </p:cNvPr>
          <p:cNvCxnSpPr>
            <a:cxnSpLocks/>
            <a:stCxn id="8" idx="3"/>
          </p:cNvCxnSpPr>
          <p:nvPr/>
        </p:nvCxnSpPr>
        <p:spPr>
          <a:xfrm flipV="1">
            <a:off x="6752029" y="4058877"/>
            <a:ext cx="1445115" cy="1070294"/>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直接箭头连接符 17">
            <a:extLst>
              <a:ext uri="{FF2B5EF4-FFF2-40B4-BE49-F238E27FC236}">
                <a16:creationId xmlns:a16="http://schemas.microsoft.com/office/drawing/2014/main" id="{3F0BF6FD-1E52-9E36-E420-068EC287DFDD}"/>
              </a:ext>
            </a:extLst>
          </p:cNvPr>
          <p:cNvCxnSpPr>
            <a:cxnSpLocks/>
            <a:stCxn id="9" idx="3"/>
          </p:cNvCxnSpPr>
          <p:nvPr/>
        </p:nvCxnSpPr>
        <p:spPr>
          <a:xfrm flipV="1">
            <a:off x="6752029" y="4512097"/>
            <a:ext cx="1445115" cy="1036326"/>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直接箭头连接符 18">
            <a:extLst>
              <a:ext uri="{FF2B5EF4-FFF2-40B4-BE49-F238E27FC236}">
                <a16:creationId xmlns:a16="http://schemas.microsoft.com/office/drawing/2014/main" id="{6548DBC2-422C-E2FA-A700-A51405627ED2}"/>
              </a:ext>
            </a:extLst>
          </p:cNvPr>
          <p:cNvCxnSpPr>
            <a:cxnSpLocks/>
            <a:stCxn id="10" idx="3"/>
          </p:cNvCxnSpPr>
          <p:nvPr/>
        </p:nvCxnSpPr>
        <p:spPr>
          <a:xfrm flipV="1">
            <a:off x="6752029" y="5342769"/>
            <a:ext cx="1445115" cy="527766"/>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20" name="直接箭头连接符 19">
            <a:extLst>
              <a:ext uri="{FF2B5EF4-FFF2-40B4-BE49-F238E27FC236}">
                <a16:creationId xmlns:a16="http://schemas.microsoft.com/office/drawing/2014/main" id="{592A7813-7CCD-C368-F994-8D0E95ECFA99}"/>
              </a:ext>
            </a:extLst>
          </p:cNvPr>
          <p:cNvCxnSpPr>
            <a:cxnSpLocks/>
            <a:stCxn id="12" idx="3"/>
          </p:cNvCxnSpPr>
          <p:nvPr/>
        </p:nvCxnSpPr>
        <p:spPr>
          <a:xfrm flipV="1">
            <a:off x="6752029" y="5658168"/>
            <a:ext cx="1445115" cy="512692"/>
          </a:xfrm>
          <a:prstGeom prst="straightConnector1">
            <a:avLst/>
          </a:prstGeom>
          <a:ln w="12700">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21" name="文本框 20">
            <a:extLst>
              <a:ext uri="{FF2B5EF4-FFF2-40B4-BE49-F238E27FC236}">
                <a16:creationId xmlns:a16="http://schemas.microsoft.com/office/drawing/2014/main" id="{CEEAA74A-BAB3-A31B-0DEF-945EEB68D0B2}"/>
              </a:ext>
            </a:extLst>
          </p:cNvPr>
          <p:cNvSpPr txBox="1"/>
          <p:nvPr/>
        </p:nvSpPr>
        <p:spPr>
          <a:xfrm>
            <a:off x="7171882" y="1159509"/>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①</a:t>
            </a:r>
          </a:p>
        </p:txBody>
      </p:sp>
      <p:sp>
        <p:nvSpPr>
          <p:cNvPr id="22" name="文本框 21">
            <a:extLst>
              <a:ext uri="{FF2B5EF4-FFF2-40B4-BE49-F238E27FC236}">
                <a16:creationId xmlns:a16="http://schemas.microsoft.com/office/drawing/2014/main" id="{D416BD2E-DC81-A141-A208-2AC04843B05D}"/>
              </a:ext>
            </a:extLst>
          </p:cNvPr>
          <p:cNvSpPr txBox="1"/>
          <p:nvPr/>
        </p:nvSpPr>
        <p:spPr>
          <a:xfrm>
            <a:off x="7171882" y="1602408"/>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②</a:t>
            </a:r>
          </a:p>
        </p:txBody>
      </p:sp>
      <p:sp>
        <p:nvSpPr>
          <p:cNvPr id="23" name="文本框 22">
            <a:extLst>
              <a:ext uri="{FF2B5EF4-FFF2-40B4-BE49-F238E27FC236}">
                <a16:creationId xmlns:a16="http://schemas.microsoft.com/office/drawing/2014/main" id="{E4EDADEA-888F-2A8C-8860-C3FA77667D67}"/>
              </a:ext>
            </a:extLst>
          </p:cNvPr>
          <p:cNvSpPr txBox="1"/>
          <p:nvPr/>
        </p:nvSpPr>
        <p:spPr>
          <a:xfrm>
            <a:off x="1631255" y="2036646"/>
            <a:ext cx="220569" cy="2462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③</a:t>
            </a:r>
          </a:p>
        </p:txBody>
      </p:sp>
      <p:sp>
        <p:nvSpPr>
          <p:cNvPr id="24" name="文本框 23">
            <a:extLst>
              <a:ext uri="{FF2B5EF4-FFF2-40B4-BE49-F238E27FC236}">
                <a16:creationId xmlns:a16="http://schemas.microsoft.com/office/drawing/2014/main" id="{083FC4FF-7E82-B938-36D3-3DFC8F9730D4}"/>
              </a:ext>
            </a:extLst>
          </p:cNvPr>
          <p:cNvSpPr txBox="1"/>
          <p:nvPr/>
        </p:nvSpPr>
        <p:spPr>
          <a:xfrm>
            <a:off x="7171882" y="2483981"/>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④</a:t>
            </a:r>
          </a:p>
        </p:txBody>
      </p:sp>
      <p:sp>
        <p:nvSpPr>
          <p:cNvPr id="25" name="文本框 24">
            <a:extLst>
              <a:ext uri="{FF2B5EF4-FFF2-40B4-BE49-F238E27FC236}">
                <a16:creationId xmlns:a16="http://schemas.microsoft.com/office/drawing/2014/main" id="{13E6CA64-83B5-9D70-46F7-CC894ED71635}"/>
              </a:ext>
            </a:extLst>
          </p:cNvPr>
          <p:cNvSpPr txBox="1"/>
          <p:nvPr/>
        </p:nvSpPr>
        <p:spPr>
          <a:xfrm>
            <a:off x="7171882" y="3402227"/>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⑤</a:t>
            </a:r>
          </a:p>
        </p:txBody>
      </p:sp>
      <p:sp>
        <p:nvSpPr>
          <p:cNvPr id="26" name="文本框 25">
            <a:extLst>
              <a:ext uri="{FF2B5EF4-FFF2-40B4-BE49-F238E27FC236}">
                <a16:creationId xmlns:a16="http://schemas.microsoft.com/office/drawing/2014/main" id="{7CA3F4F3-4165-C498-B51B-589223143926}"/>
              </a:ext>
            </a:extLst>
          </p:cNvPr>
          <p:cNvSpPr txBox="1"/>
          <p:nvPr/>
        </p:nvSpPr>
        <p:spPr>
          <a:xfrm>
            <a:off x="7184706" y="4429769"/>
            <a:ext cx="220569"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⑥</a:t>
            </a:r>
          </a:p>
        </p:txBody>
      </p:sp>
      <p:sp>
        <p:nvSpPr>
          <p:cNvPr id="27" name="文本框 26">
            <a:extLst>
              <a:ext uri="{FF2B5EF4-FFF2-40B4-BE49-F238E27FC236}">
                <a16:creationId xmlns:a16="http://schemas.microsoft.com/office/drawing/2014/main" id="{699AFF64-9166-5D95-FBCE-2986BB38A725}"/>
              </a:ext>
            </a:extLst>
          </p:cNvPr>
          <p:cNvSpPr txBox="1"/>
          <p:nvPr/>
        </p:nvSpPr>
        <p:spPr>
          <a:xfrm>
            <a:off x="7171882" y="4853967"/>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lang="zh-CN" altLang="en-US" sz="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⑦</a:t>
            </a:r>
            <a:endPar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endParaRPr>
          </a:p>
        </p:txBody>
      </p:sp>
      <p:sp>
        <p:nvSpPr>
          <p:cNvPr id="28" name="文本框 27">
            <a:extLst>
              <a:ext uri="{FF2B5EF4-FFF2-40B4-BE49-F238E27FC236}">
                <a16:creationId xmlns:a16="http://schemas.microsoft.com/office/drawing/2014/main" id="{65F85334-1C9B-3475-06B9-2D88F5420114}"/>
              </a:ext>
            </a:extLst>
          </p:cNvPr>
          <p:cNvSpPr txBox="1"/>
          <p:nvPr/>
        </p:nvSpPr>
        <p:spPr>
          <a:xfrm>
            <a:off x="1631255" y="5425314"/>
            <a:ext cx="220569" cy="2462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lang="zh-CN" altLang="en-US" sz="1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⑧</a:t>
            </a:r>
            <a:endParaRPr kumimoji="0" lang="zh-CN" altLang="en-US" sz="10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endParaRPr>
          </a:p>
        </p:txBody>
      </p:sp>
      <p:sp>
        <p:nvSpPr>
          <p:cNvPr id="29" name="文本框 28">
            <a:extLst>
              <a:ext uri="{FF2B5EF4-FFF2-40B4-BE49-F238E27FC236}">
                <a16:creationId xmlns:a16="http://schemas.microsoft.com/office/drawing/2014/main" id="{9B7A501E-C6BF-1D8E-4E74-FB725F09ABDB}"/>
              </a:ext>
            </a:extLst>
          </p:cNvPr>
          <p:cNvSpPr txBox="1"/>
          <p:nvPr/>
        </p:nvSpPr>
        <p:spPr>
          <a:xfrm>
            <a:off x="7171882" y="5370528"/>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rPr>
              <a:t>⑨</a:t>
            </a:r>
          </a:p>
        </p:txBody>
      </p:sp>
      <p:sp>
        <p:nvSpPr>
          <p:cNvPr id="30" name="文本框 29">
            <a:extLst>
              <a:ext uri="{FF2B5EF4-FFF2-40B4-BE49-F238E27FC236}">
                <a16:creationId xmlns:a16="http://schemas.microsoft.com/office/drawing/2014/main" id="{961948BB-2746-A15C-22DF-957A29CFF1EE}"/>
              </a:ext>
            </a:extLst>
          </p:cNvPr>
          <p:cNvSpPr txBox="1"/>
          <p:nvPr/>
        </p:nvSpPr>
        <p:spPr>
          <a:xfrm>
            <a:off x="7171882" y="5710650"/>
            <a:ext cx="246218"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ctr">
            <a:spAutoFit/>
          </a:bodyPr>
          <a:lstStyle/>
          <a:p>
            <a:pPr marL="0" marR="0" indent="0" algn="ctr" defTabSz="914477" rtl="0" fontAlgn="auto" latinLnBrk="0" hangingPunct="0">
              <a:lnSpc>
                <a:spcPct val="100000"/>
              </a:lnSpc>
              <a:spcBef>
                <a:spcPts val="0"/>
              </a:spcBef>
              <a:spcAft>
                <a:spcPts val="0"/>
              </a:spcAft>
              <a:buClrTx/>
              <a:buSzTx/>
              <a:buFontTx/>
              <a:buNone/>
              <a:tabLst/>
            </a:pPr>
            <a:r>
              <a:rPr lang="zh-CN" altLang="en-US" sz="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⑩</a:t>
            </a:r>
            <a:endParaRPr kumimoji="0" lang="zh-CN" altLang="en-US" sz="1200" b="0" i="0" u="none" strike="noStrike" cap="none" spc="0" normalizeH="0" baseline="0" dirty="0">
              <a:ln>
                <a:noFill/>
              </a:ln>
              <a:solidFill>
                <a:srgbClr val="C00000"/>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uawei Sans"/>
            </a:endParaRPr>
          </a:p>
        </p:txBody>
      </p:sp>
    </p:spTree>
    <p:extLst>
      <p:ext uri="{BB962C8B-B14F-4D97-AF65-F5344CB8AC3E}">
        <p14:creationId xmlns:p14="http://schemas.microsoft.com/office/powerpoint/2010/main" val="84729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3448D-3188-D9E3-6341-BFCCEF34AB5F}"/>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A291A6DC-D6F5-4DC3-1D28-68706B01FB0C}"/>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8" name="矩形: 圆角 7">
            <a:extLst>
              <a:ext uri="{FF2B5EF4-FFF2-40B4-BE49-F238E27FC236}">
                <a16:creationId xmlns:a16="http://schemas.microsoft.com/office/drawing/2014/main" id="{1CFEE1C5-97D6-A6BF-B78D-55A47D3464E0}"/>
              </a:ext>
            </a:extLst>
          </p:cNvPr>
          <p:cNvSpPr/>
          <p:nvPr/>
        </p:nvSpPr>
        <p:spPr>
          <a:xfrm>
            <a:off x="4712642"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819F194D-1538-A86E-2754-2ACF0354529D}"/>
              </a:ext>
            </a:extLst>
          </p:cNvPr>
          <p:cNvSpPr txBox="1"/>
          <p:nvPr/>
        </p:nvSpPr>
        <p:spPr>
          <a:xfrm>
            <a:off x="5265051" y="2213479"/>
            <a:ext cx="2262158"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并行计算的基本原理</a:t>
            </a:r>
          </a:p>
        </p:txBody>
      </p:sp>
      <p:sp>
        <p:nvSpPr>
          <p:cNvPr id="14" name="矩形: 圆角 13">
            <a:extLst>
              <a:ext uri="{FF2B5EF4-FFF2-40B4-BE49-F238E27FC236}">
                <a16:creationId xmlns:a16="http://schemas.microsoft.com/office/drawing/2014/main" id="{D653E4C2-2582-2D3A-4AB3-30F731A8E2B3}"/>
              </a:ext>
            </a:extLst>
          </p:cNvPr>
          <p:cNvSpPr/>
          <p:nvPr/>
        </p:nvSpPr>
        <p:spPr>
          <a:xfrm>
            <a:off x="4712642"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a:extLst>
              <a:ext uri="{FF2B5EF4-FFF2-40B4-BE49-F238E27FC236}">
                <a16:creationId xmlns:a16="http://schemas.microsoft.com/office/drawing/2014/main" id="{11B219C7-790D-746D-EA6A-678EA2CDC43F}"/>
              </a:ext>
            </a:extLst>
          </p:cNvPr>
          <p:cNvSpPr txBox="1"/>
          <p:nvPr/>
        </p:nvSpPr>
        <p:spPr>
          <a:xfrm>
            <a:off x="5265051" y="2900716"/>
            <a:ext cx="2598788" cy="369332"/>
          </a:xfrm>
          <a:prstGeom prst="rect">
            <a:avLst/>
          </a:prstGeom>
          <a:noFill/>
        </p:spPr>
        <p:txBody>
          <a:bodyPr wrap="none">
            <a:spAutoFit/>
          </a:bodyPr>
          <a:lstStyle/>
          <a:p>
            <a:pPr marL="642915" indent="-822915">
              <a:buSzTx/>
              <a:buNone/>
              <a:defRPr sz="3600">
                <a:solidFill>
                  <a:srgbClr val="FF2600"/>
                </a:solidFill>
              </a:defRPr>
            </a:pPr>
            <a:r>
              <a:rPr lang="en-US" altLang="zh-CN"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开发环境准备</a:t>
            </a:r>
          </a:p>
        </p:txBody>
      </p:sp>
      <p:sp>
        <p:nvSpPr>
          <p:cNvPr id="16" name="矩形: 圆角 15">
            <a:extLst>
              <a:ext uri="{FF2B5EF4-FFF2-40B4-BE49-F238E27FC236}">
                <a16:creationId xmlns:a16="http://schemas.microsoft.com/office/drawing/2014/main" id="{BDAC5C28-EE06-C2E0-A22F-D3917F1063E5}"/>
              </a:ext>
            </a:extLst>
          </p:cNvPr>
          <p:cNvSpPr/>
          <p:nvPr/>
        </p:nvSpPr>
        <p:spPr>
          <a:xfrm>
            <a:off x="4712642"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EF47693B-1743-0076-7D60-D2C15FA14689}"/>
              </a:ext>
            </a:extLst>
          </p:cNvPr>
          <p:cNvSpPr txBox="1"/>
          <p:nvPr/>
        </p:nvSpPr>
        <p:spPr>
          <a:xfrm>
            <a:off x="5265051" y="3587953"/>
            <a:ext cx="2829621" cy="369332"/>
          </a:xfrm>
          <a:prstGeom prst="rect">
            <a:avLst/>
          </a:prstGeom>
          <a:noFill/>
        </p:spPr>
        <p:txBody>
          <a:bodyPr wrap="none">
            <a:spAutoFit/>
          </a:bodyPr>
          <a:lstStyle/>
          <a:p>
            <a:pPr marL="642915" indent="-822915">
              <a:buSzTx/>
              <a:buNone/>
              <a:defRPr sz="3600">
                <a:solidFill>
                  <a:srgbClr val="FF2600"/>
                </a:solidFill>
              </a:defRPr>
            </a:pPr>
            <a:r>
              <a:rPr lang="en-US" altLang="zh-CN"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算子的开发调用</a:t>
            </a:r>
          </a:p>
        </p:txBody>
      </p:sp>
      <p:sp>
        <p:nvSpPr>
          <p:cNvPr id="18" name="矩形: 圆角 17">
            <a:extLst>
              <a:ext uri="{FF2B5EF4-FFF2-40B4-BE49-F238E27FC236}">
                <a16:creationId xmlns:a16="http://schemas.microsoft.com/office/drawing/2014/main" id="{3B0154F4-F6DE-C820-5171-CE328BA8CA8D}"/>
              </a:ext>
            </a:extLst>
          </p:cNvPr>
          <p:cNvSpPr/>
          <p:nvPr/>
        </p:nvSpPr>
        <p:spPr>
          <a:xfrm>
            <a:off x="4712642" y="4231256"/>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0F3A1159-85ED-D8F5-1F08-B7E2097E20C2}"/>
              </a:ext>
            </a:extLst>
          </p:cNvPr>
          <p:cNvSpPr txBox="1"/>
          <p:nvPr/>
        </p:nvSpPr>
        <p:spPr>
          <a:xfrm>
            <a:off x="5265051" y="4275190"/>
            <a:ext cx="2954655" cy="369332"/>
          </a:xfrm>
          <a:prstGeom prst="rect">
            <a:avLst/>
          </a:prstGeom>
          <a:noFill/>
        </p:spPr>
        <p:txBody>
          <a:bodyPr wrap="none">
            <a:spAutoFit/>
          </a:bodyPr>
          <a:lstStyle/>
          <a:p>
            <a:pPr marL="642915" indent="-822915">
              <a:buSzTx/>
              <a:buNone/>
              <a:defRPr sz="3600">
                <a:solidFill>
                  <a:srgbClr val="0433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昇腾向量加法程序的加速比</a:t>
            </a:r>
          </a:p>
        </p:txBody>
      </p:sp>
    </p:spTree>
    <p:extLst>
      <p:ext uri="{BB962C8B-B14F-4D97-AF65-F5344CB8AC3E}">
        <p14:creationId xmlns:p14="http://schemas.microsoft.com/office/powerpoint/2010/main" val="281821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4179F-CFF9-A27E-52D5-96DBD6EBEB02}"/>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42F875C8-1BEA-8CB6-14DE-CE7D7EC6AE1C}"/>
              </a:ext>
            </a:extLst>
          </p:cNvPr>
          <p:cNvSpPr txBox="1">
            <a:spLocks/>
          </p:cNvSpPr>
          <p:nvPr/>
        </p:nvSpPr>
        <p:spPr>
          <a:xfrm>
            <a:off x="4569755" y="411900"/>
            <a:ext cx="305724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昇腾运行加速比</a:t>
            </a:r>
          </a:p>
        </p:txBody>
      </p:sp>
      <p:sp>
        <p:nvSpPr>
          <p:cNvPr id="2" name="文本占位符 2">
            <a:extLst>
              <a:ext uri="{FF2B5EF4-FFF2-40B4-BE49-F238E27FC236}">
                <a16:creationId xmlns:a16="http://schemas.microsoft.com/office/drawing/2014/main" id="{4C76812F-B783-CBA4-F7B9-90BF87220618}"/>
              </a:ext>
            </a:extLst>
          </p:cNvPr>
          <p:cNvSpPr txBox="1">
            <a:spLocks/>
          </p:cNvSpPr>
          <p:nvPr/>
        </p:nvSpPr>
        <p:spPr>
          <a:xfrm>
            <a:off x="1797365" y="1523654"/>
            <a:ext cx="8602035" cy="2585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buFont typeface="Arial" panose="020B0604020202020204" pitchFamily="34" charset="0"/>
              <a:buNone/>
            </a:pPr>
            <a:r>
              <a:rPr lang="zh-CN" altLang="en-US" sz="1200" b="1" dirty="0">
                <a:latin typeface="Arial" panose="020B0604020202020204" pitchFamily="34" charset="0"/>
                <a:ea typeface="微软雅黑" panose="020B0503020204020204" pitchFamily="34" charset="-122"/>
                <a:cs typeface="Arial" panose="020B0604020202020204" pitchFamily="34" charset="0"/>
              </a:rPr>
              <a:t>算子使用</a:t>
            </a:r>
            <a:r>
              <a:rPr lang="en-US" altLang="zh-CN" sz="1200" b="1" dirty="0" err="1">
                <a:latin typeface="Arial" panose="020B0604020202020204" pitchFamily="34" charset="0"/>
                <a:ea typeface="微软雅黑" panose="020B0503020204020204" pitchFamily="34" charset="-122"/>
                <a:cs typeface="Arial" panose="020B0604020202020204" pitchFamily="34" charset="0"/>
              </a:rPr>
              <a:t>npu</a:t>
            </a:r>
            <a:r>
              <a:rPr lang="zh-CN" altLang="en-US" sz="1200" b="1" dirty="0">
                <a:latin typeface="Arial" panose="020B0604020202020204" pitchFamily="34" charset="0"/>
                <a:ea typeface="微软雅黑" panose="020B0503020204020204" pitchFamily="34" charset="-122"/>
                <a:cs typeface="Arial" panose="020B0604020202020204" pitchFamily="34" charset="0"/>
              </a:rPr>
              <a:t>加速处理</a:t>
            </a:r>
            <a:r>
              <a:rPr lang="en-US" altLang="zh-CN" sz="1200" b="1" dirty="0">
                <a:latin typeface="Arial" panose="020B0604020202020204" pitchFamily="34" charset="0"/>
                <a:ea typeface="微软雅黑" panose="020B0503020204020204" pitchFamily="34" charset="-122"/>
                <a:cs typeface="Arial" panose="020B0604020202020204" pitchFamily="34" charset="0"/>
              </a:rPr>
              <a:t>10240</a:t>
            </a:r>
            <a:r>
              <a:rPr lang="zh-CN" altLang="en-US" sz="1200" b="1" dirty="0">
                <a:latin typeface="Arial" panose="020B0604020202020204" pitchFamily="34" charset="0"/>
                <a:ea typeface="微软雅黑" panose="020B0503020204020204" pitchFamily="34" charset="-122"/>
                <a:cs typeface="Arial" panose="020B0604020202020204" pitchFamily="34" charset="0"/>
              </a:rPr>
              <a:t>个随机</a:t>
            </a:r>
            <a:r>
              <a:rPr lang="en-US" altLang="zh-CN" sz="1200" b="1" dirty="0">
                <a:latin typeface="Arial" panose="020B0604020202020204" pitchFamily="34" charset="0"/>
                <a:ea typeface="微软雅黑" panose="020B0503020204020204" pitchFamily="34" charset="-122"/>
                <a:cs typeface="Arial" panose="020B0604020202020204" pitchFamily="34" charset="0"/>
              </a:rPr>
              <a:t>float</a:t>
            </a:r>
            <a:r>
              <a:rPr lang="zh-CN" altLang="en-US" sz="1200" b="1" dirty="0">
                <a:latin typeface="Arial" panose="020B0604020202020204" pitchFamily="34" charset="0"/>
                <a:ea typeface="微软雅黑" panose="020B0503020204020204" pitchFamily="34" charset="-122"/>
                <a:cs typeface="Arial" panose="020B0604020202020204" pitchFamily="34" charset="0"/>
              </a:rPr>
              <a:t>元素加的时间开销与算子使用</a:t>
            </a:r>
            <a:r>
              <a:rPr lang="en-US" altLang="zh-CN" sz="1200" b="1" dirty="0">
                <a:latin typeface="Arial" panose="020B0604020202020204" pitchFamily="34" charset="0"/>
                <a:ea typeface="微软雅黑" panose="020B0503020204020204" pitchFamily="34" charset="-122"/>
                <a:cs typeface="Arial" panose="020B0604020202020204" pitchFamily="34" charset="0"/>
              </a:rPr>
              <a:t>CPU</a:t>
            </a:r>
            <a:r>
              <a:rPr lang="zh-CN" altLang="en-US" sz="1200" b="1" dirty="0">
                <a:latin typeface="Arial" panose="020B0604020202020204" pitchFamily="34" charset="0"/>
                <a:ea typeface="微软雅黑" panose="020B0503020204020204" pitchFamily="34" charset="-122"/>
                <a:cs typeface="Arial" panose="020B0604020202020204" pitchFamily="34" charset="0"/>
              </a:rPr>
              <a:t>处理</a:t>
            </a:r>
            <a:r>
              <a:rPr lang="en-US" altLang="zh-CN" sz="1200" b="1" dirty="0">
                <a:latin typeface="Arial" panose="020B0604020202020204" pitchFamily="34" charset="0"/>
                <a:ea typeface="微软雅黑" panose="020B0503020204020204" pitchFamily="34" charset="-122"/>
                <a:cs typeface="Arial" panose="020B0604020202020204" pitchFamily="34" charset="0"/>
              </a:rPr>
              <a:t>10240</a:t>
            </a:r>
            <a:r>
              <a:rPr lang="zh-CN" altLang="en-US" sz="1200" b="1" dirty="0">
                <a:latin typeface="Arial" panose="020B0604020202020204" pitchFamily="34" charset="0"/>
                <a:ea typeface="微软雅黑" panose="020B0503020204020204" pitchFamily="34" charset="-122"/>
                <a:cs typeface="Arial" panose="020B0604020202020204" pitchFamily="34" charset="0"/>
              </a:rPr>
              <a:t>个相同随机</a:t>
            </a:r>
            <a:r>
              <a:rPr lang="en-US" altLang="zh-CN" sz="1200" b="1" dirty="0">
                <a:latin typeface="Arial" panose="020B0604020202020204" pitchFamily="34" charset="0"/>
                <a:ea typeface="微软雅黑" panose="020B0503020204020204" pitchFamily="34" charset="-122"/>
                <a:cs typeface="Arial" panose="020B0604020202020204" pitchFamily="34" charset="0"/>
              </a:rPr>
              <a:t>float</a:t>
            </a:r>
            <a:r>
              <a:rPr lang="zh-CN" altLang="en-US" sz="1200" b="1" dirty="0">
                <a:latin typeface="Arial" panose="020B0604020202020204" pitchFamily="34" charset="0"/>
                <a:ea typeface="微软雅黑" panose="020B0503020204020204" pitchFamily="34" charset="-122"/>
                <a:cs typeface="Arial" panose="020B0604020202020204" pitchFamily="34" charset="0"/>
              </a:rPr>
              <a:t>元素加的时间开销对比</a:t>
            </a:r>
          </a:p>
        </p:txBody>
      </p:sp>
      <p:grpSp>
        <p:nvGrpSpPr>
          <p:cNvPr id="12" name="组合 11">
            <a:extLst>
              <a:ext uri="{FF2B5EF4-FFF2-40B4-BE49-F238E27FC236}">
                <a16:creationId xmlns:a16="http://schemas.microsoft.com/office/drawing/2014/main" id="{16AED4AB-8BA6-3A37-07F6-7C6696643AFE}"/>
              </a:ext>
            </a:extLst>
          </p:cNvPr>
          <p:cNvGrpSpPr/>
          <p:nvPr/>
        </p:nvGrpSpPr>
        <p:grpSpPr>
          <a:xfrm>
            <a:off x="1140363" y="2026674"/>
            <a:ext cx="9916036" cy="1538733"/>
            <a:chOff x="794174" y="2169965"/>
            <a:chExt cx="9916036" cy="1538733"/>
          </a:xfrm>
        </p:grpSpPr>
        <p:grpSp>
          <p:nvGrpSpPr>
            <p:cNvPr id="10" name="组合 9">
              <a:extLst>
                <a:ext uri="{FF2B5EF4-FFF2-40B4-BE49-F238E27FC236}">
                  <a16:creationId xmlns:a16="http://schemas.microsoft.com/office/drawing/2014/main" id="{F836E49E-5B40-2C3C-3F07-747CD89FE697}"/>
                </a:ext>
              </a:extLst>
            </p:cNvPr>
            <p:cNvGrpSpPr/>
            <p:nvPr/>
          </p:nvGrpSpPr>
          <p:grpSpPr>
            <a:xfrm>
              <a:off x="851324" y="2446960"/>
              <a:ext cx="9858886" cy="1261738"/>
              <a:chOff x="919215" y="2446960"/>
              <a:chExt cx="9858886" cy="1261738"/>
            </a:xfrm>
          </p:grpSpPr>
          <p:pic>
            <p:nvPicPr>
              <p:cNvPr id="4" name="图片 3">
                <a:extLst>
                  <a:ext uri="{FF2B5EF4-FFF2-40B4-BE49-F238E27FC236}">
                    <a16:creationId xmlns:a16="http://schemas.microsoft.com/office/drawing/2014/main" id="{E3F69F4E-D0D5-BF4E-BD15-A2B24DA304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215" y="2446960"/>
                <a:ext cx="9858886" cy="1261738"/>
              </a:xfrm>
              <a:prstGeom prst="rect">
                <a:avLst/>
              </a:prstGeom>
            </p:spPr>
          </p:pic>
          <p:sp>
            <p:nvSpPr>
              <p:cNvPr id="5" name="矩形 4">
                <a:extLst>
                  <a:ext uri="{FF2B5EF4-FFF2-40B4-BE49-F238E27FC236}">
                    <a16:creationId xmlns:a16="http://schemas.microsoft.com/office/drawing/2014/main" id="{EFA3BBD6-D3EB-2D81-5814-CE5B7F77E0A1}"/>
                  </a:ext>
                </a:extLst>
              </p:cNvPr>
              <p:cNvSpPr/>
              <p:nvPr/>
            </p:nvSpPr>
            <p:spPr>
              <a:xfrm>
                <a:off x="5825072" y="2838384"/>
                <a:ext cx="1367059" cy="20754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sp>
          <p:nvSpPr>
            <p:cNvPr id="7" name="文本框 6">
              <a:extLst>
                <a:ext uri="{FF2B5EF4-FFF2-40B4-BE49-F238E27FC236}">
                  <a16:creationId xmlns:a16="http://schemas.microsoft.com/office/drawing/2014/main" id="{735ED1D4-E4D2-0032-8C34-45C4DA1ED9B3}"/>
                </a:ext>
              </a:extLst>
            </p:cNvPr>
            <p:cNvSpPr txBox="1"/>
            <p:nvPr/>
          </p:nvSpPr>
          <p:spPr>
            <a:xfrm>
              <a:off x="794174" y="2169965"/>
              <a:ext cx="1140693"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77" rtl="0" fontAlgn="auto" latinLnBrk="0" hangingPunct="0">
                <a:lnSpc>
                  <a:spcPct val="100000"/>
                </a:lnSpc>
                <a:spcBef>
                  <a:spcPts val="0"/>
                </a:spcBef>
                <a:spcAft>
                  <a:spcPts val="0"/>
                </a:spcAft>
                <a:buClrTx/>
                <a:buSzTx/>
                <a:buFontTx/>
                <a:buNone/>
                <a:tabLst/>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Ascend 910B1</a:t>
              </a:r>
              <a:endParaRPr kumimoji="0" lang="zh-CN" altLang="en-US" sz="1200"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grpSp>
      <p:grpSp>
        <p:nvGrpSpPr>
          <p:cNvPr id="13" name="组合 12">
            <a:extLst>
              <a:ext uri="{FF2B5EF4-FFF2-40B4-BE49-F238E27FC236}">
                <a16:creationId xmlns:a16="http://schemas.microsoft.com/office/drawing/2014/main" id="{30127D2A-FC66-645D-DA3E-E40D36C5F85E}"/>
              </a:ext>
            </a:extLst>
          </p:cNvPr>
          <p:cNvGrpSpPr/>
          <p:nvPr/>
        </p:nvGrpSpPr>
        <p:grpSpPr>
          <a:xfrm>
            <a:off x="1176188" y="3809895"/>
            <a:ext cx="9844387" cy="1456102"/>
            <a:chOff x="794174" y="3915450"/>
            <a:chExt cx="9844387" cy="1456102"/>
          </a:xfrm>
        </p:grpSpPr>
        <p:pic>
          <p:nvPicPr>
            <p:cNvPr id="6" name="图片 5">
              <a:extLst>
                <a:ext uri="{FF2B5EF4-FFF2-40B4-BE49-F238E27FC236}">
                  <a16:creationId xmlns:a16="http://schemas.microsoft.com/office/drawing/2014/main" id="{A992A9DF-6A80-75AB-02CE-340CCD7331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1324" y="4194397"/>
              <a:ext cx="9787237" cy="1177155"/>
            </a:xfrm>
            <a:prstGeom prst="rect">
              <a:avLst/>
            </a:prstGeom>
            <a:noFill/>
            <a:ln>
              <a:noFill/>
            </a:ln>
          </p:spPr>
        </p:pic>
        <p:sp>
          <p:nvSpPr>
            <p:cNvPr id="8" name="文本框 7">
              <a:extLst>
                <a:ext uri="{FF2B5EF4-FFF2-40B4-BE49-F238E27FC236}">
                  <a16:creationId xmlns:a16="http://schemas.microsoft.com/office/drawing/2014/main" id="{6332DF9F-0E44-0268-696B-E0C582755B2D}"/>
                </a:ext>
              </a:extLst>
            </p:cNvPr>
            <p:cNvSpPr txBox="1"/>
            <p:nvPr/>
          </p:nvSpPr>
          <p:spPr>
            <a:xfrm>
              <a:off x="794174" y="3915450"/>
              <a:ext cx="416136"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77"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rPr>
                <a:t>CPU</a:t>
              </a:r>
              <a:endParaRPr kumimoji="0" lang="zh-CN" altLang="en-US" sz="1200"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AA13553-9BB5-D610-3DEE-6E041A4CA784}"/>
                  </a:ext>
                </a:extLst>
              </p:cNvPr>
              <p:cNvSpPr txBox="1"/>
              <p:nvPr/>
            </p:nvSpPr>
            <p:spPr>
              <a:xfrm>
                <a:off x="4983014" y="5510486"/>
                <a:ext cx="2230735" cy="4966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ctr" defTabSz="914477" rtl="0" fontAlgn="auto" latinLnBrk="0" hangingPunct="0">
                  <a:lnSpc>
                    <a:spcPct val="100000"/>
                  </a:lnSpc>
                  <a:spcBef>
                    <a:spcPts val="0"/>
                  </a:spcBef>
                  <a:spcAft>
                    <a:spcPts val="0"/>
                  </a:spcAft>
                  <a:buClrTx/>
                  <a:buSzTx/>
                  <a:buFontTx/>
                  <a:buNone/>
                  <a:tabLst/>
                </a:pPr>
                <a:r>
                  <a:rPr kumimoji="0" lang="zh-CN" altLang="en-US" sz="1800"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rPr>
                  <a:t>加速比：</a:t>
                </a:r>
                <a14:m>
                  <m:oMath xmlns:m="http://schemas.openxmlformats.org/officeDocument/2006/math">
                    <m:f>
                      <m:fPr>
                        <m:ctrlPr>
                          <a:rPr lang="zh-CN" altLang="zh-CN" b="1" i="1" smtClean="0">
                            <a:solidFill>
                              <a:srgbClr val="C00000"/>
                            </a:solidFill>
                            <a:effectLst/>
                            <a:latin typeface="Cambria Math" panose="02040503050406030204" pitchFamily="18" charset="0"/>
                            <a:ea typeface="Cambria Math" panose="02040503050406030204" pitchFamily="18" charset="0"/>
                          </a:rPr>
                        </m:ctrlPr>
                      </m:fPr>
                      <m:num>
                        <m:r>
                          <a:rPr lang="en-US" altLang="zh-CN" sz="1800" b="1" i="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𝟏𝟐𝟕𝟓</m:t>
                        </m:r>
                        <m:r>
                          <a:rPr lang="en-US" altLang="zh-CN" sz="1800" b="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𝟑𝟎</m:t>
                        </m:r>
                      </m:num>
                      <m:den>
                        <m:r>
                          <a:rPr lang="en-US" altLang="zh-CN" sz="1800" b="1" i="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𝟏𝟔</m:t>
                        </m:r>
                        <m:r>
                          <a:rPr lang="en-US" altLang="zh-CN" sz="1800" b="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𝟐𝟖</m:t>
                        </m:r>
                      </m:den>
                    </m:f>
                    <m:r>
                      <a:rPr lang="zh-CN" altLang="zh-CN" sz="1800" b="1" i="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solidFill>
                          <a:srgbClr val="C00000"/>
                        </a:solidFill>
                        <a:effectLst/>
                        <a:latin typeface="Cambria Math" panose="02040503050406030204" pitchFamily="18" charset="0"/>
                        <a:ea typeface="宋体" panose="02010600030101010101" pitchFamily="2" charset="-122"/>
                        <a:cs typeface="Times New Roman" panose="02020603050405020304" pitchFamily="18" charset="0"/>
                      </a:rPr>
                      <m:t>𝟖𝟎</m:t>
                    </m:r>
                  </m:oMath>
                </a14:m>
                <a:endParaRPr kumimoji="0" lang="zh-CN" altLang="en-US" sz="1800" b="1" i="0" u="none" strike="noStrike" cap="none" spc="0" normalizeH="0" baseline="0" dirty="0">
                  <a:ln>
                    <a:noFill/>
                  </a:ln>
                  <a:solidFill>
                    <a:srgbClr val="C00000"/>
                  </a:solidFill>
                  <a:effectLst/>
                  <a:uFillTx/>
                  <a:latin typeface="Arial" panose="020B0604020202020204" pitchFamily="34" charset="0"/>
                  <a:ea typeface="微软雅黑" panose="020B0503020204020204" pitchFamily="34" charset="-122"/>
                  <a:cs typeface="Arial" panose="020B0604020202020204" pitchFamily="34" charset="0"/>
                  <a:sym typeface="Huawei Sans"/>
                </a:endParaRPr>
              </a:p>
            </p:txBody>
          </p:sp>
        </mc:Choice>
        <mc:Fallback xmlns="">
          <p:sp>
            <p:nvSpPr>
              <p:cNvPr id="9" name="文本框 8">
                <a:extLst>
                  <a:ext uri="{FF2B5EF4-FFF2-40B4-BE49-F238E27FC236}">
                    <a16:creationId xmlns:a16="http://schemas.microsoft.com/office/drawing/2014/main" id="{AAA13553-9BB5-D610-3DEE-6E041A4CA784}"/>
                  </a:ext>
                </a:extLst>
              </p:cNvPr>
              <p:cNvSpPr txBox="1">
                <a:spLocks noRot="1" noChangeAspect="1" noMove="1" noResize="1" noEditPoints="1" noAdjustHandles="1" noChangeArrowheads="1" noChangeShapeType="1" noTextEdit="1"/>
              </p:cNvSpPr>
              <p:nvPr/>
            </p:nvSpPr>
            <p:spPr>
              <a:xfrm>
                <a:off x="4983014" y="5510486"/>
                <a:ext cx="2230735" cy="496607"/>
              </a:xfrm>
              <a:prstGeom prst="rect">
                <a:avLst/>
              </a:prstGeom>
              <a:blipFill>
                <a:blip r:embed="rId4"/>
                <a:stretch>
                  <a:fillRect l="-3825" r="-1913" b="-7407"/>
                </a:stretch>
              </a:blipFill>
              <a:ln w="12700" cap="flat">
                <a:noFill/>
                <a:miter lim="400000"/>
              </a:ln>
              <a:effectLst/>
            </p:spPr>
            <p:txBody>
              <a:bodyPr/>
              <a:lstStyle/>
              <a:p>
                <a:r>
                  <a:rPr lang="zh-CN" altLang="en-US">
                    <a:noFill/>
                  </a:rPr>
                  <a:t> </a:t>
                </a:r>
              </a:p>
            </p:txBody>
          </p:sp>
        </mc:Fallback>
      </mc:AlternateContent>
    </p:spTree>
    <p:extLst>
      <p:ext uri="{BB962C8B-B14F-4D97-AF65-F5344CB8AC3E}">
        <p14:creationId xmlns:p14="http://schemas.microsoft.com/office/powerpoint/2010/main" val="21558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02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77E3B732-DDF7-4011-B681-28F511DF8898}"/>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002891D3-441F-4843-9EAC-D44E0F2301F5}"/>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AFFA82CF-250F-4604-B0DF-1F7FF8D5115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Template>
  <TotalTime>1331</TotalTime>
  <Words>2152</Words>
  <Application>Microsoft Office PowerPoint</Application>
  <PresentationFormat>自定义</PresentationFormat>
  <Paragraphs>178</Paragraphs>
  <Slides>33</Slides>
  <Notes>2</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33</vt:i4>
      </vt:variant>
    </vt:vector>
  </HeadingPairs>
  <TitlesOfParts>
    <vt:vector size="45" baseType="lpstr">
      <vt:lpstr>.AppleSystemUIFont</vt:lpstr>
      <vt:lpstr>微软雅黑</vt:lpstr>
      <vt:lpstr>微软雅黑</vt:lpstr>
      <vt:lpstr>Arial</vt:lpstr>
      <vt:lpstr>Calibri</vt:lpstr>
      <vt:lpstr>Cambria Math</vt:lpstr>
      <vt:lpstr>Times New Roman</vt:lpstr>
      <vt:lpstr>封面页_图片版 </vt:lpstr>
      <vt:lpstr>目录页</vt:lpstr>
      <vt:lpstr>章节页</vt:lpstr>
      <vt:lpstr>1_自定义设计方案</vt:lpstr>
      <vt:lpstr>结束页</vt:lpstr>
      <vt:lpstr>第2章 Ascend C快速入门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yusi (A)</dc:creator>
  <cp:lastModifiedBy>a92190</cp:lastModifiedBy>
  <cp:revision>71</cp:revision>
  <dcterms:created xsi:type="dcterms:W3CDTF">2022-02-10T15:02:30Z</dcterms:created>
  <dcterms:modified xsi:type="dcterms:W3CDTF">2024-12-04T02:09:14Z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(3)C96Z1hAKosym6EbdFlMCzRXUHiiwYE22PTU1N8/Nz2n/qDo6LJV7WzI53aocoscGy5cfQZpr
EMvDwD4llbAKwgozTlti4TwFVN2DturZbkcHevYO7h/StlxEiPmHEJ/4XH1O6vVS07brnKZD
WMeEhWuDu9x4s8CxTI9+bXJPVn9sarFCjeBytrONxqof7kh4d1rCLD9esbc6gh2kL9x4RRTj
b/cP7mJscMHv0GK31U</vt:lpwstr>
  </property>
  <property fmtid="{D5CDD505-2E9C-101B-9397-08002B2CF9AE}" pid="3" name="_2015_ms_pID_7253431">
    <vt:lpwstr>+G7EV3gMKk658DH/eee45Z3t+vtmf8yh0lsvSKv6yLCRbWNMnpX0U1
xzYAty90ETFfGfibDhssu0Mva4SxzXSoKPgcTG5SZxqTOweKBnPBV6d6kCN4pINXKT7ZUsPD
qU0gn8I9MQS1tysBDuxN1sc9883rAdqB86/EN1Okg0Kl9588Lz22Blx16F17zwlzeUmT4/7k
I1MM5cTLYYSisKizyYuH7Yb1BtTNmM+xcfle</vt:lpwstr>
  </property>
  <property fmtid="{D5CDD505-2E9C-101B-9397-08002B2CF9AE}" pid="4" name="_2015_ms_pID_7253432">
    <vt:lpwstr>2UHHCpPJjfFv3TbGNdgTG/Q=</vt:lpwstr>
  </property>
</Properties>
</file>