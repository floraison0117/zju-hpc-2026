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897" r:id="rId4"/>
    <p:sldMasterId id="2147483683" r:id="rId5"/>
  </p:sldMasterIdLst>
  <p:notesMasterIdLst>
    <p:notesMasterId r:id="rId73"/>
  </p:notesMasterIdLst>
  <p:handoutMasterIdLst>
    <p:handoutMasterId r:id="rId74"/>
  </p:handoutMasterIdLst>
  <p:sldIdLst>
    <p:sldId id="307" r:id="rId6"/>
    <p:sldId id="306" r:id="rId7"/>
    <p:sldId id="374" r:id="rId8"/>
    <p:sldId id="308" r:id="rId9"/>
    <p:sldId id="380" r:id="rId10"/>
    <p:sldId id="381" r:id="rId11"/>
    <p:sldId id="382" r:id="rId12"/>
    <p:sldId id="383" r:id="rId13"/>
    <p:sldId id="384" r:id="rId14"/>
    <p:sldId id="375" r:id="rId15"/>
    <p:sldId id="385" r:id="rId16"/>
    <p:sldId id="386" r:id="rId17"/>
    <p:sldId id="387" r:id="rId18"/>
    <p:sldId id="388" r:id="rId19"/>
    <p:sldId id="389" r:id="rId20"/>
    <p:sldId id="390" r:id="rId21"/>
    <p:sldId id="391" r:id="rId22"/>
    <p:sldId id="393" r:id="rId23"/>
    <p:sldId id="396" r:id="rId24"/>
    <p:sldId id="397" r:id="rId25"/>
    <p:sldId id="398" r:id="rId26"/>
    <p:sldId id="399" r:id="rId27"/>
    <p:sldId id="392" r:id="rId28"/>
    <p:sldId id="376" r:id="rId29"/>
    <p:sldId id="400" r:id="rId30"/>
    <p:sldId id="401" r:id="rId31"/>
    <p:sldId id="402" r:id="rId32"/>
    <p:sldId id="403" r:id="rId33"/>
    <p:sldId id="404" r:id="rId34"/>
    <p:sldId id="407" r:id="rId35"/>
    <p:sldId id="405" r:id="rId36"/>
    <p:sldId id="406" r:id="rId37"/>
    <p:sldId id="377" r:id="rId38"/>
    <p:sldId id="410" r:id="rId39"/>
    <p:sldId id="411" r:id="rId40"/>
    <p:sldId id="412" r:id="rId41"/>
    <p:sldId id="413" r:id="rId42"/>
    <p:sldId id="414" r:id="rId43"/>
    <p:sldId id="415" r:id="rId44"/>
    <p:sldId id="416" r:id="rId45"/>
    <p:sldId id="417" r:id="rId46"/>
    <p:sldId id="418" r:id="rId47"/>
    <p:sldId id="419" r:id="rId48"/>
    <p:sldId id="378" r:id="rId49"/>
    <p:sldId id="420" r:id="rId50"/>
    <p:sldId id="421" r:id="rId51"/>
    <p:sldId id="422" r:id="rId52"/>
    <p:sldId id="423" r:id="rId53"/>
    <p:sldId id="424" r:id="rId54"/>
    <p:sldId id="425" r:id="rId55"/>
    <p:sldId id="379" r:id="rId56"/>
    <p:sldId id="426" r:id="rId57"/>
    <p:sldId id="427" r:id="rId58"/>
    <p:sldId id="428" r:id="rId59"/>
    <p:sldId id="429" r:id="rId60"/>
    <p:sldId id="430" r:id="rId61"/>
    <p:sldId id="431" r:id="rId62"/>
    <p:sldId id="432" r:id="rId63"/>
    <p:sldId id="433" r:id="rId64"/>
    <p:sldId id="434" r:id="rId65"/>
    <p:sldId id="435" r:id="rId66"/>
    <p:sldId id="436" r:id="rId67"/>
    <p:sldId id="408" r:id="rId68"/>
    <p:sldId id="409" r:id="rId69"/>
    <p:sldId id="395" r:id="rId70"/>
    <p:sldId id="394" r:id="rId71"/>
    <p:sldId id="280" r:id="rId72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4420390-E156-46A9-986E-2DE8FE4C3597}">
          <p14:sldIdLst>
            <p14:sldId id="307"/>
            <p14:sldId id="306"/>
            <p14:sldId id="374"/>
          </p14:sldIdLst>
        </p14:section>
        <p14:section name="Ascend C编程模型" id="{F6B662B4-D059-4EE3-B3F6-42F2ADACD520}">
          <p14:sldIdLst>
            <p14:sldId id="308"/>
            <p14:sldId id="380"/>
            <p14:sldId id="381"/>
            <p14:sldId id="382"/>
            <p14:sldId id="383"/>
            <p14:sldId id="384"/>
          </p14:sldIdLst>
        </p14:section>
        <p14:section name="Ascend C语法扩展" id="{07DC4425-A338-4A96-A3AF-D9E631381F2D}">
          <p14:sldIdLst>
            <p14:sldId id="375"/>
            <p14:sldId id="385"/>
            <p14:sldId id="386"/>
            <p14:sldId id="387"/>
            <p14:sldId id="388"/>
            <p14:sldId id="389"/>
            <p14:sldId id="390"/>
            <p14:sldId id="391"/>
            <p14:sldId id="393"/>
            <p14:sldId id="396"/>
            <p14:sldId id="397"/>
            <p14:sldId id="398"/>
            <p14:sldId id="399"/>
            <p14:sldId id="392"/>
          </p14:sldIdLst>
        </p14:section>
        <p14:section name="Ascend C矢量编程范式" id="{FE6FBEC1-DEDC-4BC7-9317-8CB6ED61FA20}">
          <p14:sldIdLst>
            <p14:sldId id="376"/>
            <p14:sldId id="400"/>
            <p14:sldId id="401"/>
            <p14:sldId id="402"/>
            <p14:sldId id="403"/>
            <p14:sldId id="404"/>
            <p14:sldId id="407"/>
            <p14:sldId id="405"/>
            <p14:sldId id="406"/>
          </p14:sldIdLst>
        </p14:section>
        <p14:section name="Ascend C矩阵编程范式" id="{DE2664F7-B839-4D83-A93C-AD8DE28F19B8}">
          <p14:sldIdLst>
            <p14:sldId id="377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</p14:sldIdLst>
        </p14:section>
        <p14:section name="Ascend C混合编程范式" id="{85D6CE93-F935-42AA-BF0A-7ADFD5E13D93}">
          <p14:sldIdLst>
            <p14:sldId id="378"/>
            <p14:sldId id="420"/>
            <p14:sldId id="421"/>
            <p14:sldId id="422"/>
            <p14:sldId id="423"/>
            <p14:sldId id="424"/>
            <p14:sldId id="425"/>
          </p14:sldIdLst>
        </p14:section>
        <p14:section name="更多Ascend C算子样例" id="{71CEAD60-B85A-4453-8506-79719125D09C}">
          <p14:sldIdLst>
            <p14:sldId id="379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08"/>
            <p14:sldId id="409"/>
            <p14:sldId id="395"/>
            <p14:sldId id="394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372" userDrawn="1">
          <p15:clr>
            <a:srgbClr val="A4A3A4"/>
          </p15:clr>
        </p15:guide>
        <p15:guide id="3" orient="horz" pos="709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73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2CC"/>
    <a:srgbClr val="AFD1D2"/>
    <a:srgbClr val="C0D5FE"/>
    <a:srgbClr val="9AABCE"/>
    <a:srgbClr val="FFFFFF"/>
    <a:srgbClr val="E9002F"/>
    <a:srgbClr val="595757"/>
    <a:srgbClr val="221815"/>
    <a:srgbClr val="8888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23" autoAdjust="0"/>
    <p:restoredTop sz="96291"/>
  </p:normalViewPr>
  <p:slideViewPr>
    <p:cSldViewPr snapToGrid="0" snapToObjects="1">
      <p:cViewPr varScale="1">
        <p:scale>
          <a:sx n="111" d="100"/>
          <a:sy n="111" d="100"/>
        </p:scale>
        <p:origin x="1140" y="114"/>
      </p:cViewPr>
      <p:guideLst>
        <p:guide orient="horz" pos="572"/>
        <p:guide pos="372"/>
        <p:guide orient="horz" pos="709"/>
        <p:guide orient="horz" pos="3974"/>
        <p:guide pos="73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312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76" Type="http://schemas.openxmlformats.org/officeDocument/2006/relationships/viewProps" Target="viewProp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slide" Target="slides/slide56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06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BB5F381-98AB-4934-A504-21ACFACA4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92000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7" y="562718"/>
            <a:ext cx="1069222" cy="102594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7" y="562718"/>
            <a:ext cx="1067473" cy="10267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6077" y="2738745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defRPr sz="48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62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8F253EC-E992-90CA-66A0-0C07F09DFCCE}"/>
              </a:ext>
            </a:extLst>
          </p:cNvPr>
          <p:cNvSpPr/>
          <p:nvPr userDrawn="1"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514F1A-C559-F4B2-5B39-6C21732C8287}"/>
              </a:ext>
            </a:extLst>
          </p:cNvPr>
          <p:cNvSpPr txBox="1"/>
          <p:nvPr userDrawn="1"/>
        </p:nvSpPr>
        <p:spPr>
          <a:xfrm>
            <a:off x="3048000" y="6407378"/>
            <a:ext cx="61007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22960">
              <a:defRPr sz="800">
                <a:latin typeface="Verdana"/>
                <a:ea typeface="Verdana"/>
                <a:cs typeface="Verdana"/>
                <a:sym typeface="Verdana"/>
              </a:defRPr>
            </a:pPr>
            <a:r>
              <a:rPr lang="zh-CN" altLang="en-US"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哈尔滨工业大学软件学院 </a:t>
            </a:r>
            <a:r>
              <a:rPr lang="en-US" altLang="zh-CN"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F3CBD6-EDB9-1B8D-A051-A76DB7C6A6B7}"/>
              </a:ext>
            </a:extLst>
          </p:cNvPr>
          <p:cNvSpPr/>
          <p:nvPr userDrawn="1"/>
        </p:nvSpPr>
        <p:spPr>
          <a:xfrm>
            <a:off x="0" y="0"/>
            <a:ext cx="2590800" cy="453957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D89F75-E7E2-0ECC-B8CB-3A67226DBA6C}"/>
              </a:ext>
            </a:extLst>
          </p:cNvPr>
          <p:cNvSpPr/>
          <p:nvPr userDrawn="1"/>
        </p:nvSpPr>
        <p:spPr>
          <a:xfrm flipH="1">
            <a:off x="9605963" y="0"/>
            <a:ext cx="2590800" cy="453957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DC9185F3-5FA6-8561-8A1F-EBA859609B6C}"/>
              </a:ext>
            </a:extLst>
          </p:cNvPr>
          <p:cNvSpPr txBox="1"/>
          <p:nvPr userDrawn="1"/>
        </p:nvSpPr>
        <p:spPr>
          <a:xfrm>
            <a:off x="150514" y="61942"/>
            <a:ext cx="2040156" cy="330072"/>
          </a:xfrm>
          <a:prstGeom prst="rect">
            <a:avLst/>
          </a:prstGeom>
          <a:noFill/>
        </p:spPr>
        <p:txBody>
          <a:bodyPr wrap="none" lIns="72000" tIns="72000" rIns="72000" bIns="72000" rtlCol="0">
            <a:spAutoFit/>
          </a:bodyPr>
          <a:lstStyle/>
          <a:p>
            <a:pPr defTabSz="914400"/>
            <a:r>
              <a:rPr lang="en-US" altLang="zh-CN" sz="12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 Ascend C</a:t>
            </a:r>
            <a:r>
              <a:rPr lang="zh-CN" altLang="en-US" sz="12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编程模型与范式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120A125F-1FB9-6068-F37E-25A0FB03953F}"/>
              </a:ext>
            </a:extLst>
          </p:cNvPr>
          <p:cNvSpPr txBox="1"/>
          <p:nvPr userDrawn="1"/>
        </p:nvSpPr>
        <p:spPr>
          <a:xfrm>
            <a:off x="9982094" y="61942"/>
            <a:ext cx="2059392" cy="330072"/>
          </a:xfrm>
          <a:prstGeom prst="rect">
            <a:avLst/>
          </a:prstGeom>
          <a:noFill/>
        </p:spPr>
        <p:txBody>
          <a:bodyPr wrap="none" lIns="72000" tIns="72000" rIns="72000" bIns="72000" rtlCol="0">
            <a:spAutoFit/>
          </a:bodyPr>
          <a:lstStyle/>
          <a:p>
            <a:pPr defTabSz="914400"/>
            <a:r>
              <a:rPr lang="en-US" altLang="zh-CN" sz="12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2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异构并行程序设计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970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A04B147-2E7E-4917-8235-4561D75BDAB2}"/>
              </a:ext>
            </a:extLst>
          </p:cNvPr>
          <p:cNvSpPr/>
          <p:nvPr userDrawn="1"/>
        </p:nvSpPr>
        <p:spPr>
          <a:xfrm>
            <a:off x="0" y="1415045"/>
            <a:ext cx="12196763" cy="544295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39646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tiff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5" r:id="rId2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65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" y="0"/>
            <a:ext cx="12195413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>
            <a:cxnSpLocks/>
          </p:cNvCxnSpPr>
          <p:nvPr/>
        </p:nvCxnSpPr>
        <p:spPr>
          <a:xfrm>
            <a:off x="661930" y="3100912"/>
            <a:ext cx="1468795" cy="0"/>
          </a:xfrm>
          <a:prstGeom prst="line">
            <a:avLst/>
          </a:prstGeom>
          <a:ln w="25400">
            <a:solidFill>
              <a:srgbClr val="E900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1930" y="2191924"/>
            <a:ext cx="8783995" cy="690255"/>
          </a:xfrm>
        </p:spPr>
        <p:txBody>
          <a:bodyPr>
            <a:normAutofit fontScale="90000"/>
          </a:bodyPr>
          <a:lstStyle/>
          <a:p>
            <a:r>
              <a:rPr lang="zh-CN" altLang="en-US" sz="4400" b="1" dirty="0">
                <a:latin typeface="+mn-lt"/>
              </a:rPr>
              <a:t>第</a:t>
            </a:r>
            <a:r>
              <a:rPr lang="en-US" altLang="zh-CN" sz="4400" b="1" dirty="0">
                <a:latin typeface="+mn-lt"/>
              </a:rPr>
              <a:t>3</a:t>
            </a:r>
            <a:r>
              <a:rPr lang="zh-CN" altLang="en-US" sz="4400" b="1" dirty="0">
                <a:latin typeface="+mn-lt"/>
              </a:rPr>
              <a:t>章 </a:t>
            </a:r>
            <a:r>
              <a:rPr lang="en-US" altLang="zh-CN" sz="4400" b="1" dirty="0">
                <a:latin typeface="+mn-lt"/>
              </a:rPr>
              <a:t>Ascend C</a:t>
            </a:r>
            <a:r>
              <a:rPr lang="zh-CN" altLang="en-US" sz="4400" b="1" dirty="0">
                <a:latin typeface="+mn-lt"/>
              </a:rPr>
              <a:t>编程模型与编程范式</a:t>
            </a:r>
          </a:p>
        </p:txBody>
      </p:sp>
      <p:sp>
        <p:nvSpPr>
          <p:cNvPr id="10" name="文本占位符 4">
            <a:extLst>
              <a:ext uri="{FF2B5EF4-FFF2-40B4-BE49-F238E27FC236}">
                <a16:creationId xmlns:a16="http://schemas.microsoft.com/office/drawing/2014/main" id="{DFD77602-E5F7-4521-A54F-96BBD2B54A62}"/>
              </a:ext>
            </a:extLst>
          </p:cNvPr>
          <p:cNvSpPr txBox="1">
            <a:spLocks/>
          </p:cNvSpPr>
          <p:nvPr/>
        </p:nvSpPr>
        <p:spPr>
          <a:xfrm>
            <a:off x="661930" y="5097762"/>
            <a:ext cx="6535842" cy="6439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000" kern="1200">
                <a:solidFill>
                  <a:srgbClr val="1D1D1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华为</a:t>
            </a:r>
            <a:r>
              <a:rPr lang="en-US" altLang="zh-CN" sz="1800" dirty="0"/>
              <a:t>ICT</a:t>
            </a:r>
            <a:r>
              <a:rPr lang="zh-CN" altLang="en-US" sz="1800" dirty="0"/>
              <a:t>学院  播种新</a:t>
            </a:r>
            <a:r>
              <a:rPr lang="en-US" altLang="zh-CN" sz="1800" dirty="0"/>
              <a:t>ICT</a:t>
            </a:r>
            <a:r>
              <a:rPr lang="zh-CN" altLang="en-US" sz="1800" dirty="0"/>
              <a:t>未来</a:t>
            </a:r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D19C6A6F-1306-0C68-2B32-A61AAF718306}"/>
              </a:ext>
            </a:extLst>
          </p:cNvPr>
          <p:cNvSpPr txBox="1">
            <a:spLocks/>
          </p:cNvSpPr>
          <p:nvPr/>
        </p:nvSpPr>
        <p:spPr>
          <a:xfrm>
            <a:off x="592920" y="3319646"/>
            <a:ext cx="1261884" cy="90576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000" kern="1200">
                <a:solidFill>
                  <a:srgbClr val="1D1D1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b="1" dirty="0"/>
              <a:t>苏统华</a:t>
            </a:r>
          </a:p>
          <a:p>
            <a:pPr>
              <a:lnSpc>
                <a:spcPct val="130000"/>
              </a:lnSpc>
            </a:pPr>
            <a:r>
              <a:rPr lang="zh-CN" altLang="en-US" sz="1200" dirty="0"/>
              <a:t>软件学院</a:t>
            </a:r>
          </a:p>
          <a:p>
            <a:pPr>
              <a:lnSpc>
                <a:spcPct val="130000"/>
              </a:lnSpc>
            </a:pPr>
            <a:r>
              <a:rPr lang="zh-CN" altLang="en-US" sz="1200" dirty="0"/>
              <a:t>哈尔滨工业大学</a:t>
            </a:r>
          </a:p>
        </p:txBody>
      </p:sp>
    </p:spTree>
    <p:extLst>
      <p:ext uri="{BB962C8B-B14F-4D97-AF65-F5344CB8AC3E}">
        <p14:creationId xmlns:p14="http://schemas.microsoft.com/office/powerpoint/2010/main" val="201235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3F8861DB-FC39-16C1-E8EB-34605AE0D1E5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本章内容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A4C5AFD-4E1A-78D2-1B2A-6C6488D9BF9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34577" y="1654367"/>
            <a:ext cx="8927608" cy="4273166"/>
          </a:xfrm>
          <a:prstGeom prst="rect">
            <a:avLst/>
          </a:prstGeom>
        </p:spPr>
      </p:pic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980EF461-AEEE-A330-15AF-DB950DFEEEDB}"/>
              </a:ext>
            </a:extLst>
          </p:cNvPr>
          <p:cNvSpPr/>
          <p:nvPr/>
        </p:nvSpPr>
        <p:spPr>
          <a:xfrm>
            <a:off x="1651829" y="3148021"/>
            <a:ext cx="3674121" cy="62092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</a:t>
            </a:r>
            <a:r>
              <a:rPr lang="en-US" altLang="zh-CN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章 </a:t>
            </a:r>
            <a:r>
              <a:rPr lang="en-US" altLang="zh-CN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编程模型与编程范式</a:t>
            </a:r>
          </a:p>
        </p:txBody>
      </p:sp>
    </p:spTree>
    <p:extLst>
      <p:ext uri="{BB962C8B-B14F-4D97-AF65-F5344CB8AC3E}">
        <p14:creationId xmlns:p14="http://schemas.microsoft.com/office/powerpoint/2010/main" val="265741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0F612-5807-A09A-301F-98B021ACB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C4AA724E-FC77-D275-9C3F-7A31418BFE5D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本章内容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1D7254-1571-8F4D-E041-8B19B6B0030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213989" y="996675"/>
            <a:ext cx="8388985" cy="5592445"/>
          </a:xfrm>
          <a:prstGeom prst="rect">
            <a:avLst/>
          </a:prstGeom>
        </p:spPr>
      </p:pic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70B187B0-E5B8-E53F-CEAF-0C41E0EA5FF6}"/>
              </a:ext>
            </a:extLst>
          </p:cNvPr>
          <p:cNvSpPr/>
          <p:nvPr/>
        </p:nvSpPr>
        <p:spPr>
          <a:xfrm>
            <a:off x="1593788" y="3620821"/>
            <a:ext cx="3674121" cy="62092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</a:t>
            </a:r>
            <a:r>
              <a:rPr lang="en-US" altLang="zh-CN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章 </a:t>
            </a:r>
            <a:r>
              <a:rPr lang="en-US" altLang="zh-CN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编程模型与编程范式</a:t>
            </a:r>
          </a:p>
        </p:txBody>
      </p:sp>
    </p:spTree>
    <p:extLst>
      <p:ext uri="{BB962C8B-B14F-4D97-AF65-F5344CB8AC3E}">
        <p14:creationId xmlns:p14="http://schemas.microsoft.com/office/powerpoint/2010/main" val="1807124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BD1EF-9C9F-0A43-AA6B-F4BC130E6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F1BF4B9B-1A06-7882-BDB1-210FBD2E0DB8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本章内容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75CF867-1750-5F0D-FD6F-40142AC778F8}"/>
              </a:ext>
            </a:extLst>
          </p:cNvPr>
          <p:cNvSpPr/>
          <p:nvPr/>
        </p:nvSpPr>
        <p:spPr>
          <a:xfrm>
            <a:off x="4712642" y="1819025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EDB3FA-BAAE-C4BE-0A3B-CB20AB0D357D}"/>
              </a:ext>
            </a:extLst>
          </p:cNvPr>
          <p:cNvSpPr txBox="1"/>
          <p:nvPr/>
        </p:nvSpPr>
        <p:spPr>
          <a:xfrm>
            <a:off x="5265051" y="1862959"/>
            <a:ext cx="217239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编程模型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7A5EAF0-257D-0B44-86AA-99EBFACDE12B}"/>
              </a:ext>
            </a:extLst>
          </p:cNvPr>
          <p:cNvSpPr/>
          <p:nvPr/>
        </p:nvSpPr>
        <p:spPr>
          <a:xfrm>
            <a:off x="4712642" y="2506262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CE8305-A687-862C-49C2-713FF78942A7}"/>
              </a:ext>
            </a:extLst>
          </p:cNvPr>
          <p:cNvSpPr txBox="1"/>
          <p:nvPr/>
        </p:nvSpPr>
        <p:spPr>
          <a:xfrm>
            <a:off x="5265051" y="2550196"/>
            <a:ext cx="21371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语法扩展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BDC8BD2-C2E3-2D52-88DA-CCB8E0C1A649}"/>
              </a:ext>
            </a:extLst>
          </p:cNvPr>
          <p:cNvGrpSpPr/>
          <p:nvPr/>
        </p:nvGrpSpPr>
        <p:grpSpPr>
          <a:xfrm>
            <a:off x="4712642" y="3193499"/>
            <a:ext cx="2122069" cy="457200"/>
            <a:chOff x="4712642" y="3544019"/>
            <a:chExt cx="2122069" cy="457200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9406F92B-513E-1216-97C0-2670AB01E352}"/>
                </a:ext>
              </a:extLst>
            </p:cNvPr>
            <p:cNvSpPr/>
            <p:nvPr/>
          </p:nvSpPr>
          <p:spPr>
            <a:xfrm>
              <a:off x="4712642" y="3544019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DD766BA-A5D0-204D-4DEB-CCB9C3973AB7}"/>
                </a:ext>
              </a:extLst>
            </p:cNvPr>
            <p:cNvSpPr txBox="1"/>
            <p:nvPr/>
          </p:nvSpPr>
          <p:spPr>
            <a:xfrm>
              <a:off x="5265051" y="3587953"/>
              <a:ext cx="156966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FF2600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向量编程范式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6957C38-F0D2-3DF5-976E-A4F604AB149B}"/>
              </a:ext>
            </a:extLst>
          </p:cNvPr>
          <p:cNvGrpSpPr/>
          <p:nvPr/>
        </p:nvGrpSpPr>
        <p:grpSpPr>
          <a:xfrm>
            <a:off x="4712642" y="3880736"/>
            <a:ext cx="2122069" cy="457200"/>
            <a:chOff x="4712642" y="4231256"/>
            <a:chExt cx="2122069" cy="457200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C7171326-FF5D-9420-4EAC-B17C2576C911}"/>
                </a:ext>
              </a:extLst>
            </p:cNvPr>
            <p:cNvSpPr/>
            <p:nvPr/>
          </p:nvSpPr>
          <p:spPr>
            <a:xfrm>
              <a:off x="4712642" y="4231256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4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5684297-65D8-9952-EFEC-80C2407DA6A1}"/>
                </a:ext>
              </a:extLst>
            </p:cNvPr>
            <p:cNvSpPr txBox="1"/>
            <p:nvPr/>
          </p:nvSpPr>
          <p:spPr>
            <a:xfrm>
              <a:off x="5265051" y="4275190"/>
              <a:ext cx="156966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0433FF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矩阵编程范式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8E7B907-3829-92C8-7786-A491F275EB80}"/>
              </a:ext>
            </a:extLst>
          </p:cNvPr>
          <p:cNvGrpSpPr/>
          <p:nvPr/>
        </p:nvGrpSpPr>
        <p:grpSpPr>
          <a:xfrm>
            <a:off x="4712642" y="4567973"/>
            <a:ext cx="2122069" cy="457200"/>
            <a:chOff x="4712642" y="3544019"/>
            <a:chExt cx="2122069" cy="457200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09B10854-8B0E-5A30-8273-3003D58B24B8}"/>
                </a:ext>
              </a:extLst>
            </p:cNvPr>
            <p:cNvSpPr/>
            <p:nvPr/>
          </p:nvSpPr>
          <p:spPr>
            <a:xfrm>
              <a:off x="4712642" y="3544019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5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839FFFE-7D66-7B07-77EB-68250F72457A}"/>
                </a:ext>
              </a:extLst>
            </p:cNvPr>
            <p:cNvSpPr txBox="1"/>
            <p:nvPr/>
          </p:nvSpPr>
          <p:spPr>
            <a:xfrm>
              <a:off x="5265051" y="3587953"/>
              <a:ext cx="156966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FF2600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混合编程范式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4DFD457-D3D1-9861-8B3B-02662AD825FB}"/>
              </a:ext>
            </a:extLst>
          </p:cNvPr>
          <p:cNvGrpSpPr/>
          <p:nvPr/>
        </p:nvGrpSpPr>
        <p:grpSpPr>
          <a:xfrm>
            <a:off x="4712642" y="5255210"/>
            <a:ext cx="3151197" cy="457200"/>
            <a:chOff x="4712642" y="4231256"/>
            <a:chExt cx="3151197" cy="457200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DB57BCD3-3C14-F9C4-ABB1-AE93D4279A61}"/>
                </a:ext>
              </a:extLst>
            </p:cNvPr>
            <p:cNvSpPr/>
            <p:nvPr/>
          </p:nvSpPr>
          <p:spPr>
            <a:xfrm>
              <a:off x="4712642" y="4231256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6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9142D67-DA27-21A9-0C75-9F5248125C0E}"/>
                </a:ext>
              </a:extLst>
            </p:cNvPr>
            <p:cNvSpPr txBox="1"/>
            <p:nvPr/>
          </p:nvSpPr>
          <p:spPr>
            <a:xfrm>
              <a:off x="5265051" y="4275190"/>
              <a:ext cx="259878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0433FF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更多</a:t>
              </a:r>
              <a:r>
                <a:rPr lang="en-US" altLang="zh-CN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Ascend C</a:t>
              </a: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算子样例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087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EB633-ABFF-EE9A-7172-6AB4E82F1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87E33042-79B6-09E0-7606-ADE81FCEBA1A}"/>
              </a:ext>
            </a:extLst>
          </p:cNvPr>
          <p:cNvSpPr txBox="1">
            <a:spLocks/>
          </p:cNvSpPr>
          <p:nvPr/>
        </p:nvSpPr>
        <p:spPr>
          <a:xfrm>
            <a:off x="1645269" y="411900"/>
            <a:ext cx="890622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昇腾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 Core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内部的并行计算架构抽象（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910B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9320766E-F581-2A56-EE8C-7BB98EFF1A22}"/>
              </a:ext>
            </a:extLst>
          </p:cNvPr>
          <p:cNvSpPr txBox="1">
            <a:spLocks/>
          </p:cNvSpPr>
          <p:nvPr/>
        </p:nvSpPr>
        <p:spPr>
          <a:xfrm>
            <a:off x="521874" y="1158795"/>
            <a:ext cx="4032873" cy="22300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98271">
              <a:lnSpc>
                <a:spcPct val="130000"/>
              </a:lnSpc>
              <a:spcBef>
                <a:spcPts val="0"/>
              </a:spcBef>
              <a:buNone/>
              <a:defRPr sz="1649"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Core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内核心组件</a:t>
            </a:r>
          </a:p>
          <a:p>
            <a:pPr marL="126000" lvl="1" indent="-126000" defTabSz="798271">
              <a:lnSpc>
                <a:spcPct val="130000"/>
              </a:lnSpc>
              <a:spcBef>
                <a:spcPts val="0"/>
              </a:spcBef>
              <a:defRPr sz="1649" b="0">
                <a:solidFill>
                  <a:srgbClr val="262626"/>
                </a:solidFill>
              </a:defRPr>
            </a:pPr>
            <a:r>
              <a:rPr lang="zh-CN" altLang="en-US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标量计算单元任务是进行计算流程控制、指令发射和地址计算</a:t>
            </a:r>
          </a:p>
          <a:p>
            <a:pPr marL="126000" lvl="1" indent="-126000" defTabSz="798271">
              <a:lnSpc>
                <a:spcPct val="130000"/>
              </a:lnSpc>
              <a:spcBef>
                <a:spcPts val="0"/>
              </a:spcBef>
              <a:defRPr sz="1649" b="0">
                <a:solidFill>
                  <a:srgbClr val="262626"/>
                </a:solidFill>
              </a:defRPr>
            </a:pPr>
            <a:r>
              <a:rPr lang="zh-CN" altLang="en-US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向量计算单元负责张量数据计算</a:t>
            </a:r>
          </a:p>
          <a:p>
            <a:pPr marL="126000" lvl="1" indent="-126000" defTabSz="798271">
              <a:lnSpc>
                <a:spcPct val="130000"/>
              </a:lnSpc>
              <a:spcBef>
                <a:spcPts val="0"/>
              </a:spcBef>
              <a:defRPr sz="1649" b="0">
                <a:solidFill>
                  <a:srgbClr val="262626"/>
                </a:solidFill>
              </a:defRPr>
            </a:pPr>
            <a:r>
              <a:rPr lang="zh-CN" altLang="en-US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矩阵计算单元负责矩阵乘计算</a:t>
            </a:r>
          </a:p>
          <a:p>
            <a:pPr marL="126000" lvl="1" indent="-126000" defTabSz="79827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sz="1649" b="0">
                <a:solidFill>
                  <a:srgbClr val="262626"/>
                </a:solidFill>
              </a:defRPr>
            </a:pPr>
            <a:r>
              <a:rPr lang="en-US" altLang="zh-CN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DMA</a:t>
            </a:r>
            <a:r>
              <a:rPr lang="zh-CN" altLang="en-US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负责在</a:t>
            </a:r>
            <a:r>
              <a:rPr lang="en-US" altLang="zh-CN" sz="1000" dirty="0" err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GlobalMem</a:t>
            </a:r>
            <a:r>
              <a:rPr lang="zh-CN" altLang="en-US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1000" dirty="0" err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LocalMem</a:t>
            </a:r>
            <a:r>
              <a:rPr lang="zh-CN" altLang="en-US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之间搬运数据，具体内部包含</a:t>
            </a:r>
            <a:r>
              <a:rPr lang="en-US" altLang="zh-CN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DMA</a:t>
            </a:r>
            <a:r>
              <a:rPr lang="zh-CN" altLang="en-US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搬入单元、搬出单元</a:t>
            </a:r>
          </a:p>
          <a:p>
            <a:pPr marL="0" indent="0" defTabSz="798271">
              <a:lnSpc>
                <a:spcPct val="130000"/>
              </a:lnSpc>
              <a:spcBef>
                <a:spcPts val="0"/>
              </a:spcBef>
              <a:buNone/>
              <a:defRPr sz="1649"/>
            </a:pP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数据处理的基本过程</a:t>
            </a:r>
          </a:p>
          <a:p>
            <a:pPr marL="126000" lvl="1" indent="-126000" defTabSz="798271">
              <a:lnSpc>
                <a:spcPct val="130000"/>
              </a:lnSpc>
              <a:spcBef>
                <a:spcPts val="0"/>
              </a:spcBef>
              <a:defRPr sz="1649" b="0">
                <a:solidFill>
                  <a:srgbClr val="262626"/>
                </a:solidFill>
              </a:defRPr>
            </a:pPr>
            <a:r>
              <a:rPr lang="en-US" altLang="zh-CN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DMA</a:t>
            </a:r>
            <a:r>
              <a:rPr lang="zh-CN" altLang="en-US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搬入单元把数据搬运到</a:t>
            </a:r>
            <a:r>
              <a:rPr lang="en-US" altLang="zh-CN" sz="1000" dirty="0" err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LocalMem</a:t>
            </a:r>
            <a:endParaRPr lang="zh-CN" altLang="en-US" sz="1000" dirty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lvl="1" indent="-126000" defTabSz="798271">
              <a:lnSpc>
                <a:spcPct val="130000"/>
              </a:lnSpc>
              <a:spcBef>
                <a:spcPts val="0"/>
              </a:spcBef>
              <a:defRPr sz="1649" b="0">
                <a:solidFill>
                  <a:srgbClr val="262626"/>
                </a:solidFill>
              </a:defRPr>
            </a:pPr>
            <a:r>
              <a:rPr lang="zh-CN" altLang="en-US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向量</a:t>
            </a:r>
            <a:r>
              <a:rPr lang="en-US" altLang="zh-CN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矩阵计算单元把</a:t>
            </a:r>
            <a:r>
              <a:rPr lang="en-US" altLang="zh-CN" sz="1000" dirty="0" err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LocalMem</a:t>
            </a:r>
            <a:r>
              <a:rPr lang="zh-CN" altLang="en-US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内数据完成计算，写回</a:t>
            </a:r>
            <a:r>
              <a:rPr lang="en-US" altLang="zh-CN" sz="1000" dirty="0" err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LocalMem</a:t>
            </a:r>
            <a:endParaRPr lang="zh-CN" altLang="en-US" sz="1000" dirty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lvl="1" indent="-126000" defTabSz="798271">
              <a:lnSpc>
                <a:spcPct val="130000"/>
              </a:lnSpc>
              <a:spcBef>
                <a:spcPts val="0"/>
              </a:spcBef>
              <a:defRPr sz="1649" b="0">
                <a:solidFill>
                  <a:srgbClr val="262626"/>
                </a:solidFill>
              </a:defRPr>
            </a:pPr>
            <a:r>
              <a:rPr lang="en-US" altLang="zh-CN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DMA</a:t>
            </a:r>
            <a:r>
              <a:rPr lang="zh-CN" altLang="en-US" sz="1000" dirty="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搬出单元把处理好的数据搬运回</a:t>
            </a:r>
            <a:r>
              <a:rPr lang="en-US" altLang="zh-CN" sz="1000" dirty="0" err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GlobalMem</a:t>
            </a:r>
            <a:endParaRPr lang="zh-CN" altLang="en-US" sz="1000" dirty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3A3C6308-6E04-C1BE-720D-618BBD2DCBAE}"/>
              </a:ext>
            </a:extLst>
          </p:cNvPr>
          <p:cNvSpPr txBox="1"/>
          <p:nvPr/>
        </p:nvSpPr>
        <p:spPr>
          <a:xfrm>
            <a:off x="715917" y="3502698"/>
            <a:ext cx="3390899" cy="2311658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kumimoji="1" lang="zh-CN" altLang="en-US" sz="800" b="1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43C923BF-99B0-B3F4-89E3-244EC7024433}"/>
              </a:ext>
            </a:extLst>
          </p:cNvPr>
          <p:cNvSpPr txBox="1"/>
          <p:nvPr/>
        </p:nvSpPr>
        <p:spPr>
          <a:xfrm>
            <a:off x="640620" y="3595236"/>
            <a:ext cx="3390899" cy="2311658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kumimoji="1" lang="zh-CN" altLang="en-US" sz="800" b="1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9D87E592-D44A-E7B8-AF1B-0E13238252C4}"/>
              </a:ext>
            </a:extLst>
          </p:cNvPr>
          <p:cNvSpPr txBox="1"/>
          <p:nvPr/>
        </p:nvSpPr>
        <p:spPr>
          <a:xfrm>
            <a:off x="565324" y="3687774"/>
            <a:ext cx="3390899" cy="2311658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kumimoji="1" lang="zh-CN" altLang="en-US" sz="800" b="1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C8F192-881F-E386-BAB9-1EADA64C2365}"/>
              </a:ext>
            </a:extLst>
          </p:cNvPr>
          <p:cNvSpPr txBox="1"/>
          <p:nvPr/>
        </p:nvSpPr>
        <p:spPr>
          <a:xfrm>
            <a:off x="739068" y="3920464"/>
            <a:ext cx="54662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AI Core</a:t>
            </a:r>
            <a:endParaRPr kumimoji="1" lang="zh-CN" altLang="en-US" sz="1200" b="1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5BD0C8-543C-10FC-1F8B-EC05FF84025F}"/>
              </a:ext>
            </a:extLst>
          </p:cNvPr>
          <p:cNvSpPr txBox="1"/>
          <p:nvPr/>
        </p:nvSpPr>
        <p:spPr>
          <a:xfrm>
            <a:off x="1971989" y="3951242"/>
            <a:ext cx="61555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算子指令序列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B573EB-FDFF-0142-5446-74B7FF95A640}"/>
              </a:ext>
            </a:extLst>
          </p:cNvPr>
          <p:cNvSpPr txBox="1"/>
          <p:nvPr/>
        </p:nvSpPr>
        <p:spPr>
          <a:xfrm>
            <a:off x="781995" y="4453983"/>
            <a:ext cx="460770" cy="269955"/>
          </a:xfrm>
          <a:prstGeom prst="rect">
            <a:avLst/>
          </a:prstGeom>
          <a:noFill/>
          <a:ln>
            <a:solidFill>
              <a:schemeClr val="bg1">
                <a:lumMod val="60000"/>
                <a:lumOff val="4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zh-CN" altLang="en-US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标量</a:t>
            </a:r>
            <a:endParaRPr kumimoji="1" lang="en-US" altLang="zh-CN" sz="800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kumimoji="1" lang="zh-CN" altLang="en-US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计算单元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53E7857-9DD1-B758-74B1-B2AC14C58C6E}"/>
              </a:ext>
            </a:extLst>
          </p:cNvPr>
          <p:cNvGrpSpPr/>
          <p:nvPr/>
        </p:nvGrpSpPr>
        <p:grpSpPr>
          <a:xfrm>
            <a:off x="1590566" y="5047470"/>
            <a:ext cx="632028" cy="565146"/>
            <a:chOff x="2057118" y="4866539"/>
            <a:chExt cx="632028" cy="565146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D21213F-81FA-5FAF-0C87-51E5436F7492}"/>
                </a:ext>
              </a:extLst>
            </p:cNvPr>
            <p:cNvSpPr txBox="1"/>
            <p:nvPr/>
          </p:nvSpPr>
          <p:spPr>
            <a:xfrm>
              <a:off x="2057118" y="4866539"/>
              <a:ext cx="175295" cy="565146"/>
            </a:xfrm>
            <a:prstGeom prst="rect">
              <a:avLst/>
            </a:prstGeom>
            <a:solidFill>
              <a:srgbClr val="92D050"/>
            </a:solidFill>
          </p:spPr>
          <p:txBody>
            <a:bodyPr wrap="none" lIns="36000" tIns="36000" rIns="36000" bIns="36000" rtlCol="0">
              <a:spAutoFit/>
            </a:bodyPr>
            <a:lstStyle/>
            <a:p>
              <a:pPr algn="ctr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指</a:t>
              </a:r>
              <a:endParaRPr kumimoji="1" lang="en-US" altLang="zh-CN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algn="ctr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令</a:t>
              </a:r>
              <a:endParaRPr kumimoji="1" lang="en-US" altLang="zh-CN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algn="ctr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队</a:t>
              </a:r>
              <a:endParaRPr kumimoji="1" lang="en-US" altLang="zh-CN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algn="ctr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列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8C95944-87C4-C6EB-E812-766959549478}"/>
                </a:ext>
              </a:extLst>
            </p:cNvPr>
            <p:cNvSpPr txBox="1"/>
            <p:nvPr/>
          </p:nvSpPr>
          <p:spPr>
            <a:xfrm>
              <a:off x="2228376" y="5014135"/>
              <a:ext cx="460770" cy="269955"/>
            </a:xfrm>
            <a:prstGeom prst="rect">
              <a:avLst/>
            </a:prstGeom>
            <a:noFill/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向量</a:t>
              </a:r>
              <a:endParaRPr kumimoji="1" lang="en-US" altLang="zh-CN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algn="ctr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计算单元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7305CCC-5A0D-1CF0-23C9-E27E01FEE1B3}"/>
              </a:ext>
            </a:extLst>
          </p:cNvPr>
          <p:cNvGrpSpPr/>
          <p:nvPr/>
        </p:nvGrpSpPr>
        <p:grpSpPr>
          <a:xfrm>
            <a:off x="2377514" y="5047470"/>
            <a:ext cx="632028" cy="565146"/>
            <a:chOff x="2057118" y="4866539"/>
            <a:chExt cx="632028" cy="565146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216B9DE-AB16-AD36-5261-CEBDE7446C66}"/>
                </a:ext>
              </a:extLst>
            </p:cNvPr>
            <p:cNvSpPr txBox="1"/>
            <p:nvPr/>
          </p:nvSpPr>
          <p:spPr>
            <a:xfrm>
              <a:off x="2057118" y="4866539"/>
              <a:ext cx="175295" cy="565146"/>
            </a:xfrm>
            <a:prstGeom prst="rect">
              <a:avLst/>
            </a:prstGeom>
            <a:solidFill>
              <a:srgbClr val="92D050"/>
            </a:solidFill>
          </p:spPr>
          <p:txBody>
            <a:bodyPr wrap="none" lIns="36000" tIns="36000" rIns="36000" bIns="36000" rtlCol="0">
              <a:spAutoFit/>
            </a:bodyPr>
            <a:lstStyle/>
            <a:p>
              <a:pPr algn="ctr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指</a:t>
              </a:r>
              <a:endParaRPr kumimoji="1" lang="en-US" altLang="zh-CN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algn="ctr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令</a:t>
              </a:r>
              <a:endParaRPr kumimoji="1" lang="en-US" altLang="zh-CN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algn="ctr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队</a:t>
              </a:r>
              <a:endParaRPr kumimoji="1" lang="en-US" altLang="zh-CN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algn="ctr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列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23B01D9-1513-4EFF-184E-2E7B382304DB}"/>
                </a:ext>
              </a:extLst>
            </p:cNvPr>
            <p:cNvSpPr txBox="1"/>
            <p:nvPr/>
          </p:nvSpPr>
          <p:spPr>
            <a:xfrm>
              <a:off x="2228376" y="5014135"/>
              <a:ext cx="460770" cy="269955"/>
            </a:xfrm>
            <a:prstGeom prst="rect">
              <a:avLst/>
            </a:prstGeom>
            <a:noFill/>
            <a:ln>
              <a:solidFill>
                <a:schemeClr val="bg1">
                  <a:lumMod val="60000"/>
                  <a:lumOff val="40000"/>
                </a:schemeClr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矩阵</a:t>
              </a:r>
              <a:endParaRPr kumimoji="1" lang="en-US" altLang="zh-CN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  <a:p>
              <a:pPr algn="ctr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计算单元</a:t>
              </a: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41B33027-8F17-7BE7-B3DE-AA42D4384534}"/>
              </a:ext>
            </a:extLst>
          </p:cNvPr>
          <p:cNvSpPr txBox="1"/>
          <p:nvPr/>
        </p:nvSpPr>
        <p:spPr>
          <a:xfrm>
            <a:off x="3164462" y="5047470"/>
            <a:ext cx="175295" cy="565146"/>
          </a:xfrm>
          <a:prstGeom prst="rect">
            <a:avLst/>
          </a:prstGeom>
          <a:solidFill>
            <a:srgbClr val="92D050"/>
          </a:solidFill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kumimoji="1" lang="zh-CN" altLang="en-US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指</a:t>
            </a:r>
            <a:endParaRPr kumimoji="1" lang="en-US" altLang="zh-CN" sz="800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kumimoji="1" lang="zh-CN" altLang="en-US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令</a:t>
            </a:r>
            <a:endParaRPr kumimoji="1" lang="en-US" altLang="zh-CN" sz="800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kumimoji="1" lang="zh-CN" altLang="en-US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队</a:t>
            </a:r>
            <a:endParaRPr kumimoji="1" lang="en-US" altLang="zh-CN" sz="800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kumimoji="1" lang="zh-CN" altLang="en-US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ED23E07-5509-B9F0-A480-26BA42A30096}"/>
              </a:ext>
            </a:extLst>
          </p:cNvPr>
          <p:cNvSpPr txBox="1"/>
          <p:nvPr/>
        </p:nvSpPr>
        <p:spPr>
          <a:xfrm>
            <a:off x="3335720" y="5195066"/>
            <a:ext cx="460770" cy="269955"/>
          </a:xfrm>
          <a:prstGeom prst="rect">
            <a:avLst/>
          </a:prstGeom>
          <a:noFill/>
          <a:ln>
            <a:solidFill>
              <a:schemeClr val="bg1">
                <a:lumMod val="60000"/>
                <a:lumOff val="40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DMA</a:t>
            </a:r>
            <a:endParaRPr kumimoji="1" lang="zh-CN" altLang="en-US" sz="800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DBE347E-9C7A-1F62-434D-FAE7C1E8B800}"/>
              </a:ext>
            </a:extLst>
          </p:cNvPr>
          <p:cNvSpPr txBox="1"/>
          <p:nvPr/>
        </p:nvSpPr>
        <p:spPr>
          <a:xfrm>
            <a:off x="1242765" y="5742954"/>
            <a:ext cx="2258810" cy="186951"/>
          </a:xfrm>
          <a:prstGeom prst="rect">
            <a:avLst/>
          </a:prstGeom>
          <a:solidFill>
            <a:srgbClr val="AFD1D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zh-CN" altLang="en-US" sz="8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本地内存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C52EE4E-C36D-5DC2-A80A-9073E54609BC}"/>
              </a:ext>
            </a:extLst>
          </p:cNvPr>
          <p:cNvSpPr txBox="1"/>
          <p:nvPr/>
        </p:nvSpPr>
        <p:spPr>
          <a:xfrm>
            <a:off x="565324" y="6098313"/>
            <a:ext cx="3390899" cy="218408"/>
          </a:xfrm>
          <a:prstGeom prst="rect">
            <a:avLst/>
          </a:prstGeom>
          <a:solidFill>
            <a:srgbClr val="AFD1D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zh-CN" altLang="en-US" sz="800" b="1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全局内存（</a:t>
            </a:r>
            <a:r>
              <a:rPr kumimoji="1" lang="en-US" altLang="zh-CN" sz="800" b="1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HBM</a:t>
            </a:r>
            <a:r>
              <a:rPr kumimoji="1" lang="zh-CN" altLang="en-US" sz="800" b="1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）</a:t>
            </a: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8DD3C43E-AB4D-7608-5DFC-E1E39DA1BDB4}"/>
              </a:ext>
            </a:extLst>
          </p:cNvPr>
          <p:cNvGrpSpPr/>
          <p:nvPr/>
        </p:nvGrpSpPr>
        <p:grpSpPr>
          <a:xfrm>
            <a:off x="2796952" y="3767112"/>
            <a:ext cx="677465" cy="491370"/>
            <a:chOff x="4435079" y="3856137"/>
            <a:chExt cx="677465" cy="491370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5E952E5-A9D5-BAA7-B438-A6794A82557B}"/>
                </a:ext>
              </a:extLst>
            </p:cNvPr>
            <p:cNvSpPr txBox="1"/>
            <p:nvPr/>
          </p:nvSpPr>
          <p:spPr>
            <a:xfrm>
              <a:off x="4702175" y="3856137"/>
              <a:ext cx="307777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指令流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F9B7A01-6E19-19B3-4A0D-5B83302CD26C}"/>
                </a:ext>
              </a:extLst>
            </p:cNvPr>
            <p:cNvSpPr txBox="1"/>
            <p:nvPr/>
          </p:nvSpPr>
          <p:spPr>
            <a:xfrm>
              <a:off x="4702175" y="4045565"/>
              <a:ext cx="307777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数据流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64DD2AA-4200-C49F-4D7D-3665F1D29406}"/>
                </a:ext>
              </a:extLst>
            </p:cNvPr>
            <p:cNvSpPr txBox="1"/>
            <p:nvPr/>
          </p:nvSpPr>
          <p:spPr>
            <a:xfrm>
              <a:off x="4702175" y="4224396"/>
              <a:ext cx="410369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kumimoji="1" lang="zh-CN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同步信号</a:t>
              </a: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60FE6C03-8A75-8A7C-4220-FD48DA7A40F4}"/>
                </a:ext>
              </a:extLst>
            </p:cNvPr>
            <p:cNvCxnSpPr>
              <a:cxnSpLocks/>
            </p:cNvCxnSpPr>
            <p:nvPr/>
          </p:nvCxnSpPr>
          <p:spPr>
            <a:xfrm>
              <a:off x="4435079" y="3917692"/>
              <a:ext cx="212590" cy="0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B2B76659-8B0B-5A8C-2460-FC7581B53BE2}"/>
                </a:ext>
              </a:extLst>
            </p:cNvPr>
            <p:cNvCxnSpPr>
              <a:cxnSpLocks/>
            </p:cNvCxnSpPr>
            <p:nvPr/>
          </p:nvCxnSpPr>
          <p:spPr>
            <a:xfrm>
              <a:off x="4435079" y="4107120"/>
              <a:ext cx="212590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C5D08FCC-B999-4A42-3603-B1583DC325B3}"/>
                </a:ext>
              </a:extLst>
            </p:cNvPr>
            <p:cNvCxnSpPr>
              <a:cxnSpLocks/>
            </p:cNvCxnSpPr>
            <p:nvPr/>
          </p:nvCxnSpPr>
          <p:spPr>
            <a:xfrm>
              <a:off x="4435079" y="4285951"/>
              <a:ext cx="212590" cy="0"/>
            </a:xfrm>
            <a:prstGeom prst="straightConnector1">
              <a:avLst/>
            </a:prstGeom>
            <a:ln w="12700">
              <a:solidFill>
                <a:srgbClr val="FFC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AF737288-F800-3209-B667-94DAEC74E9D4}"/>
              </a:ext>
            </a:extLst>
          </p:cNvPr>
          <p:cNvGrpSpPr/>
          <p:nvPr/>
        </p:nvGrpSpPr>
        <p:grpSpPr>
          <a:xfrm>
            <a:off x="1525488" y="3828118"/>
            <a:ext cx="364332" cy="369359"/>
            <a:chOff x="1787581" y="3917692"/>
            <a:chExt cx="364332" cy="369359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F82523C6-3677-E4BB-98F8-52DCBC8C5AA4}"/>
                </a:ext>
              </a:extLst>
            </p:cNvPr>
            <p:cNvSpPr/>
            <p:nvPr/>
          </p:nvSpPr>
          <p:spPr>
            <a:xfrm>
              <a:off x="1787581" y="3917692"/>
              <a:ext cx="364332" cy="61556"/>
            </a:xfrm>
            <a:prstGeom prst="rect">
              <a:avLst/>
            </a:prstGeom>
            <a:noFill/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93A3E24F-83DA-9DCC-80C1-9E828FEC0310}"/>
                </a:ext>
              </a:extLst>
            </p:cNvPr>
            <p:cNvSpPr/>
            <p:nvPr/>
          </p:nvSpPr>
          <p:spPr>
            <a:xfrm>
              <a:off x="1787581" y="3979253"/>
              <a:ext cx="364332" cy="61556"/>
            </a:xfrm>
            <a:prstGeom prst="rect">
              <a:avLst/>
            </a:prstGeom>
            <a:noFill/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6F4360E-D0AB-01D2-C1F0-7D1500442EA1}"/>
                </a:ext>
              </a:extLst>
            </p:cNvPr>
            <p:cNvSpPr/>
            <p:nvPr/>
          </p:nvSpPr>
          <p:spPr>
            <a:xfrm>
              <a:off x="1787581" y="4040814"/>
              <a:ext cx="364332" cy="61556"/>
            </a:xfrm>
            <a:prstGeom prst="rect">
              <a:avLst/>
            </a:prstGeom>
            <a:noFill/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9172C807-DE1C-AA81-DCE2-0C3E80597E18}"/>
                </a:ext>
              </a:extLst>
            </p:cNvPr>
            <p:cNvSpPr/>
            <p:nvPr/>
          </p:nvSpPr>
          <p:spPr>
            <a:xfrm>
              <a:off x="1787581" y="4102375"/>
              <a:ext cx="364332" cy="61556"/>
            </a:xfrm>
            <a:prstGeom prst="rect">
              <a:avLst/>
            </a:prstGeom>
            <a:noFill/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E8CF66CD-9670-CF8C-5362-B5FB91E8C6AB}"/>
                </a:ext>
              </a:extLst>
            </p:cNvPr>
            <p:cNvSpPr/>
            <p:nvPr/>
          </p:nvSpPr>
          <p:spPr>
            <a:xfrm>
              <a:off x="1787581" y="4163936"/>
              <a:ext cx="364332" cy="61556"/>
            </a:xfrm>
            <a:prstGeom prst="rect">
              <a:avLst/>
            </a:prstGeom>
            <a:noFill/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D20AD4ED-F9CE-7A7B-2622-2EB412E53F49}"/>
                </a:ext>
              </a:extLst>
            </p:cNvPr>
            <p:cNvSpPr/>
            <p:nvPr/>
          </p:nvSpPr>
          <p:spPr>
            <a:xfrm>
              <a:off x="1787581" y="4225495"/>
              <a:ext cx="364332" cy="61556"/>
            </a:xfrm>
            <a:prstGeom prst="rect">
              <a:avLst/>
            </a:prstGeom>
            <a:noFill/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346734FD-6A82-604E-898B-B255F30FC84D}"/>
              </a:ext>
            </a:extLst>
          </p:cNvPr>
          <p:cNvCxnSpPr>
            <a:stCxn id="58" idx="2"/>
            <a:endCxn id="25" idx="0"/>
          </p:cNvCxnSpPr>
          <p:nvPr/>
        </p:nvCxnSpPr>
        <p:spPr>
          <a:xfrm rot="5400000">
            <a:off x="1231764" y="3978093"/>
            <a:ext cx="256506" cy="695274"/>
          </a:xfrm>
          <a:prstGeom prst="bentConnector3">
            <a:avLst/>
          </a:prstGeom>
          <a:ln>
            <a:solidFill>
              <a:srgbClr val="00B0F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C41179C1-7FD7-2758-F5BE-1FBBACB1F80F}"/>
              </a:ext>
            </a:extLst>
          </p:cNvPr>
          <p:cNvCxnSpPr>
            <a:cxnSpLocks/>
            <a:stCxn id="25" idx="2"/>
            <a:endCxn id="39" idx="0"/>
          </p:cNvCxnSpPr>
          <p:nvPr/>
        </p:nvCxnSpPr>
        <p:spPr>
          <a:xfrm rot="16200000" flipH="1">
            <a:off x="1970479" y="3765839"/>
            <a:ext cx="323532" cy="2239730"/>
          </a:xfrm>
          <a:prstGeom prst="bentConnector3">
            <a:avLst/>
          </a:prstGeom>
          <a:ln>
            <a:solidFill>
              <a:srgbClr val="00B0F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B39F74CB-78B3-B585-8837-F1EFD7FDD499}"/>
              </a:ext>
            </a:extLst>
          </p:cNvPr>
          <p:cNvCxnSpPr>
            <a:stCxn id="25" idx="2"/>
            <a:endCxn id="36" idx="0"/>
          </p:cNvCxnSpPr>
          <p:nvPr/>
        </p:nvCxnSpPr>
        <p:spPr>
          <a:xfrm rot="16200000" flipH="1">
            <a:off x="1577005" y="4159313"/>
            <a:ext cx="323532" cy="1452782"/>
          </a:xfrm>
          <a:prstGeom prst="bentConnector3">
            <a:avLst/>
          </a:prstGeom>
          <a:ln>
            <a:solidFill>
              <a:srgbClr val="00B0F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2C68D305-4227-8918-B958-390E3707D428}"/>
              </a:ext>
            </a:extLst>
          </p:cNvPr>
          <p:cNvCxnSpPr>
            <a:stCxn id="25" idx="2"/>
            <a:endCxn id="26" idx="0"/>
          </p:cNvCxnSpPr>
          <p:nvPr/>
        </p:nvCxnSpPr>
        <p:spPr>
          <a:xfrm rot="16200000" flipH="1">
            <a:off x="1183531" y="4552787"/>
            <a:ext cx="323532" cy="665834"/>
          </a:xfrm>
          <a:prstGeom prst="bentConnector3">
            <a:avLst/>
          </a:prstGeom>
          <a:ln>
            <a:solidFill>
              <a:srgbClr val="00B0F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773FFA71-CDC3-47DB-6C4B-DAFB7D9B27BF}"/>
              </a:ext>
            </a:extLst>
          </p:cNvPr>
          <p:cNvCxnSpPr>
            <a:cxnSpLocks/>
            <a:stCxn id="40" idx="0"/>
          </p:cNvCxnSpPr>
          <p:nvPr/>
        </p:nvCxnSpPr>
        <p:spPr>
          <a:xfrm rot="16200000" flipV="1">
            <a:off x="2111275" y="3740236"/>
            <a:ext cx="471128" cy="2438532"/>
          </a:xfrm>
          <a:prstGeom prst="bentConnector3">
            <a:avLst>
              <a:gd name="adj1" fmla="val 76957"/>
            </a:avLst>
          </a:prstGeom>
          <a:ln>
            <a:solidFill>
              <a:srgbClr val="FFC000"/>
            </a:solidFill>
            <a:headEnd type="triangl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9571D3BF-CA13-89F6-1EB6-3935F49501CE}"/>
              </a:ext>
            </a:extLst>
          </p:cNvPr>
          <p:cNvCxnSpPr>
            <a:cxnSpLocks/>
            <a:stCxn id="37" idx="0"/>
          </p:cNvCxnSpPr>
          <p:nvPr/>
        </p:nvCxnSpPr>
        <p:spPr>
          <a:xfrm rot="16200000" flipV="1">
            <a:off x="1717801" y="4133710"/>
            <a:ext cx="471128" cy="1651584"/>
          </a:xfrm>
          <a:prstGeom prst="bentConnector3">
            <a:avLst>
              <a:gd name="adj1" fmla="val 76957"/>
            </a:avLst>
          </a:prstGeom>
          <a:ln>
            <a:solidFill>
              <a:srgbClr val="FFC000"/>
            </a:solidFill>
            <a:headEnd type="triangl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CEA7E4A0-F06A-9939-3047-2B3998E2E0D7}"/>
              </a:ext>
            </a:extLst>
          </p:cNvPr>
          <p:cNvCxnSpPr>
            <a:cxnSpLocks/>
            <a:stCxn id="31" idx="0"/>
          </p:cNvCxnSpPr>
          <p:nvPr/>
        </p:nvCxnSpPr>
        <p:spPr>
          <a:xfrm rot="16200000" flipV="1">
            <a:off x="1324327" y="4527184"/>
            <a:ext cx="471128" cy="864636"/>
          </a:xfrm>
          <a:prstGeom prst="bentConnector3">
            <a:avLst>
              <a:gd name="adj1" fmla="val 76957"/>
            </a:avLst>
          </a:prstGeom>
          <a:ln>
            <a:solidFill>
              <a:srgbClr val="FFC000"/>
            </a:solidFill>
            <a:headEnd type="triangl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E0E82D16-2D8E-5A69-891A-FAC1CE660492}"/>
              </a:ext>
            </a:extLst>
          </p:cNvPr>
          <p:cNvCxnSpPr>
            <a:cxnSpLocks/>
          </p:cNvCxnSpPr>
          <p:nvPr/>
        </p:nvCxnSpPr>
        <p:spPr>
          <a:xfrm>
            <a:off x="897188" y="4723938"/>
            <a:ext cx="0" cy="1374375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06489F40-6AAD-0108-8B99-A9335F8CD255}"/>
              </a:ext>
            </a:extLst>
          </p:cNvPr>
          <p:cNvCxnSpPr>
            <a:cxnSpLocks/>
          </p:cNvCxnSpPr>
          <p:nvPr/>
        </p:nvCxnSpPr>
        <p:spPr>
          <a:xfrm>
            <a:off x="3566105" y="5465021"/>
            <a:ext cx="0" cy="633292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2C2CC641-266A-6E5C-6EF0-6E5F24374319}"/>
              </a:ext>
            </a:extLst>
          </p:cNvPr>
          <p:cNvCxnSpPr>
            <a:cxnSpLocks/>
          </p:cNvCxnSpPr>
          <p:nvPr/>
        </p:nvCxnSpPr>
        <p:spPr>
          <a:xfrm>
            <a:off x="3419450" y="5484073"/>
            <a:ext cx="0" cy="252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3A98A240-D90C-041C-FE83-E38E42F84843}"/>
              </a:ext>
            </a:extLst>
          </p:cNvPr>
          <p:cNvCxnSpPr>
            <a:cxnSpLocks/>
          </p:cNvCxnSpPr>
          <p:nvPr/>
        </p:nvCxnSpPr>
        <p:spPr>
          <a:xfrm>
            <a:off x="2778959" y="5484073"/>
            <a:ext cx="0" cy="252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713EB781-B7F3-98B6-EE65-CA2B27C46FB1}"/>
              </a:ext>
            </a:extLst>
          </p:cNvPr>
          <p:cNvCxnSpPr>
            <a:cxnSpLocks/>
          </p:cNvCxnSpPr>
          <p:nvPr/>
        </p:nvCxnSpPr>
        <p:spPr>
          <a:xfrm>
            <a:off x="1999220" y="5484073"/>
            <a:ext cx="0" cy="252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25A19188-CBD3-414E-EED4-2E6C07673C4E}"/>
              </a:ext>
            </a:extLst>
          </p:cNvPr>
          <p:cNvCxnSpPr>
            <a:cxnSpLocks/>
          </p:cNvCxnSpPr>
          <p:nvPr/>
        </p:nvCxnSpPr>
        <p:spPr>
          <a:xfrm>
            <a:off x="3666123" y="5990313"/>
            <a:ext cx="0" cy="108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C3F7B024-F505-888B-C1B3-D6A5982ED77C}"/>
              </a:ext>
            </a:extLst>
          </p:cNvPr>
          <p:cNvCxnSpPr>
            <a:cxnSpLocks/>
          </p:cNvCxnSpPr>
          <p:nvPr/>
        </p:nvCxnSpPr>
        <p:spPr>
          <a:xfrm>
            <a:off x="996917" y="5990313"/>
            <a:ext cx="0" cy="108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连接符: 肘形 105">
            <a:extLst>
              <a:ext uri="{FF2B5EF4-FFF2-40B4-BE49-F238E27FC236}">
                <a16:creationId xmlns:a16="http://schemas.microsoft.com/office/drawing/2014/main" id="{BAB35A1B-3A83-662F-565F-F2A89F1B15FE}"/>
              </a:ext>
            </a:extLst>
          </p:cNvPr>
          <p:cNvCxnSpPr/>
          <p:nvPr/>
        </p:nvCxnSpPr>
        <p:spPr>
          <a:xfrm>
            <a:off x="897188" y="5405438"/>
            <a:ext cx="514843" cy="337516"/>
          </a:xfrm>
          <a:prstGeom prst="bentConnector3">
            <a:avLst>
              <a:gd name="adj1" fmla="val 99952"/>
            </a:avLst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CC0EA88A-34B5-F1F6-0F93-7FED09147610}"/>
              </a:ext>
            </a:extLst>
          </p:cNvPr>
          <p:cNvSpPr txBox="1"/>
          <p:nvPr/>
        </p:nvSpPr>
        <p:spPr>
          <a:xfrm>
            <a:off x="6216154" y="1125537"/>
            <a:ext cx="5396418" cy="2162398"/>
          </a:xfrm>
          <a:prstGeom prst="rect">
            <a:avLst/>
          </a:prstGeom>
          <a:noFill/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t">
            <a:noAutofit/>
          </a:bodyPr>
          <a:lstStyle/>
          <a:p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矩阵计算模块（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</a:t>
            </a:r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A4B8871B-D888-D822-8724-12250AC2F6AC}"/>
              </a:ext>
            </a:extLst>
          </p:cNvPr>
          <p:cNvSpPr txBox="1"/>
          <p:nvPr/>
        </p:nvSpPr>
        <p:spPr>
          <a:xfrm>
            <a:off x="5320322" y="2786325"/>
            <a:ext cx="759192" cy="396791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控制接口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</a:p>
          <a:p>
            <a:pPr algn="ctr"/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Control Port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6844237A-1204-F66D-42C2-0F7D07EFB639}"/>
              </a:ext>
            </a:extLst>
          </p:cNvPr>
          <p:cNvSpPr txBox="1"/>
          <p:nvPr/>
        </p:nvSpPr>
        <p:spPr>
          <a:xfrm>
            <a:off x="7177360" y="1337268"/>
            <a:ext cx="614617" cy="914502"/>
          </a:xfrm>
          <a:prstGeom prst="rect">
            <a:avLst/>
          </a:prstGeom>
          <a:solidFill>
            <a:srgbClr val="FFF2CC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张量DMA/Tensor DMA</a:t>
            </a:r>
            <a:endParaRPr lang="en-US" altLang="zh-CN" sz="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DB9EA3A6-8C56-0A10-D77B-6754E498EEFB}"/>
              </a:ext>
            </a:extLst>
          </p:cNvPr>
          <p:cNvSpPr txBox="1"/>
          <p:nvPr/>
        </p:nvSpPr>
        <p:spPr>
          <a:xfrm>
            <a:off x="7177360" y="2719215"/>
            <a:ext cx="614617" cy="517507"/>
          </a:xfrm>
          <a:prstGeom prst="rect">
            <a:avLst/>
          </a:prstGeom>
          <a:solidFill>
            <a:srgbClr val="FFF2CC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总线接口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//MBI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D77625E0-4EFE-0A4A-4772-66833F3E5BDA}"/>
              </a:ext>
            </a:extLst>
          </p:cNvPr>
          <p:cNvSpPr txBox="1"/>
          <p:nvPr/>
        </p:nvSpPr>
        <p:spPr>
          <a:xfrm>
            <a:off x="7908882" y="2028242"/>
            <a:ext cx="1610517" cy="229602"/>
          </a:xfrm>
          <a:prstGeom prst="rect">
            <a:avLst/>
          </a:prstGeom>
          <a:solidFill>
            <a:srgbClr val="FFF2CC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后处理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/Post Processing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8075BB28-E92D-8C55-97B9-1D2A67848054}"/>
              </a:ext>
            </a:extLst>
          </p:cNvPr>
          <p:cNvSpPr txBox="1"/>
          <p:nvPr/>
        </p:nvSpPr>
        <p:spPr>
          <a:xfrm>
            <a:off x="7908883" y="2373729"/>
            <a:ext cx="1610518" cy="229602"/>
          </a:xfrm>
          <a:prstGeom prst="rect">
            <a:avLst/>
          </a:prstGeom>
          <a:solidFill>
            <a:srgbClr val="FFF2CC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标量计算单元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/Scalar ALU</a:t>
            </a: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CB1C0D1E-E1C1-6AB4-DC88-3159ED526782}"/>
              </a:ext>
            </a:extLst>
          </p:cNvPr>
          <p:cNvSpPr txBox="1"/>
          <p:nvPr/>
        </p:nvSpPr>
        <p:spPr>
          <a:xfrm>
            <a:off x="9636306" y="1337268"/>
            <a:ext cx="1081899" cy="569016"/>
          </a:xfrm>
          <a:prstGeom prst="rect">
            <a:avLst/>
          </a:prstGeom>
          <a:solidFill>
            <a:srgbClr val="FFF2CC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矩阵计算单元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</a:p>
          <a:p>
            <a:pPr algn="ctr"/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CUBE ALU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B79D9B6E-8DD9-59AC-987B-685FE2D56033}"/>
              </a:ext>
            </a:extLst>
          </p:cNvPr>
          <p:cNvSpPr txBox="1"/>
          <p:nvPr/>
        </p:nvSpPr>
        <p:spPr>
          <a:xfrm>
            <a:off x="9636307" y="2370692"/>
            <a:ext cx="1495111" cy="229602"/>
          </a:xfrm>
          <a:prstGeom prst="rect">
            <a:avLst/>
          </a:prstGeom>
          <a:solidFill>
            <a:srgbClr val="FFF2CC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通用寄存器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/General Register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49101D6E-32B7-3A7D-2413-B45DC372CC18}"/>
              </a:ext>
            </a:extLst>
          </p:cNvPr>
          <p:cNvSpPr txBox="1"/>
          <p:nvPr/>
        </p:nvSpPr>
        <p:spPr>
          <a:xfrm>
            <a:off x="6299175" y="1342840"/>
            <a:ext cx="761279" cy="1260491"/>
          </a:xfrm>
          <a:prstGeom prst="rect">
            <a:avLst/>
          </a:prstGeom>
          <a:solidFill>
            <a:srgbClr val="AFD1D2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L1</a:t>
            </a:r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缓冲区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/L1 Buffer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43800118-825D-EA4B-B089-FF8BE1B142DD}"/>
              </a:ext>
            </a:extLst>
          </p:cNvPr>
          <p:cNvSpPr txBox="1"/>
          <p:nvPr/>
        </p:nvSpPr>
        <p:spPr>
          <a:xfrm>
            <a:off x="7908882" y="1337268"/>
            <a:ext cx="1610517" cy="229602"/>
          </a:xfrm>
          <a:prstGeom prst="rect">
            <a:avLst/>
          </a:prstGeom>
          <a:solidFill>
            <a:srgbClr val="AFD1D2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L0A</a:t>
            </a:r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缓冲区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8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FeatureMap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L0A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C178AA85-45B0-A769-6240-5BCA39DEE389}"/>
              </a:ext>
            </a:extLst>
          </p:cNvPr>
          <p:cNvSpPr txBox="1"/>
          <p:nvPr/>
        </p:nvSpPr>
        <p:spPr>
          <a:xfrm>
            <a:off x="7908882" y="1682755"/>
            <a:ext cx="1610517" cy="229602"/>
          </a:xfrm>
          <a:prstGeom prst="rect">
            <a:avLst/>
          </a:prstGeom>
          <a:solidFill>
            <a:srgbClr val="AFD1D2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L0B</a:t>
            </a:r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缓冲区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/Weights L0B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4E55463F-A5DA-1601-33A2-14C2A30755C9}"/>
              </a:ext>
            </a:extLst>
          </p:cNvPr>
          <p:cNvSpPr txBox="1"/>
          <p:nvPr/>
        </p:nvSpPr>
        <p:spPr>
          <a:xfrm>
            <a:off x="10835109" y="1337268"/>
            <a:ext cx="697873" cy="569016"/>
          </a:xfrm>
          <a:prstGeom prst="rect">
            <a:avLst/>
          </a:prstGeom>
          <a:solidFill>
            <a:srgbClr val="AFD1D2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L0C</a:t>
            </a:r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缓冲区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/L0C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C1327AA9-B50D-2977-575F-75924DF12272}"/>
              </a:ext>
            </a:extLst>
          </p:cNvPr>
          <p:cNvSpPr txBox="1"/>
          <p:nvPr/>
        </p:nvSpPr>
        <p:spPr>
          <a:xfrm>
            <a:off x="6299175" y="2719215"/>
            <a:ext cx="761279" cy="517507"/>
          </a:xfrm>
          <a:prstGeom prst="rect">
            <a:avLst/>
          </a:prstGeom>
          <a:solidFill>
            <a:srgbClr val="C0D5FE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系统控制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/System Control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5C63F023-8469-F8FC-69F2-8BFA12362B7A}"/>
              </a:ext>
            </a:extLst>
          </p:cNvPr>
          <p:cNvSpPr txBox="1"/>
          <p:nvPr/>
        </p:nvSpPr>
        <p:spPr>
          <a:xfrm>
            <a:off x="7905321" y="2719215"/>
            <a:ext cx="746806" cy="517506"/>
          </a:xfrm>
          <a:prstGeom prst="rect">
            <a:avLst/>
          </a:prstGeom>
          <a:solidFill>
            <a:srgbClr val="C0D5FE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指令缓存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/Instruction Cache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9526DCA2-3F92-B04B-F191-AC368CC458DF}"/>
              </a:ext>
            </a:extLst>
          </p:cNvPr>
          <p:cNvSpPr txBox="1"/>
          <p:nvPr/>
        </p:nvSpPr>
        <p:spPr>
          <a:xfrm>
            <a:off x="8770815" y="2719215"/>
            <a:ext cx="746806" cy="517506"/>
          </a:xfrm>
          <a:prstGeom prst="rect">
            <a:avLst/>
          </a:prstGeom>
          <a:solidFill>
            <a:srgbClr val="C0D5FE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标量控制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/Scalar Control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8C01B1C-4828-F605-9116-B47A6D945E05}"/>
              </a:ext>
            </a:extLst>
          </p:cNvPr>
          <p:cNvSpPr txBox="1"/>
          <p:nvPr/>
        </p:nvSpPr>
        <p:spPr>
          <a:xfrm>
            <a:off x="9636307" y="2719215"/>
            <a:ext cx="1119214" cy="252000"/>
          </a:xfrm>
          <a:prstGeom prst="rect">
            <a:avLst/>
          </a:prstGeom>
          <a:solidFill>
            <a:srgbClr val="C0D5FE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矩阵指令队列</a:t>
            </a:r>
            <a:endParaRPr lang="en-US" altLang="zh-CN" sz="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/Matrix Issue Queue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35C31F07-2B41-5510-46DB-25EB011BDE50}"/>
              </a:ext>
            </a:extLst>
          </p:cNvPr>
          <p:cNvSpPr txBox="1"/>
          <p:nvPr/>
        </p:nvSpPr>
        <p:spPr>
          <a:xfrm>
            <a:off x="9636307" y="2984721"/>
            <a:ext cx="1119214" cy="252000"/>
          </a:xfrm>
          <a:prstGeom prst="rect">
            <a:avLst/>
          </a:prstGeom>
          <a:solidFill>
            <a:srgbClr val="C0D5FE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存储转换指令队列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/DMA Issue Queue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8DB1B14A-16BC-4DF4-4972-97178FE56843}"/>
              </a:ext>
            </a:extLst>
          </p:cNvPr>
          <p:cNvSpPr txBox="1"/>
          <p:nvPr/>
        </p:nvSpPr>
        <p:spPr>
          <a:xfrm>
            <a:off x="10835110" y="2719215"/>
            <a:ext cx="697873" cy="517506"/>
          </a:xfrm>
          <a:prstGeom prst="rect">
            <a:avLst/>
          </a:prstGeom>
          <a:solidFill>
            <a:srgbClr val="C0D5FE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事件同步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/Event Sync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3E7B8AE9-5E13-C96D-2554-D0B75081D1A3}"/>
              </a:ext>
            </a:extLst>
          </p:cNvPr>
          <p:cNvSpPr txBox="1"/>
          <p:nvPr/>
        </p:nvSpPr>
        <p:spPr>
          <a:xfrm>
            <a:off x="4886554" y="1125537"/>
            <a:ext cx="325679" cy="5178519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10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总</a:t>
            </a:r>
            <a:endParaRPr lang="en-US" altLang="zh-CN" sz="10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zh-CN" altLang="en-US" sz="10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线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AA07751C-7D1D-C48F-1AD7-81E3214ED44A}"/>
              </a:ext>
            </a:extLst>
          </p:cNvPr>
          <p:cNvSpPr txBox="1"/>
          <p:nvPr/>
        </p:nvSpPr>
        <p:spPr>
          <a:xfrm>
            <a:off x="6216154" y="3364433"/>
            <a:ext cx="1178177" cy="230803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总线（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L2/HBM/DDR</a:t>
            </a:r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D5A43B28-D324-E000-3F26-754D02758D5A}"/>
              </a:ext>
            </a:extLst>
          </p:cNvPr>
          <p:cNvSpPr txBox="1"/>
          <p:nvPr/>
        </p:nvSpPr>
        <p:spPr>
          <a:xfrm>
            <a:off x="6216154" y="3755380"/>
            <a:ext cx="5396418" cy="2162398"/>
          </a:xfrm>
          <a:prstGeom prst="rect">
            <a:avLst/>
          </a:prstGeom>
          <a:noFill/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t">
            <a:noAutofit/>
          </a:bodyPr>
          <a:lstStyle/>
          <a:p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向量计算模块（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AIV</a:t>
            </a:r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F42BA8B8-5B03-9E68-A7D7-F02E137683D0}"/>
              </a:ext>
            </a:extLst>
          </p:cNvPr>
          <p:cNvSpPr txBox="1"/>
          <p:nvPr/>
        </p:nvSpPr>
        <p:spPr>
          <a:xfrm>
            <a:off x="6216154" y="5956028"/>
            <a:ext cx="1178177" cy="230803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>
            <a:defPPr>
              <a:defRPr lang="en-US"/>
            </a:defPPr>
            <a:lvl1pPr algn="ctr">
              <a:defRPr sz="8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总线（</a:t>
            </a:r>
            <a:r>
              <a:rPr lang="en-US" altLang="zh-CN" dirty="0"/>
              <a:t>L2/HBM/DDR</a:t>
            </a:r>
            <a:r>
              <a:rPr lang="zh-CN" altLang="en-US" dirty="0"/>
              <a:t>）</a:t>
            </a: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84385A85-39F1-8989-D79A-222FAA626FBB}"/>
              </a:ext>
            </a:extLst>
          </p:cNvPr>
          <p:cNvCxnSpPr>
            <a:cxnSpLocks/>
          </p:cNvCxnSpPr>
          <p:nvPr/>
        </p:nvCxnSpPr>
        <p:spPr>
          <a:xfrm rot="16200000">
            <a:off x="7123360" y="1740519"/>
            <a:ext cx="0" cy="108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1171F89F-5BB3-820C-77E6-8B6C4A5CE0EB}"/>
              </a:ext>
            </a:extLst>
          </p:cNvPr>
          <p:cNvCxnSpPr>
            <a:cxnSpLocks/>
          </p:cNvCxnSpPr>
          <p:nvPr/>
        </p:nvCxnSpPr>
        <p:spPr>
          <a:xfrm rot="16200000">
            <a:off x="7845977" y="1398069"/>
            <a:ext cx="0" cy="108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432A4540-C0DA-A48C-C74F-BD34280B2BDC}"/>
              </a:ext>
            </a:extLst>
          </p:cNvPr>
          <p:cNvCxnSpPr>
            <a:cxnSpLocks/>
          </p:cNvCxnSpPr>
          <p:nvPr/>
        </p:nvCxnSpPr>
        <p:spPr>
          <a:xfrm rot="16200000">
            <a:off x="7845977" y="1743556"/>
            <a:ext cx="0" cy="108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D849A6DE-D0DA-00D4-8D59-EBC9BD604820}"/>
              </a:ext>
            </a:extLst>
          </p:cNvPr>
          <p:cNvCxnSpPr>
            <a:cxnSpLocks/>
          </p:cNvCxnSpPr>
          <p:nvPr/>
        </p:nvCxnSpPr>
        <p:spPr>
          <a:xfrm rot="16200000">
            <a:off x="9573401" y="1398069"/>
            <a:ext cx="0" cy="108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B14E60A7-7EE6-7592-D05C-6980ABB00984}"/>
              </a:ext>
            </a:extLst>
          </p:cNvPr>
          <p:cNvCxnSpPr>
            <a:cxnSpLocks/>
          </p:cNvCxnSpPr>
          <p:nvPr/>
        </p:nvCxnSpPr>
        <p:spPr>
          <a:xfrm rot="16200000">
            <a:off x="9573401" y="1743556"/>
            <a:ext cx="0" cy="108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2A90991E-8224-75D0-79DA-39F11F174ADC}"/>
              </a:ext>
            </a:extLst>
          </p:cNvPr>
          <p:cNvCxnSpPr>
            <a:cxnSpLocks/>
            <a:stCxn id="131" idx="3"/>
            <a:endCxn id="135" idx="1"/>
          </p:cNvCxnSpPr>
          <p:nvPr/>
        </p:nvCxnSpPr>
        <p:spPr>
          <a:xfrm>
            <a:off x="10718205" y="1621776"/>
            <a:ext cx="116904" cy="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连接符: 肘形 151">
            <a:extLst>
              <a:ext uri="{FF2B5EF4-FFF2-40B4-BE49-F238E27FC236}">
                <a16:creationId xmlns:a16="http://schemas.microsoft.com/office/drawing/2014/main" id="{BE484854-0D53-F061-3733-F5D40C291116}"/>
              </a:ext>
            </a:extLst>
          </p:cNvPr>
          <p:cNvCxnSpPr>
            <a:stCxn id="135" idx="2"/>
            <a:endCxn id="126" idx="3"/>
          </p:cNvCxnSpPr>
          <p:nvPr/>
        </p:nvCxnSpPr>
        <p:spPr>
          <a:xfrm rot="5400000">
            <a:off x="10233344" y="1192340"/>
            <a:ext cx="236759" cy="1664647"/>
          </a:xfrm>
          <a:prstGeom prst="bentConnector2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EB967714-A7F0-08F2-035D-CF8A6DB10E26}"/>
              </a:ext>
            </a:extLst>
          </p:cNvPr>
          <p:cNvCxnSpPr>
            <a:cxnSpLocks/>
          </p:cNvCxnSpPr>
          <p:nvPr/>
        </p:nvCxnSpPr>
        <p:spPr>
          <a:xfrm rot="5400000" flipH="1">
            <a:off x="7845977" y="2089043"/>
            <a:ext cx="0" cy="108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B7F522E0-7BAD-0471-F907-2DDAA5EDF032}"/>
              </a:ext>
            </a:extLst>
          </p:cNvPr>
          <p:cNvCxnSpPr>
            <a:cxnSpLocks/>
          </p:cNvCxnSpPr>
          <p:nvPr/>
        </p:nvCxnSpPr>
        <p:spPr>
          <a:xfrm flipH="1">
            <a:off x="7069360" y="2488530"/>
            <a:ext cx="830617" cy="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EC394F4D-09BC-2889-6FFC-AE1A011AC396}"/>
              </a:ext>
            </a:extLst>
          </p:cNvPr>
          <p:cNvCxnSpPr>
            <a:cxnSpLocks/>
            <a:stCxn id="121" idx="2"/>
            <a:endCxn id="123" idx="0"/>
          </p:cNvCxnSpPr>
          <p:nvPr/>
        </p:nvCxnSpPr>
        <p:spPr>
          <a:xfrm>
            <a:off x="7484669" y="2251770"/>
            <a:ext cx="0" cy="467445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DE0054A7-021C-4D9D-90A5-AD5A0BA91C95}"/>
              </a:ext>
            </a:extLst>
          </p:cNvPr>
          <p:cNvCxnSpPr>
            <a:cxnSpLocks/>
          </p:cNvCxnSpPr>
          <p:nvPr/>
        </p:nvCxnSpPr>
        <p:spPr>
          <a:xfrm>
            <a:off x="5212233" y="3113331"/>
            <a:ext cx="1086942" cy="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61">
            <a:extLst>
              <a:ext uri="{FF2B5EF4-FFF2-40B4-BE49-F238E27FC236}">
                <a16:creationId xmlns:a16="http://schemas.microsoft.com/office/drawing/2014/main" id="{5368F896-EE8D-311C-8FE2-1E021C6E3EE7}"/>
              </a:ext>
            </a:extLst>
          </p:cNvPr>
          <p:cNvCxnSpPr>
            <a:stCxn id="123" idx="2"/>
            <a:endCxn id="114" idx="3"/>
          </p:cNvCxnSpPr>
          <p:nvPr/>
        </p:nvCxnSpPr>
        <p:spPr>
          <a:xfrm rot="5400000">
            <a:off x="6109414" y="2339541"/>
            <a:ext cx="478075" cy="2272436"/>
          </a:xfrm>
          <a:prstGeom prst="bentConnector2">
            <a:avLst/>
          </a:prstGeom>
          <a:ln>
            <a:solidFill>
              <a:srgbClr val="C0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A8285973-1576-0967-9C94-7D454C9BA19C}"/>
              </a:ext>
            </a:extLst>
          </p:cNvPr>
          <p:cNvGrpSpPr/>
          <p:nvPr/>
        </p:nvGrpSpPr>
        <p:grpSpPr>
          <a:xfrm>
            <a:off x="7791977" y="2845215"/>
            <a:ext cx="1838988" cy="265506"/>
            <a:chOff x="7810844" y="2845215"/>
            <a:chExt cx="1838988" cy="265506"/>
          </a:xfrm>
        </p:grpSpPr>
        <p:cxnSp>
          <p:nvCxnSpPr>
            <p:cNvPr id="163" name="直接箭头连接符 162">
              <a:extLst>
                <a:ext uri="{FF2B5EF4-FFF2-40B4-BE49-F238E27FC236}">
                  <a16:creationId xmlns:a16="http://schemas.microsoft.com/office/drawing/2014/main" id="{39E9EBB5-1CB5-8410-5985-FF12654851E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864844" y="2923969"/>
              <a:ext cx="0" cy="10800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箭头连接符 163">
              <a:extLst>
                <a:ext uri="{FF2B5EF4-FFF2-40B4-BE49-F238E27FC236}">
                  <a16:creationId xmlns:a16="http://schemas.microsoft.com/office/drawing/2014/main" id="{152236FE-C752-33FD-CFD7-8B8D70AC49B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8730338" y="2923968"/>
              <a:ext cx="0" cy="10800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456DB2EF-3447-3FD4-0D3A-C9727CD2CF0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595832" y="2791215"/>
              <a:ext cx="0" cy="10800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0C783DC5-8E99-4C89-D8AB-C41D536DE4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595832" y="3056721"/>
              <a:ext cx="0" cy="10800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" name="文本框 173">
            <a:extLst>
              <a:ext uri="{FF2B5EF4-FFF2-40B4-BE49-F238E27FC236}">
                <a16:creationId xmlns:a16="http://schemas.microsoft.com/office/drawing/2014/main" id="{60C4724C-9611-3E75-F727-6C45E1D51336}"/>
              </a:ext>
            </a:extLst>
          </p:cNvPr>
          <p:cNvSpPr txBox="1"/>
          <p:nvPr/>
        </p:nvSpPr>
        <p:spPr>
          <a:xfrm>
            <a:off x="7177360" y="3981945"/>
            <a:ext cx="614617" cy="914502"/>
          </a:xfrm>
          <a:prstGeom prst="rect">
            <a:avLst/>
          </a:prstGeom>
          <a:solidFill>
            <a:srgbClr val="FFF2CC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向量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DMA/Vector DMA</a:t>
            </a: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330C2C0-5DF2-2E5F-D69F-F173BD238856}"/>
              </a:ext>
            </a:extLst>
          </p:cNvPr>
          <p:cNvSpPr txBox="1"/>
          <p:nvPr/>
        </p:nvSpPr>
        <p:spPr>
          <a:xfrm>
            <a:off x="9687011" y="3981945"/>
            <a:ext cx="1444407" cy="569016"/>
          </a:xfrm>
          <a:prstGeom prst="rect">
            <a:avLst/>
          </a:prstGeom>
          <a:solidFill>
            <a:srgbClr val="FFF2CC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向量计算单元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/VEC ALU</a:t>
            </a: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BDA77444-54FE-3505-693D-0EBFDAD9640B}"/>
              </a:ext>
            </a:extLst>
          </p:cNvPr>
          <p:cNvSpPr txBox="1"/>
          <p:nvPr/>
        </p:nvSpPr>
        <p:spPr>
          <a:xfrm>
            <a:off x="7908882" y="3981944"/>
            <a:ext cx="1610517" cy="557985"/>
          </a:xfrm>
          <a:prstGeom prst="rect">
            <a:avLst/>
          </a:prstGeom>
          <a:solidFill>
            <a:srgbClr val="AFD1D2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统一缓冲区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/UB</a:t>
            </a: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40A60514-5BF4-9DA3-E2CB-92F6B1A60FB2}"/>
              </a:ext>
            </a:extLst>
          </p:cNvPr>
          <p:cNvSpPr txBox="1"/>
          <p:nvPr/>
        </p:nvSpPr>
        <p:spPr>
          <a:xfrm>
            <a:off x="9636307" y="5006622"/>
            <a:ext cx="1495111" cy="229602"/>
          </a:xfrm>
          <a:prstGeom prst="rect">
            <a:avLst/>
          </a:prstGeom>
          <a:solidFill>
            <a:srgbClr val="FFF2CC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通用寄存器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/General Register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F98D3554-4637-F378-9CB7-1127745F8AB0}"/>
              </a:ext>
            </a:extLst>
          </p:cNvPr>
          <p:cNvSpPr txBox="1"/>
          <p:nvPr/>
        </p:nvSpPr>
        <p:spPr>
          <a:xfrm>
            <a:off x="7177360" y="5347905"/>
            <a:ext cx="614617" cy="517507"/>
          </a:xfrm>
          <a:prstGeom prst="rect">
            <a:avLst/>
          </a:prstGeom>
          <a:solidFill>
            <a:srgbClr val="FFF2CC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总线接口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/MBI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64C673E4-67AD-8148-6DBB-785C6121E697}"/>
              </a:ext>
            </a:extLst>
          </p:cNvPr>
          <p:cNvSpPr txBox="1"/>
          <p:nvPr/>
        </p:nvSpPr>
        <p:spPr>
          <a:xfrm>
            <a:off x="6299175" y="5347905"/>
            <a:ext cx="761279" cy="517507"/>
          </a:xfrm>
          <a:prstGeom prst="rect">
            <a:avLst/>
          </a:prstGeom>
          <a:solidFill>
            <a:srgbClr val="C0D5FE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系统控制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/System Control</a:t>
            </a: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13F293F6-69F6-3006-9D67-0138AF70FB37}"/>
              </a:ext>
            </a:extLst>
          </p:cNvPr>
          <p:cNvSpPr txBox="1"/>
          <p:nvPr/>
        </p:nvSpPr>
        <p:spPr>
          <a:xfrm>
            <a:off x="7905321" y="5347905"/>
            <a:ext cx="746806" cy="517506"/>
          </a:xfrm>
          <a:prstGeom prst="rect">
            <a:avLst/>
          </a:prstGeom>
          <a:solidFill>
            <a:srgbClr val="C0D5FE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指令缓存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/Instruction Cache</a:t>
            </a: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ABEA28E0-3EBD-45B7-BA32-2547CF93EFA0}"/>
              </a:ext>
            </a:extLst>
          </p:cNvPr>
          <p:cNvSpPr txBox="1"/>
          <p:nvPr/>
        </p:nvSpPr>
        <p:spPr>
          <a:xfrm>
            <a:off x="7908883" y="5007375"/>
            <a:ext cx="1610518" cy="229602"/>
          </a:xfrm>
          <a:prstGeom prst="rect">
            <a:avLst/>
          </a:prstGeom>
          <a:solidFill>
            <a:srgbClr val="FFF2CC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标量计算单元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/Scalar ALU</a:t>
            </a: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819B43C3-6951-C5C6-7487-BDE69D58C7B2}"/>
              </a:ext>
            </a:extLst>
          </p:cNvPr>
          <p:cNvSpPr txBox="1"/>
          <p:nvPr/>
        </p:nvSpPr>
        <p:spPr>
          <a:xfrm>
            <a:off x="8770815" y="5347905"/>
            <a:ext cx="746806" cy="517506"/>
          </a:xfrm>
          <a:prstGeom prst="rect">
            <a:avLst/>
          </a:prstGeom>
          <a:solidFill>
            <a:srgbClr val="C0D5FE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标量控制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/Scalar Control</a:t>
            </a: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FA439A59-0F14-07F4-5368-93C21245845D}"/>
              </a:ext>
            </a:extLst>
          </p:cNvPr>
          <p:cNvSpPr txBox="1"/>
          <p:nvPr/>
        </p:nvSpPr>
        <p:spPr>
          <a:xfrm>
            <a:off x="9636307" y="5347905"/>
            <a:ext cx="1119214" cy="252000"/>
          </a:xfrm>
          <a:prstGeom prst="rect">
            <a:avLst/>
          </a:prstGeom>
          <a:solidFill>
            <a:srgbClr val="C0D5FE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向量指令队列</a:t>
            </a:r>
            <a:endParaRPr lang="en-US" altLang="zh-CN" sz="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/Vector Issue Queue</a:t>
            </a: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E7FE6313-F218-FE78-251E-BB11564F067B}"/>
              </a:ext>
            </a:extLst>
          </p:cNvPr>
          <p:cNvSpPr txBox="1"/>
          <p:nvPr/>
        </p:nvSpPr>
        <p:spPr>
          <a:xfrm>
            <a:off x="9636307" y="5613411"/>
            <a:ext cx="1119214" cy="252000"/>
          </a:xfrm>
          <a:prstGeom prst="rect">
            <a:avLst/>
          </a:prstGeom>
          <a:solidFill>
            <a:srgbClr val="C0D5FE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存储转换指令队列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/DMA Issue Queue</a:t>
            </a: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4F41E8DE-F86D-0394-F6DD-90865953B468}"/>
              </a:ext>
            </a:extLst>
          </p:cNvPr>
          <p:cNvSpPr txBox="1"/>
          <p:nvPr/>
        </p:nvSpPr>
        <p:spPr>
          <a:xfrm>
            <a:off x="10835110" y="5347905"/>
            <a:ext cx="697873" cy="517506"/>
          </a:xfrm>
          <a:prstGeom prst="rect">
            <a:avLst/>
          </a:prstGeom>
          <a:solidFill>
            <a:srgbClr val="C0D5FE"/>
          </a:solidFill>
          <a:ln w="6350">
            <a:solidFill>
              <a:schemeClr val="bg1">
                <a:lumMod val="20000"/>
                <a:lumOff val="80000"/>
              </a:schemeClr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zh-CN" altLang="en-US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事件同步</a:t>
            </a:r>
            <a:r>
              <a:rPr lang="en-US" altLang="zh-CN" sz="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/Event Sync</a:t>
            </a:r>
            <a:endParaRPr lang="zh-CN" altLang="en-US" sz="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E5E64686-9824-D47D-811C-8BFC73A3DF4D}"/>
              </a:ext>
            </a:extLst>
          </p:cNvPr>
          <p:cNvCxnSpPr>
            <a:cxnSpLocks/>
          </p:cNvCxnSpPr>
          <p:nvPr/>
        </p:nvCxnSpPr>
        <p:spPr>
          <a:xfrm rot="16200000">
            <a:off x="7845977" y="4206937"/>
            <a:ext cx="0" cy="108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03B39B8B-5B55-343D-F201-17CCEE0695BD}"/>
              </a:ext>
            </a:extLst>
          </p:cNvPr>
          <p:cNvCxnSpPr>
            <a:cxnSpLocks/>
            <a:stCxn id="176" idx="3"/>
            <a:endCxn id="175" idx="1"/>
          </p:cNvCxnSpPr>
          <p:nvPr/>
        </p:nvCxnSpPr>
        <p:spPr>
          <a:xfrm>
            <a:off x="9519399" y="4260937"/>
            <a:ext cx="167612" cy="5516"/>
          </a:xfrm>
          <a:prstGeom prst="straightConnector1">
            <a:avLst/>
          </a:prstGeom>
          <a:ln>
            <a:solidFill>
              <a:srgbClr val="C0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5A4C0303-7558-16F7-D485-B8A413B9E9C8}"/>
              </a:ext>
            </a:extLst>
          </p:cNvPr>
          <p:cNvCxnSpPr>
            <a:cxnSpLocks/>
          </p:cNvCxnSpPr>
          <p:nvPr/>
        </p:nvCxnSpPr>
        <p:spPr>
          <a:xfrm>
            <a:off x="7484669" y="4904831"/>
            <a:ext cx="0" cy="467445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960D5137-0BAA-916F-694E-2CE5640E9773}"/>
              </a:ext>
            </a:extLst>
          </p:cNvPr>
          <p:cNvCxnSpPr>
            <a:cxnSpLocks/>
          </p:cNvCxnSpPr>
          <p:nvPr/>
        </p:nvCxnSpPr>
        <p:spPr>
          <a:xfrm rot="16200000">
            <a:off x="7845977" y="5552659"/>
            <a:ext cx="0" cy="108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17E63F07-7459-FA6C-1866-D2CC80164230}"/>
              </a:ext>
            </a:extLst>
          </p:cNvPr>
          <p:cNvCxnSpPr>
            <a:cxnSpLocks/>
          </p:cNvCxnSpPr>
          <p:nvPr/>
        </p:nvCxnSpPr>
        <p:spPr>
          <a:xfrm rot="5400000" flipH="1">
            <a:off x="8711471" y="5552658"/>
            <a:ext cx="0" cy="108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DA3FBEF3-F18D-0C53-7BA1-6DD1B420C6EC}"/>
              </a:ext>
            </a:extLst>
          </p:cNvPr>
          <p:cNvCxnSpPr>
            <a:cxnSpLocks/>
          </p:cNvCxnSpPr>
          <p:nvPr/>
        </p:nvCxnSpPr>
        <p:spPr>
          <a:xfrm rot="16200000">
            <a:off x="9576965" y="5419905"/>
            <a:ext cx="0" cy="108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>
            <a:extLst>
              <a:ext uri="{FF2B5EF4-FFF2-40B4-BE49-F238E27FC236}">
                <a16:creationId xmlns:a16="http://schemas.microsoft.com/office/drawing/2014/main" id="{84284A67-8AE3-DABE-6141-B7054C2D96D4}"/>
              </a:ext>
            </a:extLst>
          </p:cNvPr>
          <p:cNvCxnSpPr>
            <a:cxnSpLocks/>
          </p:cNvCxnSpPr>
          <p:nvPr/>
        </p:nvCxnSpPr>
        <p:spPr>
          <a:xfrm rot="16200000">
            <a:off x="9576965" y="5685411"/>
            <a:ext cx="0" cy="108000"/>
          </a:xfrm>
          <a:prstGeom prst="straightConnector1">
            <a:avLst/>
          </a:prstGeom>
          <a:ln>
            <a:solidFill>
              <a:srgbClr val="C0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连接符: 肘形 199">
            <a:extLst>
              <a:ext uri="{FF2B5EF4-FFF2-40B4-BE49-F238E27FC236}">
                <a16:creationId xmlns:a16="http://schemas.microsoft.com/office/drawing/2014/main" id="{AE561E02-3494-B9C9-C63F-E52C85B53D89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06890" y="5865411"/>
            <a:ext cx="2277781" cy="359669"/>
          </a:xfrm>
          <a:prstGeom prst="bentConnector3">
            <a:avLst>
              <a:gd name="adj1" fmla="val 489"/>
            </a:avLst>
          </a:prstGeom>
          <a:ln>
            <a:solidFill>
              <a:srgbClr val="C0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3B3A73E1-D730-78F0-703F-126E7D1C5D7E}"/>
              </a:ext>
            </a:extLst>
          </p:cNvPr>
          <p:cNvGrpSpPr/>
          <p:nvPr/>
        </p:nvGrpSpPr>
        <p:grpSpPr>
          <a:xfrm>
            <a:off x="5212233" y="5384797"/>
            <a:ext cx="1086942" cy="396791"/>
            <a:chOff x="5231100" y="4638184"/>
            <a:chExt cx="1086942" cy="396791"/>
          </a:xfrm>
        </p:grpSpPr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4BB0A94A-D54C-70A0-5C07-20E3003AC725}"/>
                </a:ext>
              </a:extLst>
            </p:cNvPr>
            <p:cNvSpPr txBox="1"/>
            <p:nvPr/>
          </p:nvSpPr>
          <p:spPr>
            <a:xfrm>
              <a:off x="5339189" y="4638184"/>
              <a:ext cx="759192" cy="396791"/>
            </a:xfrm>
            <a:prstGeom prst="rect">
              <a:avLst/>
            </a:prstGeom>
            <a:solidFill>
              <a:schemeClr val="bg1">
                <a:lumMod val="20000"/>
                <a:lumOff val="80000"/>
              </a:schemeClr>
            </a:solidFill>
            <a:ln w="6350">
              <a:solidFill>
                <a:schemeClr val="bg1">
                  <a:lumMod val="20000"/>
                  <a:lumOff val="80000"/>
                </a:schemeClr>
              </a:solidFill>
            </a:ln>
          </p:spPr>
          <p:txBody>
            <a:bodyPr wrap="square" lIns="72000" tIns="36000" rIns="72000" bIns="36000" rtlCol="0" anchor="ctr">
              <a:noAutofit/>
            </a:bodyPr>
            <a:lstStyle>
              <a:defPPr>
                <a:defRPr lang="en-US"/>
              </a:defPPr>
              <a:lvl1pPr algn="ctr">
                <a:defRPr sz="80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</a:lstStyle>
            <a:p>
              <a:r>
                <a:rPr lang="zh-CN" altLang="en-US" dirty="0"/>
                <a:t>控制接口</a:t>
              </a:r>
              <a:r>
                <a:rPr lang="en-US" altLang="zh-CN" dirty="0"/>
                <a:t>/</a:t>
              </a:r>
            </a:p>
            <a:p>
              <a:r>
                <a:rPr lang="en-US" altLang="zh-CN" dirty="0"/>
                <a:t>Control Port</a:t>
              </a:r>
            </a:p>
          </p:txBody>
        </p: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E4D3C471-C818-55CA-D2F8-1F01BBC2EC96}"/>
                </a:ext>
              </a:extLst>
            </p:cNvPr>
            <p:cNvCxnSpPr>
              <a:cxnSpLocks/>
            </p:cNvCxnSpPr>
            <p:nvPr/>
          </p:nvCxnSpPr>
          <p:spPr>
            <a:xfrm>
              <a:off x="5231100" y="4976142"/>
              <a:ext cx="1086942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2421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A192E-2713-6BE0-1031-C4EE2F4FE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534729D0-C7F5-7496-3ED8-50032A3AB016}"/>
              </a:ext>
            </a:extLst>
          </p:cNvPr>
          <p:cNvSpPr txBox="1">
            <a:spLocks/>
          </p:cNvSpPr>
          <p:nvPr/>
        </p:nvSpPr>
        <p:spPr>
          <a:xfrm>
            <a:off x="2540354" y="411900"/>
            <a:ext cx="711605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单程序多数据（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SPMD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）和流水线并行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239F27E-E684-A02E-6F0E-8FECDD87485B}"/>
              </a:ext>
            </a:extLst>
          </p:cNvPr>
          <p:cNvGrpSpPr/>
          <p:nvPr/>
        </p:nvGrpSpPr>
        <p:grpSpPr>
          <a:xfrm>
            <a:off x="1312056" y="1697927"/>
            <a:ext cx="3647618" cy="4073079"/>
            <a:chOff x="449724" y="1140470"/>
            <a:chExt cx="4398227" cy="4911239"/>
          </a:xfrm>
        </p:grpSpPr>
        <p:pic>
          <p:nvPicPr>
            <p:cNvPr id="2" name="图片 7" descr="图片 7">
              <a:extLst>
                <a:ext uri="{FF2B5EF4-FFF2-40B4-BE49-F238E27FC236}">
                  <a16:creationId xmlns:a16="http://schemas.microsoft.com/office/drawing/2014/main" id="{82CBE4D3-DB88-C095-E65D-078D0671B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2CC"/>
                </a:clrFrom>
                <a:clrTo>
                  <a:srgbClr val="FFF2CC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49724" y="1140470"/>
              <a:ext cx="4398227" cy="4911239"/>
            </a:xfrm>
            <a:prstGeom prst="rect">
              <a:avLst/>
            </a:prstGeom>
            <a:noFill/>
            <a:ln w="3175">
              <a:noFill/>
              <a:round/>
              <a:headEnd/>
              <a:tailEnd/>
            </a:ln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E937E6F-5A53-FDF3-F5A9-B45C7C5198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3789"/>
            <a:stretch/>
          </p:blipFill>
          <p:spPr>
            <a:xfrm>
              <a:off x="605980" y="1307294"/>
              <a:ext cx="4085714" cy="2446010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2547959-5F94-B1B5-A7E8-9E095748A581}"/>
                </a:ext>
              </a:extLst>
            </p:cNvPr>
            <p:cNvSpPr txBox="1"/>
            <p:nvPr/>
          </p:nvSpPr>
          <p:spPr>
            <a:xfrm>
              <a:off x="884290" y="5778617"/>
              <a:ext cx="1049895" cy="222667"/>
            </a:xfrm>
            <a:prstGeom prst="rect">
              <a:avLst/>
            </a:prstGeom>
            <a:solidFill>
              <a:schemeClr val="tx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0" tIns="0" rIns="0" bIns="0" numCol="1" spcCol="38100" rtlCol="0" anchor="t">
              <a:noAutofit/>
            </a:bodyPr>
            <a:lstStyle/>
            <a:p>
              <a:pPr marL="0" marR="0" indent="0" algn="ctr" defTabSz="914477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1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Huawei Sans"/>
                </a:rPr>
                <a:t>T</a:t>
              </a:r>
              <a:r>
                <a:rPr kumimoji="0" lang="en-US" altLang="zh-CN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Huawei Sans"/>
                </a:rPr>
                <a:t>1</a:t>
              </a:r>
              <a:r>
                <a:rPr kumimoji="0" lang="zh-CN" altLang="en-US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Huawei Sans"/>
                </a:rPr>
                <a:t>、</a:t>
              </a:r>
              <a:r>
                <a:rPr kumimoji="0" lang="en-US" altLang="zh-CN" sz="1200" b="0" i="1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Huawei Sans"/>
                </a:rPr>
                <a:t>T</a:t>
              </a:r>
              <a:r>
                <a:rPr kumimoji="0" lang="en-US" altLang="zh-CN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Huawei Sans"/>
                </a:rPr>
                <a:t>2</a:t>
              </a:r>
              <a:r>
                <a:rPr kumimoji="0" lang="zh-CN" altLang="en-US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Huawei Sans"/>
                </a:rPr>
                <a:t>、</a:t>
              </a:r>
              <a:r>
                <a:rPr kumimoji="0" lang="en-US" altLang="zh-CN" sz="1200" b="0" i="1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Huawei Sans"/>
                </a:rPr>
                <a:t>T</a:t>
              </a:r>
              <a:r>
                <a:rPr kumimoji="0" lang="en-US" altLang="zh-CN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Huawei Sans"/>
                </a:rPr>
                <a:t>3</a:t>
              </a:r>
              <a:endParaRPr kumimoji="0" lang="zh-CN" alt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endParaRPr>
            </a:p>
          </p:txBody>
        </p:sp>
      </p:grpSp>
      <p:pic>
        <p:nvPicPr>
          <p:cNvPr id="3" name="图片 9" descr="图片 9">
            <a:extLst>
              <a:ext uri="{FF2B5EF4-FFF2-40B4-BE49-F238E27FC236}">
                <a16:creationId xmlns:a16="http://schemas.microsoft.com/office/drawing/2014/main" id="{AD6269F0-BD5D-EBED-3CBC-5EC07EF9036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2CC"/>
              </a:clrFrom>
              <a:clrTo>
                <a:srgbClr val="FFF2C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36986" y="1697927"/>
            <a:ext cx="5047720" cy="4073302"/>
          </a:xfrm>
          <a:prstGeom prst="rect">
            <a:avLst/>
          </a:prstGeom>
          <a:noFill/>
          <a:ln w="3175">
            <a:noFill/>
            <a:round/>
            <a:headEnd/>
            <a:tailEnd/>
          </a:ln>
        </p:spPr>
      </p:pic>
      <p:sp>
        <p:nvSpPr>
          <p:cNvPr id="5" name="直接连接符 10">
            <a:extLst>
              <a:ext uri="{FF2B5EF4-FFF2-40B4-BE49-F238E27FC236}">
                <a16:creationId xmlns:a16="http://schemas.microsoft.com/office/drawing/2014/main" id="{0EAE77EF-935F-883C-9FBE-4DC2DABDBD2D}"/>
              </a:ext>
            </a:extLst>
          </p:cNvPr>
          <p:cNvSpPr/>
          <p:nvPr/>
        </p:nvSpPr>
        <p:spPr>
          <a:xfrm>
            <a:off x="3943854" y="2132855"/>
            <a:ext cx="2589217" cy="321612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txBody>
          <a:bodyPr lIns="45718" tIns="45718" rIns="45718" bIns="45718"/>
          <a:lstStyle/>
          <a:p>
            <a:endParaRPr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直接连接符 11">
            <a:extLst>
              <a:ext uri="{FF2B5EF4-FFF2-40B4-BE49-F238E27FC236}">
                <a16:creationId xmlns:a16="http://schemas.microsoft.com/office/drawing/2014/main" id="{8145C661-C69D-D758-5F71-45723CED0A0A}"/>
              </a:ext>
            </a:extLst>
          </p:cNvPr>
          <p:cNvSpPr/>
          <p:nvPr/>
        </p:nvSpPr>
        <p:spPr>
          <a:xfrm>
            <a:off x="3943854" y="2573722"/>
            <a:ext cx="2589217" cy="102217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txBody>
          <a:bodyPr lIns="45718" tIns="45718" rIns="45718" bIns="45718"/>
          <a:lstStyle/>
          <a:p>
            <a:endParaRPr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00A198-36DD-1C14-BD07-E89B3065F35E}"/>
              </a:ext>
            </a:extLst>
          </p:cNvPr>
          <p:cNvSpPr txBox="1"/>
          <p:nvPr/>
        </p:nvSpPr>
        <p:spPr>
          <a:xfrm>
            <a:off x="6877648" y="3064587"/>
            <a:ext cx="368434" cy="369328"/>
          </a:xfrm>
          <a:prstGeom prst="rect">
            <a:avLst/>
          </a:prstGeom>
          <a:solidFill>
            <a:srgbClr val="D1E39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T</a:t>
            </a: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1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C40C1A-7F60-433D-9E49-7FD78B0869CD}"/>
              </a:ext>
            </a:extLst>
          </p:cNvPr>
          <p:cNvSpPr txBox="1"/>
          <p:nvPr/>
        </p:nvSpPr>
        <p:spPr>
          <a:xfrm>
            <a:off x="8309088" y="3064587"/>
            <a:ext cx="368434" cy="369328"/>
          </a:xfrm>
          <a:prstGeom prst="rect">
            <a:avLst/>
          </a:prstGeom>
          <a:solidFill>
            <a:srgbClr val="D1E39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T2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864DA2-FCF5-3127-88AD-1A9F622C93D2}"/>
              </a:ext>
            </a:extLst>
          </p:cNvPr>
          <p:cNvSpPr txBox="1"/>
          <p:nvPr/>
        </p:nvSpPr>
        <p:spPr>
          <a:xfrm>
            <a:off x="9749157" y="3064587"/>
            <a:ext cx="368434" cy="369328"/>
          </a:xfrm>
          <a:prstGeom prst="rect">
            <a:avLst/>
          </a:prstGeom>
          <a:solidFill>
            <a:srgbClr val="D1E39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T3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Huawei Sans"/>
            </a:endParaRPr>
          </a:p>
        </p:txBody>
      </p:sp>
    </p:spTree>
    <p:extLst>
      <p:ext uri="{BB962C8B-B14F-4D97-AF65-F5344CB8AC3E}">
        <p14:creationId xmlns:p14="http://schemas.microsoft.com/office/powerpoint/2010/main" val="275364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7E0AE-BE6B-3FE8-7745-CDF92CAD0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4499BF45-991F-700B-FD1D-0E0AD48AE756}"/>
              </a:ext>
            </a:extLst>
          </p:cNvPr>
          <p:cNvSpPr txBox="1">
            <a:spLocks/>
          </p:cNvSpPr>
          <p:nvPr/>
        </p:nvSpPr>
        <p:spPr>
          <a:xfrm>
            <a:off x="4964095" y="411900"/>
            <a:ext cx="2268570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SPMD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编程</a:t>
            </a: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E83F40BB-27D3-7903-9431-58F61870DC9F}"/>
              </a:ext>
            </a:extLst>
          </p:cNvPr>
          <p:cNvSpPr txBox="1">
            <a:spLocks/>
          </p:cNvSpPr>
          <p:nvPr/>
        </p:nvSpPr>
        <p:spPr>
          <a:xfrm>
            <a:off x="811826" y="2081972"/>
            <a:ext cx="4303638" cy="30755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000" indent="-126000">
              <a:lnSpc>
                <a:spcPct val="150000"/>
              </a:lnSpc>
              <a:spcBef>
                <a:spcPts val="0"/>
              </a:spcBef>
              <a:spcAft>
                <a:spcPts val="480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右侧的算子程序被调用时启动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个实例运行，每个运行实例称为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，他们之间唯一区别是运行时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实例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ID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不同：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block_idx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的值不同。</a:t>
            </a:r>
          </a:p>
          <a:p>
            <a:pPr marL="126000" indent="-1260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所有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被调用时，都执行相同的代码，有相同的参数。</a:t>
            </a:r>
          </a:p>
          <a:p>
            <a:pPr marL="126000" indent="-1260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>
                <a:solidFill>
                  <a:srgbClr val="C00000"/>
                </a:solidFill>
              </a:defRPr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概念类似线程（进程），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block_idx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类似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ThreadID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（进程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ID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126000" indent="-1260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算子程序需要使用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block_idx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来进行数据并行计算切分。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A2F458B-8636-BA55-C274-9B0F1ADC8757}"/>
              </a:ext>
            </a:extLst>
          </p:cNvPr>
          <p:cNvGrpSpPr/>
          <p:nvPr/>
        </p:nvGrpSpPr>
        <p:grpSpPr>
          <a:xfrm>
            <a:off x="5532512" y="1120753"/>
            <a:ext cx="5852424" cy="5094628"/>
            <a:chOff x="5753790" y="1120753"/>
            <a:chExt cx="5852424" cy="5094628"/>
          </a:xfrm>
        </p:grpSpPr>
        <p:pic>
          <p:nvPicPr>
            <p:cNvPr id="3" name="图片 4" descr="图片 4">
              <a:extLst>
                <a:ext uri="{FF2B5EF4-FFF2-40B4-BE49-F238E27FC236}">
                  <a16:creationId xmlns:a16="http://schemas.microsoft.com/office/drawing/2014/main" id="{740177EE-5C12-5C43-8147-274A56439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280"/>
            <a:stretch/>
          </p:blipFill>
          <p:spPr>
            <a:xfrm>
              <a:off x="5753790" y="1702498"/>
              <a:ext cx="5852424" cy="134034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6" name="文本框 7">
              <a:extLst>
                <a:ext uri="{FF2B5EF4-FFF2-40B4-BE49-F238E27FC236}">
                  <a16:creationId xmlns:a16="http://schemas.microsoft.com/office/drawing/2014/main" id="{D36D28F7-66E4-7CF0-162C-E513868E94A4}"/>
                </a:ext>
              </a:extLst>
            </p:cNvPr>
            <p:cNvSpPr txBox="1"/>
            <p:nvPr/>
          </p:nvSpPr>
          <p:spPr>
            <a:xfrm>
              <a:off x="7851671" y="6030715"/>
              <a:ext cx="1982915" cy="1846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 algn="ctr">
                <a:defRPr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lang="zh-CN" altLang="en-US" sz="12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单程序多数据</a:t>
              </a:r>
              <a:r>
                <a:rPr lang="en-US" altLang="zh-CN" sz="12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SPMD</a:t>
              </a:r>
              <a:r>
                <a:rPr lang="zh-CN" altLang="en-US" sz="12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并行计算</a:t>
              </a:r>
            </a:p>
          </p:txBody>
        </p:sp>
        <p:sp>
          <p:nvSpPr>
            <p:cNvPr id="7" name="文本框 8">
              <a:extLst>
                <a:ext uri="{FF2B5EF4-FFF2-40B4-BE49-F238E27FC236}">
                  <a16:creationId xmlns:a16="http://schemas.microsoft.com/office/drawing/2014/main" id="{3F070E78-0AC7-1261-97C7-58576BA5225E}"/>
                </a:ext>
              </a:extLst>
            </p:cNvPr>
            <p:cNvSpPr txBox="1"/>
            <p:nvPr/>
          </p:nvSpPr>
          <p:spPr>
            <a:xfrm>
              <a:off x="7863649" y="5319484"/>
              <a:ext cx="1324080" cy="215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>
                <a:defRPr sz="1400">
                  <a:latin typeface="+mj-lt"/>
                  <a:ea typeface="+mj-ea"/>
                  <a:cs typeface="+mj-cs"/>
                  <a:sym typeface="Helvetica"/>
                </a:defRPr>
              </a:pPr>
              <a:r>
                <a:rPr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Global Mem</a:t>
              </a:r>
              <a:r>
                <a:rPr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微软雅黑"/>
                </a:rPr>
                <a:t>内存</a:t>
              </a:r>
            </a:p>
          </p:txBody>
        </p:sp>
        <p:sp>
          <p:nvSpPr>
            <p:cNvPr id="34" name="文本框 28">
              <a:extLst>
                <a:ext uri="{FF2B5EF4-FFF2-40B4-BE49-F238E27FC236}">
                  <a16:creationId xmlns:a16="http://schemas.microsoft.com/office/drawing/2014/main" id="{14CF079C-729C-C36D-276F-3AC878BA5500}"/>
                </a:ext>
              </a:extLst>
            </p:cNvPr>
            <p:cNvSpPr txBox="1"/>
            <p:nvPr/>
          </p:nvSpPr>
          <p:spPr>
            <a:xfrm>
              <a:off x="7510232" y="1120753"/>
              <a:ext cx="2665794" cy="369332"/>
            </a:xfrm>
            <a:prstGeom prst="rect">
              <a:avLst/>
            </a:prstGeom>
            <a:noFill/>
            <a:ln w="12700">
              <a:noFill/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defRPr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lang="zh-CN" altLang="en-US" sz="12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内嵌变量</a:t>
              </a:r>
              <a:r>
                <a:rPr lang="en-US" altLang="zh-CN" sz="12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block_idx</a:t>
              </a:r>
              <a:endPara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ctr">
                <a:defRPr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rPr lang="zh-CN" altLang="en-US" sz="12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每个</a:t>
              </a:r>
              <a:r>
                <a:rPr lang="en-US" altLang="zh-CN" sz="12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block</a:t>
              </a:r>
              <a:r>
                <a:rPr lang="zh-CN" altLang="en-US" sz="12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用这个变量来识别自己的身份</a:t>
              </a:r>
            </a:p>
          </p:txBody>
        </p:sp>
        <p:sp>
          <p:nvSpPr>
            <p:cNvPr id="35" name="直接箭头连接符 29">
              <a:extLst>
                <a:ext uri="{FF2B5EF4-FFF2-40B4-BE49-F238E27FC236}">
                  <a16:creationId xmlns:a16="http://schemas.microsoft.com/office/drawing/2014/main" id="{FDDE928D-1819-6CA9-20C5-E6F3D47CFFC6}"/>
                </a:ext>
              </a:extLst>
            </p:cNvPr>
            <p:cNvSpPr/>
            <p:nvPr/>
          </p:nvSpPr>
          <p:spPr>
            <a:xfrm flipH="1">
              <a:off x="8843128" y="1542799"/>
              <a:ext cx="0" cy="694449"/>
            </a:xfrm>
            <a:prstGeom prst="line">
              <a:avLst/>
            </a:prstGeom>
            <a:ln>
              <a:solidFill>
                <a:srgbClr val="C00000"/>
              </a:solidFill>
              <a:tailEnd type="triangle"/>
            </a:ln>
          </p:spPr>
          <p:txBody>
            <a:bodyPr lIns="45718" tIns="45718" rIns="45718" bIns="45718"/>
            <a:lstStyle/>
            <a:p>
              <a:endParaRPr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AACD1A13-4F5C-F87C-F23A-8A2AEBE55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2295" y="3007315"/>
              <a:ext cx="5081666" cy="29832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992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A9298-FCB4-EDE8-701D-6933D61B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F56C8B78-EB77-C228-BFF8-968CE1DD7997}"/>
              </a:ext>
            </a:extLst>
          </p:cNvPr>
          <p:cNvSpPr txBox="1">
            <a:spLocks/>
          </p:cNvSpPr>
          <p:nvPr/>
        </p:nvSpPr>
        <p:spPr>
          <a:xfrm>
            <a:off x="4980125" y="41190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流水线任务</a:t>
            </a: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82AF2906-81BF-DB4A-832D-A390EBC0EF96}"/>
              </a:ext>
            </a:extLst>
          </p:cNvPr>
          <p:cNvSpPr txBox="1">
            <a:spLocks/>
          </p:cNvSpPr>
          <p:nvPr/>
        </p:nvSpPr>
        <p:spPr>
          <a:xfrm>
            <a:off x="1290229" y="1879308"/>
            <a:ext cx="9616305" cy="124431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000" indent="-12600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rgbClr val="C00000"/>
                </a:solidFill>
              </a:defRPr>
            </a:pP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流水线任务（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Stage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指的是单核处理程序中主程序调度的并行任务。在核函数内部，可以通过流水线任务实现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数据的并行处理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来提升性能。</a:t>
            </a:r>
          </a:p>
          <a:p>
            <a:pPr marL="126000" indent="-12600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举例来说，单核处理程序的功能可以被拆分成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个流水线任务：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Consolas"/>
              </a:rPr>
              <a:t>Stage1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Consolas"/>
              </a:rPr>
              <a:t>Stage2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Consolas"/>
              </a:rPr>
              <a:t>Stage3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，每个任务专注于完成单一功能；需要处理的数据被切分成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片，使用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Consolas"/>
              </a:rPr>
              <a:t>Progress1</a:t>
            </a:r>
            <a:r>
              <a:rPr lang="en-US" altLang="zh-CN" sz="1200" b="1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Consolas"/>
              </a:rPr>
              <a:t>~n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表示，每个任务需要依次完成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个数据切片的处理。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Stage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间的箭头表达数据间的依赖关系，比如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Stage1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处理完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Progress1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之后，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Stage2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才能对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Progress1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进行处理。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BFD42D-F997-543C-3E36-18485ECA0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57" y="3368614"/>
            <a:ext cx="7662242" cy="203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6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3541B-49F0-A2CF-817D-7B80EF1F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A7EEC87A-3CC5-0E48-EFEB-E4F23ADE2B1A}"/>
              </a:ext>
            </a:extLst>
          </p:cNvPr>
          <p:cNvSpPr txBox="1">
            <a:spLocks/>
          </p:cNvSpPr>
          <p:nvPr/>
        </p:nvSpPr>
        <p:spPr>
          <a:xfrm>
            <a:off x="4980125" y="41190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流水线任务</a:t>
            </a: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68B14E8-B851-03FE-3D46-11E80105B4C8}"/>
              </a:ext>
            </a:extLst>
          </p:cNvPr>
          <p:cNvSpPr txBox="1">
            <a:spLocks/>
          </p:cNvSpPr>
          <p:nvPr/>
        </p:nvSpPr>
        <p:spPr>
          <a:xfrm>
            <a:off x="1811215" y="1954615"/>
            <a:ext cx="8574332" cy="61337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若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Progress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=3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，待处理的数据被切分成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片，对于同一片数据，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Stage1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Stage2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Stage3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之间的处理具有依赖关系，需要串行处理；不同的数据切片，同一时间点，可以有多个流水线任务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Stage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在并行处理，由此达到任务并行、提升性能的目的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163F8F-014B-9697-9D5E-22778D115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072" y="2664210"/>
            <a:ext cx="6820618" cy="260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0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AA903-A8BE-772A-2B91-3A1E1A928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538AC064-3A5E-473F-25FD-4ED5E6C4BF08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本章内容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9EFB4B3-705D-E13E-3A16-B35E6B2BBB7F}"/>
              </a:ext>
            </a:extLst>
          </p:cNvPr>
          <p:cNvSpPr/>
          <p:nvPr/>
        </p:nvSpPr>
        <p:spPr>
          <a:xfrm>
            <a:off x="4712642" y="1819025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6A11CD-3C0E-8401-3ED1-A0D7C127BF66}"/>
              </a:ext>
            </a:extLst>
          </p:cNvPr>
          <p:cNvSpPr txBox="1"/>
          <p:nvPr/>
        </p:nvSpPr>
        <p:spPr>
          <a:xfrm>
            <a:off x="5265051" y="1862959"/>
            <a:ext cx="21371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编程模型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62734B2-8904-28BE-C77F-83BF034FF1F0}"/>
              </a:ext>
            </a:extLst>
          </p:cNvPr>
          <p:cNvSpPr/>
          <p:nvPr/>
        </p:nvSpPr>
        <p:spPr>
          <a:xfrm>
            <a:off x="4712642" y="2506262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89247B-A5B7-91D9-1E0F-A1901E9E90EB}"/>
              </a:ext>
            </a:extLst>
          </p:cNvPr>
          <p:cNvSpPr txBox="1"/>
          <p:nvPr/>
        </p:nvSpPr>
        <p:spPr>
          <a:xfrm>
            <a:off x="5265051" y="2550196"/>
            <a:ext cx="21755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语法扩展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30ACC4C-8F47-9EDD-B295-3825D332BD8B}"/>
              </a:ext>
            </a:extLst>
          </p:cNvPr>
          <p:cNvSpPr/>
          <p:nvPr/>
        </p:nvSpPr>
        <p:spPr>
          <a:xfrm>
            <a:off x="4712642" y="3193499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6BCC4F5-9D28-D306-6208-950693746C56}"/>
              </a:ext>
            </a:extLst>
          </p:cNvPr>
          <p:cNvSpPr txBox="1"/>
          <p:nvPr/>
        </p:nvSpPr>
        <p:spPr>
          <a:xfrm>
            <a:off x="5265051" y="3237433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向量编程范式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926CA22-F469-3B7B-C69B-DF0BB5A217F8}"/>
              </a:ext>
            </a:extLst>
          </p:cNvPr>
          <p:cNvSpPr/>
          <p:nvPr/>
        </p:nvSpPr>
        <p:spPr>
          <a:xfrm>
            <a:off x="4712642" y="3880736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9904167-F774-061E-6D5F-60FAFEDDE7E6}"/>
              </a:ext>
            </a:extLst>
          </p:cNvPr>
          <p:cNvSpPr txBox="1"/>
          <p:nvPr/>
        </p:nvSpPr>
        <p:spPr>
          <a:xfrm>
            <a:off x="5265051" y="3924670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矩阵编程范式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9F16646-6D4E-3AD6-69FD-334BFC29983B}"/>
              </a:ext>
            </a:extLst>
          </p:cNvPr>
          <p:cNvSpPr/>
          <p:nvPr/>
        </p:nvSpPr>
        <p:spPr>
          <a:xfrm>
            <a:off x="4712642" y="4567973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9250533-F4B9-D8BE-B90E-B9B2A71EAA38}"/>
              </a:ext>
            </a:extLst>
          </p:cNvPr>
          <p:cNvSpPr txBox="1"/>
          <p:nvPr/>
        </p:nvSpPr>
        <p:spPr>
          <a:xfrm>
            <a:off x="5265051" y="4611907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混合编程范式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B873082-C198-0E04-AEF3-89662B602773}"/>
              </a:ext>
            </a:extLst>
          </p:cNvPr>
          <p:cNvSpPr/>
          <p:nvPr/>
        </p:nvSpPr>
        <p:spPr>
          <a:xfrm>
            <a:off x="4712642" y="5255210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7E9207-CF53-91D1-295A-6704C9365BAF}"/>
              </a:ext>
            </a:extLst>
          </p:cNvPr>
          <p:cNvSpPr txBox="1"/>
          <p:nvPr/>
        </p:nvSpPr>
        <p:spPr>
          <a:xfrm>
            <a:off x="5265051" y="5299144"/>
            <a:ext cx="25987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更多</a:t>
            </a: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算子样例</a:t>
            </a:r>
          </a:p>
        </p:txBody>
      </p:sp>
    </p:spTree>
    <p:extLst>
      <p:ext uri="{BB962C8B-B14F-4D97-AF65-F5344CB8AC3E}">
        <p14:creationId xmlns:p14="http://schemas.microsoft.com/office/powerpoint/2010/main" val="3414645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FD9F1-73AA-E301-4534-E231192CA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55898479-C44D-4FFB-B20F-ADCE9F6E17DE}"/>
              </a:ext>
            </a:extLst>
          </p:cNvPr>
          <p:cNvSpPr txBox="1">
            <a:spLocks/>
          </p:cNvSpPr>
          <p:nvPr/>
        </p:nvSpPr>
        <p:spPr>
          <a:xfrm>
            <a:off x="760219" y="411900"/>
            <a:ext cx="1067632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算子采用标准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C++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语法和一组类库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进行编程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8BE90F7-E093-FF78-9578-EB827C216C64}"/>
              </a:ext>
            </a:extLst>
          </p:cNvPr>
          <p:cNvSpPr txBox="1"/>
          <p:nvPr/>
        </p:nvSpPr>
        <p:spPr>
          <a:xfrm>
            <a:off x="1035445" y="1480849"/>
            <a:ext cx="8669746" cy="1559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914034">
              <a:lnSpc>
                <a:spcPct val="140000"/>
              </a:lnSpc>
              <a:buSzPct val="50000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类库基本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</a:p>
          <a:p>
            <a:pPr marL="126000" lvl="1" indent="-126000" defTabSz="914034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计算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API: 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向量计算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，矩阵计算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</a:p>
          <a:p>
            <a:pPr marL="126000" lvl="1" indent="-126000" defTabSz="914034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搬运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：数据搬运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</a:p>
          <a:p>
            <a:pPr marL="126000" lvl="1" indent="-126000" defTabSz="914034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同步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：队列操作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，内存管理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</a:p>
          <a:p>
            <a:pPr defTabSz="914034">
              <a:lnSpc>
                <a:spcPct val="140000"/>
              </a:lnSpc>
              <a:buSzPct val="50000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类库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是类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SIMD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方式，计算操作数都是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类型：</a:t>
            </a:r>
            <a:r>
              <a:rPr lang="en-US" altLang="zh-CN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GlobalTensor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和</a:t>
            </a:r>
            <a:r>
              <a:rPr lang="en-US" altLang="zh-CN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endParaRPr lang="en-US" altLang="zh-CN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16">
            <a:extLst>
              <a:ext uri="{FF2B5EF4-FFF2-40B4-BE49-F238E27FC236}">
                <a16:creationId xmlns:a16="http://schemas.microsoft.com/office/drawing/2014/main" id="{CBEA1355-5985-EF8C-D944-340581012F4C}"/>
              </a:ext>
            </a:extLst>
          </p:cNvPr>
          <p:cNvSpPr txBox="1"/>
          <p:nvPr/>
        </p:nvSpPr>
        <p:spPr>
          <a:xfrm>
            <a:off x="1035445" y="3325798"/>
            <a:ext cx="1179810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rPr lang="zh-CN" alt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向量计算</a:t>
            </a:r>
            <a:r>
              <a:rPr lang="en-US" altLang="zh-CN" sz="12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举例</a:t>
            </a:r>
          </a:p>
        </p:txBody>
      </p:sp>
      <p:sp>
        <p:nvSpPr>
          <p:cNvPr id="4" name="文本框 23">
            <a:extLst>
              <a:ext uri="{FF2B5EF4-FFF2-40B4-BE49-F238E27FC236}">
                <a16:creationId xmlns:a16="http://schemas.microsoft.com/office/drawing/2014/main" id="{91A748D5-4B30-5E4A-E46F-7BF11791A150}"/>
              </a:ext>
            </a:extLst>
          </p:cNvPr>
          <p:cNvSpPr txBox="1"/>
          <p:nvPr/>
        </p:nvSpPr>
        <p:spPr>
          <a:xfrm>
            <a:off x="6306600" y="3325798"/>
            <a:ext cx="1179810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rPr lang="zh-CN" alt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数据搬运</a:t>
            </a:r>
            <a:r>
              <a:rPr lang="en-US" altLang="zh-CN" sz="12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举例</a:t>
            </a:r>
          </a:p>
        </p:txBody>
      </p:sp>
      <p:sp>
        <p:nvSpPr>
          <p:cNvPr id="5" name="文本框 18">
            <a:extLst>
              <a:ext uri="{FF2B5EF4-FFF2-40B4-BE49-F238E27FC236}">
                <a16:creationId xmlns:a16="http://schemas.microsoft.com/office/drawing/2014/main" id="{CC969B0F-72FE-6CCC-F1CC-D774370C15DF}"/>
              </a:ext>
            </a:extLst>
          </p:cNvPr>
          <p:cNvSpPr txBox="1"/>
          <p:nvPr/>
        </p:nvSpPr>
        <p:spPr>
          <a:xfrm>
            <a:off x="1035445" y="4809919"/>
            <a:ext cx="1179810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rPr lang="zh-CN" alt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矩阵计算</a:t>
            </a:r>
            <a:r>
              <a:rPr lang="en-US" altLang="zh-CN" sz="12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举例</a:t>
            </a:r>
          </a:p>
        </p:txBody>
      </p:sp>
      <p:sp>
        <p:nvSpPr>
          <p:cNvPr id="6" name="文本框 24">
            <a:extLst>
              <a:ext uri="{FF2B5EF4-FFF2-40B4-BE49-F238E27FC236}">
                <a16:creationId xmlns:a16="http://schemas.microsoft.com/office/drawing/2014/main" id="{3C0DEF43-50E5-51B7-197F-E81A8AE8AAB8}"/>
              </a:ext>
            </a:extLst>
          </p:cNvPr>
          <p:cNvSpPr txBox="1"/>
          <p:nvPr/>
        </p:nvSpPr>
        <p:spPr>
          <a:xfrm>
            <a:off x="6306600" y="4807985"/>
            <a:ext cx="164147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rPr lang="zh-CN" alt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队列和内存操作</a:t>
            </a:r>
            <a:r>
              <a:rPr lang="en-US" altLang="zh-CN" sz="12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2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举例</a:t>
            </a:r>
          </a:p>
        </p:txBody>
      </p:sp>
      <p:pic>
        <p:nvPicPr>
          <p:cNvPr id="7" name="图片 20" descr="图片 20">
            <a:extLst>
              <a:ext uri="{FF2B5EF4-FFF2-40B4-BE49-F238E27FC236}">
                <a16:creationId xmlns:a16="http://schemas.microsoft.com/office/drawing/2014/main" id="{FD873E58-0E58-4FE4-C48C-3C0225562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445" y="3635570"/>
            <a:ext cx="4762761" cy="26981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图片 21" descr="图片 21">
            <a:extLst>
              <a:ext uri="{FF2B5EF4-FFF2-40B4-BE49-F238E27FC236}">
                <a16:creationId xmlns:a16="http://schemas.microsoft.com/office/drawing/2014/main" id="{6A0B5E8E-82F2-F530-FB53-896DCAA928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62" b="9864"/>
          <a:stretch>
            <a:fillRect/>
          </a:stretch>
        </p:blipFill>
        <p:spPr>
          <a:xfrm>
            <a:off x="1035445" y="4001324"/>
            <a:ext cx="4762761" cy="266570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图片 22" descr="图片 22">
            <a:extLst>
              <a:ext uri="{FF2B5EF4-FFF2-40B4-BE49-F238E27FC236}">
                <a16:creationId xmlns:a16="http://schemas.microsoft.com/office/drawing/2014/main" id="{A9C3077F-8D19-58CD-319A-611132DDB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600" y="3635570"/>
            <a:ext cx="4854022" cy="6323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图片 25" descr="图片 25">
            <a:extLst>
              <a:ext uri="{FF2B5EF4-FFF2-40B4-BE49-F238E27FC236}">
                <a16:creationId xmlns:a16="http://schemas.microsoft.com/office/drawing/2014/main" id="{4AD4323A-5E82-709E-177F-56874A123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445" y="5089806"/>
            <a:ext cx="4762761" cy="856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片 26" descr="图片 26">
            <a:extLst>
              <a:ext uri="{FF2B5EF4-FFF2-40B4-BE49-F238E27FC236}">
                <a16:creationId xmlns:a16="http://schemas.microsoft.com/office/drawing/2014/main" id="{1698DDDE-CEBB-D232-1FD7-FD29F4E40B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6600" y="5089806"/>
            <a:ext cx="4854717" cy="3680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片 27" descr="图片 27">
            <a:extLst>
              <a:ext uri="{FF2B5EF4-FFF2-40B4-BE49-F238E27FC236}">
                <a16:creationId xmlns:a16="http://schemas.microsoft.com/office/drawing/2014/main" id="{D0E5A8E2-B997-88BA-096C-61853F3E02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6600" y="5520728"/>
            <a:ext cx="4854717" cy="42570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3020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AC289-483B-E445-8205-E06950D4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7FEC06EE-7361-4293-31AE-C503AE558C2F}"/>
              </a:ext>
            </a:extLst>
          </p:cNvPr>
          <p:cNvSpPr txBox="1">
            <a:spLocks/>
          </p:cNvSpPr>
          <p:nvPr/>
        </p:nvSpPr>
        <p:spPr>
          <a:xfrm>
            <a:off x="4827038" y="411900"/>
            <a:ext cx="2542684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多级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B2A29D3B-3F80-64FF-3347-89876927EBFF}"/>
              </a:ext>
            </a:extLst>
          </p:cNvPr>
          <p:cNvSpPr txBox="1">
            <a:spLocks/>
          </p:cNvSpPr>
          <p:nvPr/>
        </p:nvSpPr>
        <p:spPr>
          <a:xfrm>
            <a:off x="1002799" y="1354110"/>
            <a:ext cx="10191165" cy="482683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40663">
              <a:lnSpc>
                <a:spcPct val="130000"/>
              </a:lnSpc>
              <a:spcBef>
                <a:spcPts val="0"/>
              </a:spcBef>
              <a:buNone/>
              <a:defRPr sz="1800"/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为了降低开发者的使用门槛，分为了基础</a:t>
            </a:r>
            <a:r>
              <a:rPr lang="en-US" altLang="zh-CN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和高阶</a:t>
            </a:r>
            <a:r>
              <a:rPr lang="en-US" altLang="zh-CN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，其中基础</a:t>
            </a:r>
            <a:r>
              <a:rPr lang="en-US" altLang="zh-CN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对于数据的处理更偏向底层，而高阶</a:t>
            </a:r>
            <a:r>
              <a:rPr lang="en-US" altLang="zh-CN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功能性更强，封装更好。</a:t>
            </a:r>
          </a:p>
          <a:p>
            <a:pPr marL="0" indent="0" defTabSz="740663">
              <a:lnSpc>
                <a:spcPct val="130000"/>
              </a:lnSpc>
              <a:spcBef>
                <a:spcPts val="0"/>
              </a:spcBef>
              <a:buNone/>
              <a:defRPr sz="1800"/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多层级</a:t>
            </a:r>
            <a:r>
              <a:rPr 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封装的作用：</a:t>
            </a:r>
          </a:p>
          <a:p>
            <a:pPr marL="252000" lvl="1" indent="-126000" defTabSz="740663">
              <a:lnSpc>
                <a:spcPct val="130000"/>
              </a:lnSpc>
              <a:spcBef>
                <a:spcPts val="0"/>
              </a:spcBef>
              <a:defRPr sz="1800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降低复杂指令的使用难度</a:t>
            </a:r>
          </a:p>
          <a:p>
            <a:pPr marL="252000" lvl="1" indent="-126000" defTabSz="740663">
              <a:lnSpc>
                <a:spcPct val="130000"/>
              </a:lnSpc>
              <a:spcBef>
                <a:spcPts val="0"/>
              </a:spcBef>
              <a:defRPr sz="1800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跨代兼容性保障</a:t>
            </a:r>
          </a:p>
          <a:p>
            <a:pPr marL="252000" lvl="1" indent="-126000" defTabSz="740663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sz="1800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保留最大灵活度的可能</a:t>
            </a:r>
          </a:p>
          <a:p>
            <a:pPr marL="126000" indent="-126000" defTabSz="822959">
              <a:lnSpc>
                <a:spcPct val="130000"/>
              </a:lnSpc>
              <a:spcBef>
                <a:spcPts val="0"/>
              </a:spcBef>
              <a:buSzPct val="100000"/>
              <a:defRPr sz="1079" b="0">
                <a:solidFill>
                  <a:srgbClr val="000000"/>
                </a:solidFill>
                <a:latin typeface="+mn-lt"/>
                <a:ea typeface="+mn-ea"/>
                <a:cs typeface="+mn-cs"/>
                <a:sym typeface="Huawei Sans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单目指令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操作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：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Exp、Ln、Abs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Reciprocal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Sqrt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Rsqrt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Not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Relu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Sigmoid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Tanh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… </a:t>
            </a:r>
          </a:p>
          <a:p>
            <a:pPr marL="126000" indent="-126000" defTabSz="822959">
              <a:lnSpc>
                <a:spcPct val="130000"/>
              </a:lnSpc>
              <a:spcBef>
                <a:spcPts val="0"/>
              </a:spcBef>
              <a:buSzPct val="100000"/>
              <a:defRPr sz="1079" b="0">
                <a:solidFill>
                  <a:srgbClr val="000000"/>
                </a:solidFill>
                <a:latin typeface="+mn-lt"/>
                <a:ea typeface="+mn-ea"/>
                <a:cs typeface="+mn-cs"/>
                <a:sym typeface="Huawei Sans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双目指令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操作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：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Add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Sub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Mul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Div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Max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Min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And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Or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…</a:t>
            </a:r>
          </a:p>
          <a:p>
            <a:pPr marL="126000" indent="-126000" defTabSz="822959">
              <a:lnSpc>
                <a:spcPct val="130000"/>
              </a:lnSpc>
              <a:spcBef>
                <a:spcPts val="0"/>
              </a:spcBef>
              <a:buSzPct val="100000"/>
              <a:defRPr sz="1079" b="0">
                <a:solidFill>
                  <a:srgbClr val="000000"/>
                </a:solidFill>
                <a:latin typeface="+mn-lt"/>
                <a:ea typeface="+mn-ea"/>
                <a:cs typeface="+mn-cs"/>
                <a:sym typeface="Huawei Sans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标量双目指令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操作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：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Adds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Muls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Maxs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Mins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ShiftLeft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ShiftRight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LeakyRelu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…</a:t>
            </a:r>
          </a:p>
          <a:p>
            <a:pPr marL="126000" indent="-126000" defTabSz="822959">
              <a:lnSpc>
                <a:spcPct val="130000"/>
              </a:lnSpc>
              <a:spcBef>
                <a:spcPts val="0"/>
              </a:spcBef>
              <a:buSzPct val="100000"/>
              <a:defRPr sz="1079" b="0">
                <a:solidFill>
                  <a:srgbClr val="000000"/>
                </a:solidFill>
                <a:latin typeface="+mn-lt"/>
                <a:ea typeface="+mn-ea"/>
                <a:cs typeface="+mn-cs"/>
                <a:sym typeface="Huawei Sans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标量三目指令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操作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：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Axpy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…</a:t>
            </a:r>
          </a:p>
          <a:p>
            <a:pPr marL="126000" indent="-126000" defTabSz="822959">
              <a:lnSpc>
                <a:spcPct val="130000"/>
              </a:lnSpc>
              <a:spcBef>
                <a:spcPts val="0"/>
              </a:spcBef>
              <a:buSzPct val="100000"/>
              <a:defRPr sz="1079" b="0">
                <a:solidFill>
                  <a:srgbClr val="000000"/>
                </a:solidFill>
                <a:latin typeface="+mn-lt"/>
                <a:ea typeface="+mn-ea"/>
                <a:cs typeface="+mn-cs"/>
                <a:sym typeface="Huawei Sans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比较指令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操作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：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Compare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…</a:t>
            </a:r>
          </a:p>
          <a:p>
            <a:pPr marL="126000" indent="-126000" defTabSz="822959">
              <a:lnSpc>
                <a:spcPct val="130000"/>
              </a:lnSpc>
              <a:spcBef>
                <a:spcPts val="0"/>
              </a:spcBef>
              <a:buSzPct val="100000"/>
              <a:defRPr sz="1079" b="0">
                <a:solidFill>
                  <a:srgbClr val="000000"/>
                </a:solidFill>
                <a:latin typeface="+mn-lt"/>
                <a:ea typeface="+mn-ea"/>
                <a:cs typeface="+mn-cs"/>
                <a:sym typeface="Huawei Sans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选择指令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操作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：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Select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ReduceV2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…</a:t>
            </a:r>
          </a:p>
          <a:p>
            <a:pPr marL="126000" indent="-126000" defTabSz="822959">
              <a:lnSpc>
                <a:spcPct val="130000"/>
              </a:lnSpc>
              <a:spcBef>
                <a:spcPts val="0"/>
              </a:spcBef>
              <a:buSzPct val="100000"/>
              <a:defRPr sz="1079" b="0">
                <a:solidFill>
                  <a:srgbClr val="000000"/>
                </a:solidFill>
                <a:latin typeface="+mn-lt"/>
                <a:ea typeface="+mn-ea"/>
                <a:cs typeface="+mn-cs"/>
                <a:sym typeface="Huawei Sans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精度转换指令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操作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：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Cast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…</a:t>
            </a:r>
          </a:p>
          <a:p>
            <a:pPr marL="126000" indent="-126000" defTabSz="822959">
              <a:lnSpc>
                <a:spcPct val="130000"/>
              </a:lnSpc>
              <a:spcBef>
                <a:spcPts val="0"/>
              </a:spcBef>
              <a:buSzPct val="100000"/>
              <a:defRPr sz="1079" b="0">
                <a:solidFill>
                  <a:srgbClr val="000000"/>
                </a:solidFill>
                <a:latin typeface="+mn-lt"/>
                <a:ea typeface="+mn-ea"/>
                <a:cs typeface="+mn-cs"/>
                <a:sym typeface="Huawei Sans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规约指令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操作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：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ReduceMax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ReduceMin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ReduceSum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…</a:t>
            </a:r>
          </a:p>
          <a:p>
            <a:pPr marL="126000" indent="-126000" defTabSz="822959">
              <a:lnSpc>
                <a:spcPct val="130000"/>
              </a:lnSpc>
              <a:spcBef>
                <a:spcPts val="0"/>
              </a:spcBef>
              <a:buSzPct val="100000"/>
              <a:defRPr sz="1079" b="0">
                <a:solidFill>
                  <a:srgbClr val="000000"/>
                </a:solidFill>
                <a:latin typeface="+mn-lt"/>
                <a:ea typeface="+mn-ea"/>
                <a:cs typeface="+mn-cs"/>
                <a:sym typeface="Huawei Sans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特殊规约指令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操作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：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WholeReduce、BlockReduce、PairReduce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…</a:t>
            </a:r>
          </a:p>
          <a:p>
            <a:pPr marL="126000" indent="-126000" defTabSz="822959">
              <a:lnSpc>
                <a:spcPct val="130000"/>
              </a:lnSpc>
              <a:spcBef>
                <a:spcPts val="0"/>
              </a:spcBef>
              <a:buSzPct val="100000"/>
              <a:defRPr sz="1079" b="0">
                <a:solidFill>
                  <a:srgbClr val="000000"/>
                </a:solidFill>
                <a:latin typeface="+mn-lt"/>
                <a:ea typeface="+mn-ea"/>
                <a:cs typeface="+mn-cs"/>
                <a:sym typeface="Huawei Sans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数据转换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操作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：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Transpose、TransDataTo5HD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…</a:t>
            </a:r>
          </a:p>
          <a:p>
            <a:pPr marL="126000" indent="-126000" defTabSz="822959">
              <a:lnSpc>
                <a:spcPct val="130000"/>
              </a:lnSpc>
              <a:spcBef>
                <a:spcPts val="0"/>
              </a:spcBef>
              <a:buSzPct val="100000"/>
              <a:defRPr sz="1079" b="0">
                <a:solidFill>
                  <a:srgbClr val="000000"/>
                </a:solidFill>
                <a:latin typeface="+mn-lt"/>
                <a:ea typeface="+mn-ea"/>
                <a:cs typeface="+mn-cs"/>
                <a:sym typeface="Huawei Sans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数据填充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操作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：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Duplicate、Brcb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…</a:t>
            </a:r>
          </a:p>
          <a:p>
            <a:pPr marL="126000" indent="-126000" defTabSz="822959">
              <a:lnSpc>
                <a:spcPct val="130000"/>
              </a:lnSpc>
              <a:spcBef>
                <a:spcPts val="0"/>
              </a:spcBef>
              <a:buSzPct val="100000"/>
              <a:defRPr sz="1079" b="0">
                <a:solidFill>
                  <a:srgbClr val="000000"/>
                </a:solidFill>
                <a:latin typeface="+mn-lt"/>
                <a:ea typeface="+mn-ea"/>
                <a:cs typeface="+mn-cs"/>
                <a:sym typeface="Huawei Sans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数据搬移操作：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DataCopy、Copy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、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8336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F714-84B6-6FBD-5BC9-9C21482A9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564EDAB4-2A4D-0C8E-1904-F2B4EB80FCE1}"/>
              </a:ext>
            </a:extLst>
          </p:cNvPr>
          <p:cNvSpPr txBox="1">
            <a:spLocks/>
          </p:cNvSpPr>
          <p:nvPr/>
        </p:nvSpPr>
        <p:spPr>
          <a:xfrm>
            <a:off x="4827038" y="411900"/>
            <a:ext cx="2542684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多级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2D447FD-12EF-110D-346D-E398C66C7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056" y="1125538"/>
            <a:ext cx="5944650" cy="516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30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9D6D9-65D8-603A-779E-36394CCCD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C343E11C-F873-51DB-6F10-6E4B3CFC873C}"/>
              </a:ext>
            </a:extLst>
          </p:cNvPr>
          <p:cNvSpPr txBox="1">
            <a:spLocks/>
          </p:cNvSpPr>
          <p:nvPr/>
        </p:nvSpPr>
        <p:spPr>
          <a:xfrm>
            <a:off x="4263582" y="411900"/>
            <a:ext cx="366959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基础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与高阶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endParaRPr lang="zh-CN" altLang="en-US" sz="3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C6C5CC0-B8A3-6DFB-70B0-B6A7014F0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323" y="1357723"/>
            <a:ext cx="7092116" cy="464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9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660A9-82B7-721D-CB77-E585A2855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1AABAB32-520B-AF34-C5B1-124187F2CD3B}"/>
              </a:ext>
            </a:extLst>
          </p:cNvPr>
          <p:cNvSpPr txBox="1">
            <a:spLocks/>
          </p:cNvSpPr>
          <p:nvPr/>
        </p:nvSpPr>
        <p:spPr>
          <a:xfrm>
            <a:off x="3801116" y="411900"/>
            <a:ext cx="459452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高阶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简化实现矩阵乘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4B2E33-32CB-EB30-D4A2-AB8DC56EB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02" y="1192328"/>
            <a:ext cx="6424959" cy="491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61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04979-DE53-A43F-2F53-B7A5A8B54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47716E20-7F15-DA64-836C-1E83C3AFF3F2}"/>
              </a:ext>
            </a:extLst>
          </p:cNvPr>
          <p:cNvSpPr txBox="1">
            <a:spLocks/>
          </p:cNvSpPr>
          <p:nvPr/>
        </p:nvSpPr>
        <p:spPr>
          <a:xfrm>
            <a:off x="3219418" y="411900"/>
            <a:ext cx="5757923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常用数据定义：</a:t>
            </a: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GlobalTensor</a:t>
            </a:r>
            <a:endParaRPr lang="zh-CN" altLang="en-US" sz="3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矩形 5">
            <a:extLst>
              <a:ext uri="{FF2B5EF4-FFF2-40B4-BE49-F238E27FC236}">
                <a16:creationId xmlns:a16="http://schemas.microsoft.com/office/drawing/2014/main" id="{D5F2EC40-DC41-C79C-C211-6493DDB4C9AC}"/>
              </a:ext>
            </a:extLst>
          </p:cNvPr>
          <p:cNvSpPr txBox="1"/>
          <p:nvPr/>
        </p:nvSpPr>
        <p:spPr>
          <a:xfrm>
            <a:off x="3502126" y="1062732"/>
            <a:ext cx="5192510" cy="1935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150000"/>
              </a:lnSpc>
              <a:defRPr>
                <a:solidFill>
                  <a:srgbClr val="0432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GlobalTensor</a:t>
            </a:r>
            <a:r>
              <a:rPr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用来存放Global</a:t>
            </a:r>
            <a:r>
              <a:rPr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 Memory（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全局内存</a:t>
            </a:r>
            <a:r>
              <a:rPr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）</a:t>
            </a:r>
            <a:r>
              <a:rPr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的全局数据</a:t>
            </a:r>
            <a:endParaRPr sz="12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rPr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定义原型</a:t>
            </a:r>
            <a:endParaRPr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template &lt;</a:t>
            </a:r>
            <a:r>
              <a:rPr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T&gt; class </a:t>
            </a:r>
            <a:r>
              <a:rPr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GlobalTensor</a:t>
            </a:r>
            <a:r>
              <a:rPr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  <a:endParaRPr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5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//  </a:t>
            </a:r>
            <a:r>
              <a:rPr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传入全局数据的指针，并手动设置一个buffer</a:t>
            </a:r>
            <a:r>
              <a:rPr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 </a:t>
            </a:r>
            <a:r>
              <a:rPr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size，初始化GlobalTensor</a:t>
            </a:r>
            <a:endParaRPr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5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void </a:t>
            </a:r>
            <a:r>
              <a:rPr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SetGlobalBuffer</a:t>
            </a:r>
            <a:r>
              <a:rPr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(__gm__ T* buffer, uint32_t </a:t>
            </a:r>
            <a:r>
              <a:rPr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bufferSize</a:t>
            </a:r>
            <a:r>
              <a:rPr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5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1255D10-AD64-82D5-2A63-A545DC8C83FB}"/>
              </a:ext>
            </a:extLst>
          </p:cNvPr>
          <p:cNvSpPr/>
          <p:nvPr/>
        </p:nvSpPr>
        <p:spPr>
          <a:xfrm>
            <a:off x="2461346" y="3936601"/>
            <a:ext cx="7274070" cy="237212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ctr">
            <a:sp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dirty="0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__gm__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uint8_t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dirty="0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__restrict__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src_gm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dirty="0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__gm__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uint8_t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dirty="0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__restrict__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dst_gm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50000"/>
              </a:lnSpc>
              <a:defRPr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50000"/>
              </a:lnSpc>
              <a:defRPr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dataSize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1000" dirty="0">
                <a:solidFill>
                  <a:srgbClr val="B5CEA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256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//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设置</a:t>
            </a:r>
            <a:r>
              <a:rPr lang="en-US" altLang="zh-CN" sz="1000" dirty="0" err="1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input_global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的大小为</a:t>
            </a:r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256</a:t>
            </a:r>
          </a:p>
          <a:p>
            <a:pPr>
              <a:lnSpc>
                <a:spcPct val="150000"/>
              </a:lnSpc>
              <a:defRPr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GlobalTensor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int32_t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inputGlobal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// 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类型为</a:t>
            </a:r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int32_t</a:t>
            </a:r>
          </a:p>
          <a:p>
            <a:pPr>
              <a:lnSpc>
                <a:spcPct val="150000"/>
              </a:lnSpc>
              <a:defRPr sz="11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// 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设置源操作数在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Memmory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上的起始地址为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src_gm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，所占外部存储的大小为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256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个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int32_t</a:t>
            </a:r>
            <a:endParaRPr lang="en-US" altLang="zh-CN" sz="1000" dirty="0">
              <a:solidFill>
                <a:srgbClr val="D4D4D4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inputGlobal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b="1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SetGlobalBuffer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dirty="0" err="1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reinterpret_cast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&lt;__gm__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int32_t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*&gt;(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src_gm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),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dataSize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50000"/>
              </a:lnSpc>
              <a:defRPr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int32_t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inputLocal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inQueueX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AllocTensor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int32_t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&gt;(); 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50000"/>
              </a:lnSpc>
              <a:defRPr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DataCopy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inoutLocal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inputGlobal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dataSize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// 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将</a:t>
            </a:r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 </a:t>
            </a:r>
            <a:r>
              <a:rPr lang="en-US" altLang="zh-CN" sz="1000" dirty="0" err="1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Memmory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上的</a:t>
            </a:r>
            <a:r>
              <a:rPr lang="en-US" altLang="zh-CN" sz="1000" dirty="0" err="1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inputGlobal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拷贝到</a:t>
            </a:r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 </a:t>
            </a:r>
            <a:r>
              <a:rPr lang="en-US" altLang="zh-CN" sz="1000" dirty="0" err="1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Memmory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的</a:t>
            </a:r>
            <a:r>
              <a:rPr lang="en-US" altLang="zh-CN" sz="1000" dirty="0" err="1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inputLocal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上</a:t>
            </a:r>
          </a:p>
          <a:p>
            <a:pPr>
              <a:lnSpc>
                <a:spcPct val="150000"/>
              </a:lnSpc>
              <a:defRPr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...</a:t>
            </a:r>
            <a:endParaRPr lang="zh-CN" altLang="en-US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50000"/>
              </a:lnSpc>
              <a:defRPr sz="11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2B65963-6620-8BB0-9C69-60B668799AB8}"/>
              </a:ext>
            </a:extLst>
          </p:cNvPr>
          <p:cNvGrpSpPr/>
          <p:nvPr/>
        </p:nvGrpSpPr>
        <p:grpSpPr>
          <a:xfrm>
            <a:off x="3397366" y="2841367"/>
            <a:ext cx="1938991" cy="975323"/>
            <a:chOff x="2894519" y="2918533"/>
            <a:chExt cx="1938991" cy="975323"/>
          </a:xfrm>
        </p:grpSpPr>
        <p:sp>
          <p:nvSpPr>
            <p:cNvPr id="5" name="矩形 8">
              <a:extLst>
                <a:ext uri="{FF2B5EF4-FFF2-40B4-BE49-F238E27FC236}">
                  <a16:creationId xmlns:a16="http://schemas.microsoft.com/office/drawing/2014/main" id="{C638AD96-8305-02DE-29BC-6A8429860F76}"/>
                </a:ext>
              </a:extLst>
            </p:cNvPr>
            <p:cNvSpPr txBox="1"/>
            <p:nvPr/>
          </p:nvSpPr>
          <p:spPr>
            <a:xfrm>
              <a:off x="2894519" y="3280483"/>
              <a:ext cx="1938991" cy="61337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rIns="45719">
              <a:spAutoFit/>
            </a:bodyPr>
            <a:lstStyle/>
            <a:p>
              <a:pPr algn="ctr">
                <a:lnSpc>
                  <a:spcPct val="150000"/>
                </a:lnSpc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r>
                <a:rPr sz="12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主机侧传入的全局数据指针</a:t>
              </a:r>
              <a:endParaRPr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ctr">
                <a:lnSpc>
                  <a:spcPct val="150000"/>
                </a:lnSpc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r>
                <a:rPr sz="12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指向</a:t>
              </a:r>
              <a:r>
                <a:rPr lang="zh-CN" altLang="en-US" sz="12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全局内存</a:t>
              </a:r>
              <a:r>
                <a:rPr sz="12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的起始地址</a:t>
              </a:r>
              <a:endParaRPr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B9ABB880-1D83-7532-4AAC-6B4AC5FF5D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4014" y="2918533"/>
              <a:ext cx="0" cy="361950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23CA60C-0E25-5B70-8400-E8BE9C6077D0}"/>
              </a:ext>
            </a:extLst>
          </p:cNvPr>
          <p:cNvGrpSpPr/>
          <p:nvPr/>
        </p:nvGrpSpPr>
        <p:grpSpPr>
          <a:xfrm>
            <a:off x="5637156" y="2841367"/>
            <a:ext cx="3162240" cy="975323"/>
            <a:chOff x="5225415" y="2918533"/>
            <a:chExt cx="3162240" cy="975323"/>
          </a:xfrm>
        </p:grpSpPr>
        <p:sp>
          <p:nvSpPr>
            <p:cNvPr id="6" name="矩形 9">
              <a:extLst>
                <a:ext uri="{FF2B5EF4-FFF2-40B4-BE49-F238E27FC236}">
                  <a16:creationId xmlns:a16="http://schemas.microsoft.com/office/drawing/2014/main" id="{2B29616F-2B94-E8E6-980C-E53808DEA910}"/>
                </a:ext>
              </a:extLst>
            </p:cNvPr>
            <p:cNvSpPr txBox="1"/>
            <p:nvPr/>
          </p:nvSpPr>
          <p:spPr>
            <a:xfrm>
              <a:off x="5225415" y="3280483"/>
              <a:ext cx="3162240" cy="61337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/>
            <a:p>
              <a:pPr algn="ctr">
                <a:lnSpc>
                  <a:spcPct val="150000"/>
                </a:lnSpc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r>
                <a:rPr sz="12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设置GlobalTensor所包含的类型为T的数据个数，需自行保证不会超出实际数据的长度</a:t>
              </a:r>
              <a:endParaRPr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21EF5F10-CE31-B3F3-E226-32874FF6EB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6535" y="2918533"/>
              <a:ext cx="0" cy="361950"/>
            </a:xfrm>
            <a:prstGeom prst="straightConnector1">
              <a:avLst/>
            </a:prstGeom>
            <a:ln w="6350">
              <a:solidFill>
                <a:srgbClr val="C0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5318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D80C-9C61-E01A-7155-BBFC0B51D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7F6A3470-261C-D2F0-80AF-C1ABC2485A0A}"/>
              </a:ext>
            </a:extLst>
          </p:cNvPr>
          <p:cNvSpPr txBox="1">
            <a:spLocks/>
          </p:cNvSpPr>
          <p:nvPr/>
        </p:nvSpPr>
        <p:spPr>
          <a:xfrm>
            <a:off x="3354071" y="411900"/>
            <a:ext cx="548861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常用数据定义：</a:t>
            </a: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endParaRPr lang="zh-CN" altLang="en-US" sz="3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矩形 4">
            <a:extLst>
              <a:ext uri="{FF2B5EF4-FFF2-40B4-BE49-F238E27FC236}">
                <a16:creationId xmlns:a16="http://schemas.microsoft.com/office/drawing/2014/main" id="{90B6F8D6-EFCE-929A-D729-A17B92944435}"/>
              </a:ext>
            </a:extLst>
          </p:cNvPr>
          <p:cNvSpPr txBox="1"/>
          <p:nvPr/>
        </p:nvSpPr>
        <p:spPr>
          <a:xfrm>
            <a:off x="590550" y="1156555"/>
            <a:ext cx="5902511" cy="509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20000"/>
              </a:lnSpc>
              <a:defRPr>
                <a:solidFill>
                  <a:srgbClr val="0432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用于存放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AI Core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中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Local Memory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（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本地内存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）的数据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定义原型</a:t>
            </a: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template &lt;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T&gt; class 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获取 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中的某个值，返回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类型的立即数</a:t>
            </a: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 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GetValue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(const uint32_t offset) const; 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设置 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中的某个值，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offset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单位为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element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template &lt;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T1&gt; void 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SetValue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(const uint32_t offset, const T1 value) const;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获取距原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起始地址偏移量为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offset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的新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注意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offset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不能超过原有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的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size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大小，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offset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单位为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element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operator[]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(const uint32_t offset) const;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获取当前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size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大小</a:t>
            </a: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 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GetSize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const; 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开发者自定义设置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Tag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信息</a:t>
            </a: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 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SetUserTag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(const 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TTagType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tag);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获取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Tag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信息</a:t>
            </a: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TTagType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GetUserTag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 )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const;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lnSpc>
                <a:spcPct val="120000"/>
              </a:lnSpc>
              <a:defRPr sz="1200"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F1FAE4A-34D6-2F28-30DF-8704DFD3853D}"/>
              </a:ext>
            </a:extLst>
          </p:cNvPr>
          <p:cNvGrpSpPr/>
          <p:nvPr/>
        </p:nvGrpSpPr>
        <p:grpSpPr>
          <a:xfrm>
            <a:off x="6209048" y="1334035"/>
            <a:ext cx="5397165" cy="4843415"/>
            <a:chOff x="5213685" y="1334035"/>
            <a:chExt cx="5397165" cy="4843415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2BD4FAB9-4D07-81D6-5FB4-F5965CA4EACA}"/>
                </a:ext>
              </a:extLst>
            </p:cNvPr>
            <p:cNvSpPr/>
            <p:nvPr/>
          </p:nvSpPr>
          <p:spPr>
            <a:xfrm>
              <a:off x="6762750" y="1334035"/>
              <a:ext cx="3848100" cy="2371483"/>
            </a:xfrm>
            <a:prstGeom prst="rect">
              <a:avLst/>
            </a:prstGeom>
            <a:solidFill>
              <a:srgbClr val="000000"/>
            </a:solidFill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2000" rIns="72000" anchor="ctr">
              <a:spAutoFit/>
            </a:bodyPr>
            <a:lstStyle/>
            <a:p>
              <a:pPr>
                <a:lnSpc>
                  <a:spcPct val="150000"/>
                </a:lnSpc>
                <a:defRPr sz="11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input_local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针对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int32_t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类型的数据</a:t>
              </a:r>
              <a:endParaRPr lang="zh-CN" altLang="en-US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  <a:defRPr sz="11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示例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：对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input_local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中第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个位置进行赋值为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100</a:t>
              </a:r>
              <a:endParaRPr lang="zh-CN" altLang="en-US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  <a:defRPr sz="11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for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(</a:t>
              </a:r>
              <a:r>
                <a:rPr lang="en-US" altLang="zh-CN" sz="1000" dirty="0">
                  <a:solidFill>
                    <a:srgbClr val="569CD6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int32_t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dirty="0" err="1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= </a:t>
              </a:r>
              <a:r>
                <a:rPr lang="en-US" altLang="zh-CN" sz="1000" dirty="0">
                  <a:solidFill>
                    <a:srgbClr val="B5CEA8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; </a:t>
              </a:r>
              <a:r>
                <a:rPr lang="en-US" altLang="zh-CN" sz="1000" dirty="0" err="1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&lt; </a:t>
              </a:r>
              <a:r>
                <a:rPr lang="en-US" altLang="zh-CN" sz="1000" dirty="0">
                  <a:solidFill>
                    <a:srgbClr val="B5CEA8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256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; ++</a:t>
              </a:r>
              <a:r>
                <a:rPr lang="en-US" altLang="zh-CN" sz="1000" dirty="0" err="1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 {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>
                <a:lnSpc>
                  <a:spcPct val="150000"/>
                </a:lnSpc>
                <a:defRPr sz="11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 </a:t>
              </a:r>
              <a:r>
                <a:rPr lang="en-US" altLang="zh-CN" sz="1000" dirty="0" err="1">
                  <a:solidFill>
                    <a:srgbClr val="9CDCF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input_local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.</a:t>
              </a:r>
              <a:r>
                <a:rPr lang="en-US" altLang="zh-CN" sz="1000" b="1" dirty="0" err="1">
                  <a:solidFill>
                    <a:srgbClr val="DCDCAA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SetValue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, </a:t>
              </a:r>
              <a:r>
                <a:rPr lang="en-US" altLang="zh-CN" sz="1000" dirty="0">
                  <a:solidFill>
                    <a:srgbClr val="B5CEA8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100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);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>
                <a:lnSpc>
                  <a:spcPct val="150000"/>
                </a:lnSpc>
                <a:defRPr sz="11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}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>
                <a:lnSpc>
                  <a:spcPct val="150000"/>
                </a:lnSpc>
                <a:defRPr sz="11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结果：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input_local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为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256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个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100 [100 100 100 ... 100]</a:t>
              </a:r>
              <a:endParaRPr lang="zh-CN" altLang="en-US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  <a:defRPr sz="11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b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</a:br>
              <a:r>
                <a:rPr lang="en-US" altLang="zh-CN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</a:t>
              </a:r>
              <a:r>
                <a:rPr lang="zh-CN" altLang="en-US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示例</a:t>
              </a:r>
              <a:r>
                <a:rPr lang="en-US" altLang="zh-CN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  <a:r>
                <a:rPr lang="zh-CN" altLang="en-US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：获取</a:t>
              </a:r>
              <a:r>
                <a:rPr lang="en-US" altLang="zh-CN" sz="1000" dirty="0" err="1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input_local</a:t>
              </a:r>
              <a:r>
                <a:rPr lang="zh-CN" altLang="en-US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中第</a:t>
              </a:r>
              <a:r>
                <a:rPr lang="en-US" altLang="zh-CN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19</a:t>
              </a:r>
              <a:r>
                <a:rPr lang="zh-CN" altLang="en-US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个位置的数值</a:t>
              </a:r>
            </a:p>
            <a:p>
              <a:pPr>
                <a:lnSpc>
                  <a:spcPct val="150000"/>
                </a:lnSpc>
                <a:defRPr sz="110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auto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element = </a:t>
              </a:r>
              <a:r>
                <a:rPr lang="en-US" altLang="zh-CN" sz="1000" dirty="0" err="1">
                  <a:solidFill>
                    <a:srgbClr val="9CDCF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input_local</a:t>
              </a:r>
              <a:r>
                <a:rPr lang="en-US" altLang="zh-CN" sz="1000" dirty="0" err="1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.</a:t>
              </a:r>
              <a:r>
                <a:rPr lang="en-US" altLang="zh-CN" sz="1000" b="1" dirty="0" err="1">
                  <a:solidFill>
                    <a:srgbClr val="DCDCAA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GetValue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lang="en-US" altLang="zh-CN" sz="1000" dirty="0">
                  <a:solidFill>
                    <a:srgbClr val="B5CEA8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19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);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>
                <a:lnSpc>
                  <a:spcPct val="150000"/>
                </a:lnSpc>
                <a:defRPr sz="11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结果：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element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为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100</a:t>
              </a:r>
            </a:p>
          </p:txBody>
        </p:sp>
        <p:sp>
          <p:nvSpPr>
            <p:cNvPr id="4" name="矩形 8">
              <a:extLst>
                <a:ext uri="{FF2B5EF4-FFF2-40B4-BE49-F238E27FC236}">
                  <a16:creationId xmlns:a16="http://schemas.microsoft.com/office/drawing/2014/main" id="{0CFFE022-E35F-88C9-5156-D253BD1E7ACC}"/>
                </a:ext>
              </a:extLst>
            </p:cNvPr>
            <p:cNvSpPr/>
            <p:nvPr/>
          </p:nvSpPr>
          <p:spPr>
            <a:xfrm>
              <a:off x="5213685" y="3805967"/>
              <a:ext cx="5397165" cy="2371483"/>
            </a:xfrm>
            <a:prstGeom prst="rect">
              <a:avLst/>
            </a:prstGeom>
            <a:solidFill>
              <a:srgbClr val="000000"/>
            </a:solidFill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2000" rIns="72000">
              <a:spAutoFit/>
            </a:bodyPr>
            <a:lstStyle/>
            <a:p>
              <a:pPr>
                <a:lnSpc>
                  <a:spcPct val="150000"/>
                </a:lnSpc>
                <a:defRPr sz="11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示例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：获取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input_local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的长度，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size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大小为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input_local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有多少个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element</a:t>
              </a:r>
              <a:endPara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  <a:defRPr sz="110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auto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size = </a:t>
              </a:r>
              <a:r>
                <a:rPr lang="en-US" altLang="zh-CN" sz="1000" dirty="0" err="1">
                  <a:solidFill>
                    <a:srgbClr val="9CDCF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input_local</a:t>
              </a:r>
              <a:r>
                <a:rPr lang="en-US" altLang="zh-CN" sz="1000" dirty="0" err="1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.</a:t>
              </a:r>
              <a:r>
                <a:rPr lang="en-US" altLang="zh-CN" sz="1000" b="1" dirty="0" err="1">
                  <a:solidFill>
                    <a:srgbClr val="DCDCAA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GetSize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();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>
                <a:lnSpc>
                  <a:spcPct val="150000"/>
                </a:lnSpc>
                <a:defRPr sz="11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结果：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size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大小为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256</a:t>
              </a:r>
              <a:endParaRPr lang="zh-CN" altLang="en-US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  <a:defRPr sz="11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b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</a:br>
              <a:r>
                <a:rPr lang="en-US" altLang="zh-CN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</a:t>
              </a:r>
              <a:r>
                <a:rPr lang="zh-CN" altLang="en-US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示例</a:t>
              </a:r>
              <a:r>
                <a:rPr lang="en-US" altLang="zh-CN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4</a:t>
              </a:r>
              <a:r>
                <a:rPr lang="zh-CN" altLang="en-US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：</a:t>
              </a:r>
              <a:r>
                <a:rPr lang="en-US" altLang="zh-CN" sz="1000" b="1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operator[]</a:t>
              </a:r>
              <a:r>
                <a:rPr lang="zh-CN" altLang="en-US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使用方法，</a:t>
              </a:r>
              <a:r>
                <a:rPr lang="en-US" altLang="zh-CN" sz="1000" dirty="0" err="1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output_local</a:t>
              </a:r>
              <a:r>
                <a:rPr lang="en-US" altLang="zh-CN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[50]</a:t>
              </a:r>
              <a:r>
                <a:rPr lang="zh-CN" altLang="en-US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为从起始地址开始偏移量为</a:t>
              </a:r>
              <a:r>
                <a:rPr lang="en-US" altLang="zh-CN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50</a:t>
              </a:r>
              <a:r>
                <a:rPr lang="zh-CN" altLang="en-US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的新</a:t>
              </a:r>
              <a:r>
                <a:rPr lang="en-US" altLang="zh-CN" sz="1000" dirty="0">
                  <a:solidFill>
                    <a:srgbClr val="6A9955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tensor</a:t>
              </a:r>
            </a:p>
            <a:p>
              <a:pPr>
                <a:lnSpc>
                  <a:spcPct val="150000"/>
                </a:lnSpc>
                <a:defRPr sz="11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Add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lang="en-US" altLang="zh-CN" sz="1000" dirty="0" err="1">
                  <a:solidFill>
                    <a:srgbClr val="9CDCF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output_local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[</a:t>
              </a:r>
              <a:r>
                <a:rPr lang="en-US" altLang="zh-CN" sz="1000" dirty="0">
                  <a:solidFill>
                    <a:srgbClr val="B5CEA8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50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], </a:t>
              </a:r>
              <a:r>
                <a:rPr lang="en-US" altLang="zh-CN" sz="1000" dirty="0" err="1">
                  <a:solidFill>
                    <a:srgbClr val="9CDCF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input_local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[</a:t>
              </a:r>
              <a:r>
                <a:rPr lang="en-US" altLang="zh-CN" sz="1000" dirty="0">
                  <a:solidFill>
                    <a:srgbClr val="B5CEA8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50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], </a:t>
              </a:r>
              <a:r>
                <a:rPr lang="en-US" altLang="zh-CN" sz="1000" dirty="0">
                  <a:solidFill>
                    <a:srgbClr val="9CDCF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input_local2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[</a:t>
              </a:r>
              <a:r>
                <a:rPr lang="en-US" altLang="zh-CN" sz="1000" dirty="0">
                  <a:solidFill>
                    <a:srgbClr val="B5CEA8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50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], </a:t>
              </a:r>
              <a:r>
                <a:rPr lang="en-US" altLang="zh-CN" sz="1000" dirty="0">
                  <a:solidFill>
                    <a:srgbClr val="B5CEA8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50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);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>
                <a:lnSpc>
                  <a:spcPct val="150000"/>
                </a:lnSpc>
                <a:defRPr sz="11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结果如下：</a:t>
              </a:r>
              <a:endParaRPr lang="zh-CN" altLang="en-US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  <a:defRPr sz="11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输入数据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input_local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):  [100 100 100 ... 100]  50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个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int32_t</a:t>
              </a:r>
              <a:endPara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  <a:defRPr sz="11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输入数据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(input_local2): [1 2 3 ... 50]         50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个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int32_t</a:t>
              </a:r>
              <a:endPara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  <a:defRPr sz="11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输出数据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output_local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): [101 102 103 ... 150]  50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个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int32_t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314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49198-BCEF-9B79-4FFC-D1DAC221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48CB821A-C4EA-536B-2B41-5A02D5584CA6}"/>
              </a:ext>
            </a:extLst>
          </p:cNvPr>
          <p:cNvSpPr txBox="1">
            <a:spLocks/>
          </p:cNvSpPr>
          <p:nvPr/>
        </p:nvSpPr>
        <p:spPr>
          <a:xfrm>
            <a:off x="4322894" y="411900"/>
            <a:ext cx="3550972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内存管理模块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endParaRPr lang="zh-CN" altLang="en-US" sz="3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7670DF33-3461-A3C9-B2A9-18C6C1031876}"/>
              </a:ext>
            </a:extLst>
          </p:cNvPr>
          <p:cNvSpPr txBox="1">
            <a:spLocks/>
          </p:cNvSpPr>
          <p:nvPr/>
        </p:nvSpPr>
        <p:spPr>
          <a:xfrm>
            <a:off x="1511429" y="1553476"/>
            <a:ext cx="9173905" cy="9673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000" indent="-1260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任务间数据传递使用到的内存统一由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内存管理模块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进行管理。如下图所示，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作为片上内存管理者，通过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InitBuffer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接口对外提供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Queue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内存初始化功能，开发者可以通过该接口为指定的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Queue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分配内存。</a:t>
            </a:r>
          </a:p>
          <a:p>
            <a:pPr marL="126000" indent="-1260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数据结构：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TPipe</a:t>
            </a:r>
            <a:endParaRPr lang="zh-CN" altLang="en-US" sz="12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8F87B2D-10EB-96BB-934B-1CA1921F5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182" y="2795138"/>
            <a:ext cx="8726398" cy="302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0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2BD71-1CA2-D6AD-12F8-CA9631B8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EB59D41D-3DC2-8C18-078B-255EDC1E8161}"/>
              </a:ext>
            </a:extLst>
          </p:cNvPr>
          <p:cNvSpPr txBox="1">
            <a:spLocks/>
          </p:cNvSpPr>
          <p:nvPr/>
        </p:nvSpPr>
        <p:spPr>
          <a:xfrm>
            <a:off x="4117709" y="411900"/>
            <a:ext cx="39613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：声明与初始化</a:t>
            </a: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E9AD6843-51FA-735D-D9A8-5B55465E3D4B}"/>
              </a:ext>
            </a:extLst>
          </p:cNvPr>
          <p:cNvSpPr txBox="1"/>
          <p:nvPr/>
        </p:nvSpPr>
        <p:spPr>
          <a:xfrm>
            <a:off x="3054316" y="1881388"/>
            <a:ext cx="6088131" cy="1458208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2000" rIns="45719" anchor="ctr">
            <a:noAutofit/>
          </a:bodyPr>
          <a:lstStyle/>
          <a:p>
            <a:pPr>
              <a:defRPr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示例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：声明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endParaRPr lang="en-US" altLang="zh-CN" sz="100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defRPr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private:</a:t>
            </a:r>
            <a:endParaRPr lang="en-US" altLang="zh-CN" sz="100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defRPr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TPipe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pipe;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b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</a:br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示例</a:t>
            </a:r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：初始化片上内存</a:t>
            </a:r>
          </a:p>
          <a:p>
            <a:pPr>
              <a:defRPr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r>
              <a:rPr lang="en-US" altLang="zh-CN" sz="1000" dirty="0" err="1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InitBuffer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(que, num, </a:t>
            </a:r>
            <a:r>
              <a:rPr lang="en-US" altLang="zh-CN" sz="1000" dirty="0" err="1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len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</p:txBody>
      </p:sp>
      <p:sp>
        <p:nvSpPr>
          <p:cNvPr id="5" name="矩形 20">
            <a:extLst>
              <a:ext uri="{FF2B5EF4-FFF2-40B4-BE49-F238E27FC236}">
                <a16:creationId xmlns:a16="http://schemas.microsoft.com/office/drawing/2014/main" id="{1F9A4102-BCC3-53F5-2335-86EB42D45C24}"/>
              </a:ext>
            </a:extLst>
          </p:cNvPr>
          <p:cNvSpPr/>
          <p:nvPr/>
        </p:nvSpPr>
        <p:spPr>
          <a:xfrm>
            <a:off x="3054316" y="3518404"/>
            <a:ext cx="6088131" cy="2149925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endParaRPr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3" name="表格 6">
            <a:extLst>
              <a:ext uri="{FF2B5EF4-FFF2-40B4-BE49-F238E27FC236}">
                <a16:creationId xmlns:a16="http://schemas.microsoft.com/office/drawing/2014/main" id="{31A4D458-BA8C-B58E-7D46-B11F64B1E5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863040"/>
              </p:ext>
            </p:extLst>
          </p:nvPr>
        </p:nvGraphicFramePr>
        <p:xfrm>
          <a:off x="3054317" y="3518404"/>
          <a:ext cx="6088130" cy="2149925"/>
        </p:xfrm>
        <a:graphic>
          <a:graphicData uri="http://schemas.openxmlformats.org/drawingml/2006/table">
            <a:tbl>
              <a:tblPr/>
              <a:tblGrid>
                <a:gridCol w="1764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3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399"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1800"/>
                      </a:pPr>
                      <a:r>
                        <a:rPr lang="zh-CN" altLang="en-US" sz="12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uawei Sans"/>
                        </a:rPr>
                        <a:t>参数名称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1800"/>
                      </a:pPr>
                      <a:r>
                        <a:rPr lang="zh-CN" altLang="en-US" sz="12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uawei Sans"/>
                        </a:rPr>
                        <a:t>含义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842"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1800"/>
                      </a:pPr>
                      <a:r>
                        <a:rPr sz="1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uawei Sans"/>
                        </a:rPr>
                        <a:t>que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1800"/>
                      </a:pPr>
                      <a:r>
                        <a:rPr lang="zh-CN" altLang="en-US" sz="1000" b="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uawei Sans"/>
                        </a:rPr>
                        <a:t>指定的已经</a:t>
                      </a:r>
                      <a:r>
                        <a:rPr lang="zh-CN" altLang="en-US" sz="1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uawei Sans"/>
                        </a:rPr>
                        <a:t>创建的队列名称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842"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1800"/>
                      </a:pPr>
                      <a:r>
                        <a:rPr sz="100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uawei Sans"/>
                        </a:rPr>
                        <a:t>num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2000">
                          <a:sym typeface="Huawei Sans"/>
                        </a:defRPr>
                      </a:pPr>
                      <a:r>
                        <a:rPr lang="zh-CN" altLang="en-US" sz="1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为分配的内存块数，</a:t>
                      </a:r>
                      <a:r>
                        <a:rPr lang="en-US" altLang="zh-CN" sz="1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num=2</a:t>
                      </a:r>
                      <a:r>
                        <a:rPr lang="zh-CN" altLang="en-US" sz="1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时开启</a:t>
                      </a:r>
                      <a:r>
                        <a:rPr lang="en-US" altLang="zh-CN" sz="1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double buffer</a:t>
                      </a:r>
                      <a:r>
                        <a:rPr lang="zh-CN" altLang="en-US" sz="1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优化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842"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1800"/>
                      </a:pPr>
                      <a:r>
                        <a:rPr sz="100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uawei Sans"/>
                        </a:rPr>
                        <a:t>len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2000">
                          <a:sym typeface="Huawei Sans"/>
                        </a:defRPr>
                      </a:pPr>
                      <a:r>
                        <a:rPr lang="zh-CN" altLang="en-US" sz="1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一块内存大小（单位</a:t>
                      </a:r>
                      <a:r>
                        <a:rPr lang="en-US" altLang="zh-CN" sz="1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Byte</a:t>
                      </a:r>
                      <a:r>
                        <a:rPr lang="zh-CN" altLang="en-US" sz="10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23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B69CE-9DFD-B88C-31EF-DD586DA12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2A482081-D6A2-1C00-ED38-445823EE9A61}"/>
              </a:ext>
            </a:extLst>
          </p:cNvPr>
          <p:cNvSpPr txBox="1">
            <a:spLocks/>
          </p:cNvSpPr>
          <p:nvPr/>
        </p:nvSpPr>
        <p:spPr>
          <a:xfrm>
            <a:off x="3413607" y="411900"/>
            <a:ext cx="536954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任务间通信和同步模块</a:t>
            </a: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TQue</a:t>
            </a:r>
            <a:endParaRPr lang="zh-CN" altLang="en-US" sz="3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Picture 4" descr="Picture 4">
            <a:extLst>
              <a:ext uri="{FF2B5EF4-FFF2-40B4-BE49-F238E27FC236}">
                <a16:creationId xmlns:a16="http://schemas.microsoft.com/office/drawing/2014/main" id="{CFD8808B-C99D-AE68-A15B-20DCED5A7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96" y="2691485"/>
            <a:ext cx="7789170" cy="361724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668EAEE-DA90-3823-3DAD-5ED10B3A44A8}"/>
              </a:ext>
            </a:extLst>
          </p:cNvPr>
          <p:cNvSpPr txBox="1">
            <a:spLocks/>
          </p:cNvSpPr>
          <p:nvPr/>
        </p:nvSpPr>
        <p:spPr>
          <a:xfrm>
            <a:off x="1759912" y="1125538"/>
            <a:ext cx="8676939" cy="144437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中使用</a:t>
            </a:r>
            <a:r>
              <a:rPr lang="en-US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TQ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完成任务之间的数据通信和同步，</a:t>
            </a:r>
            <a:r>
              <a:rPr lang="en-US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TQ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队列管理不同层级的物理内存时，用一种抽象的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逻辑位置（ 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TPosition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QuePosition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来表达各级别的存储，代替了片上物理存储的概念，开发者无须感知硬件架构。</a:t>
            </a: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矢量</a:t>
            </a:r>
            <a:r>
              <a:rPr lang="en-US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Queue：</a:t>
            </a:r>
            <a:r>
              <a:rPr lang="en-US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VECIN、VECOUT、VECCALC</a:t>
            </a:r>
            <a:endParaRPr lang="en-US" sz="12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</a:t>
            </a:r>
            <a:r>
              <a:rPr 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Queue：</a:t>
            </a:r>
            <a:r>
              <a:rPr 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A1、A2、B1、B2、CO1、CO2</a:t>
            </a: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数据结构：</a:t>
            </a:r>
            <a:r>
              <a:rPr lang="en-US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TQue</a:t>
            </a:r>
            <a:endParaRPr lang="en-US" sz="12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10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A75DA-3467-48A0-ECD1-0913A106B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AE89267C-9B57-ED47-7741-647160BC9C1B}"/>
              </a:ext>
            </a:extLst>
          </p:cNvPr>
          <p:cNvSpPr txBox="1">
            <a:spLocks/>
          </p:cNvSpPr>
          <p:nvPr/>
        </p:nvSpPr>
        <p:spPr>
          <a:xfrm>
            <a:off x="3413607" y="411900"/>
            <a:ext cx="536954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任务间通信和同步模块</a:t>
            </a: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TQue</a:t>
            </a:r>
            <a:endParaRPr lang="zh-CN" altLang="en-US" sz="3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0D27327E-FA0F-9768-2E4F-5F2A6735FD07}"/>
              </a:ext>
            </a:extLst>
          </p:cNvPr>
          <p:cNvSpPr txBox="1"/>
          <p:nvPr/>
        </p:nvSpPr>
        <p:spPr>
          <a:xfrm>
            <a:off x="3054316" y="1881388"/>
            <a:ext cx="6088131" cy="1458208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2000" rIns="45719" anchor="ctr">
            <a:noAutofit/>
          </a:bodyPr>
          <a:lstStyle/>
          <a:p>
            <a:pPr>
              <a:defRPr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示例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：声明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Queue</a:t>
            </a:r>
            <a:endParaRPr lang="en-US" altLang="zh-CN" sz="100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defRPr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private:</a:t>
            </a:r>
            <a:endParaRPr lang="en-US" altLang="zh-CN" sz="100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defRPr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TQue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QuePosition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::pos, BUFFER_NUM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Queue_name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</a:p>
        </p:txBody>
      </p:sp>
      <p:sp>
        <p:nvSpPr>
          <p:cNvPr id="3" name="矩形 20">
            <a:extLst>
              <a:ext uri="{FF2B5EF4-FFF2-40B4-BE49-F238E27FC236}">
                <a16:creationId xmlns:a16="http://schemas.microsoft.com/office/drawing/2014/main" id="{D3FE69C6-81A4-12FA-3F45-45231F8F7885}"/>
              </a:ext>
            </a:extLst>
          </p:cNvPr>
          <p:cNvSpPr/>
          <p:nvPr/>
        </p:nvSpPr>
        <p:spPr>
          <a:xfrm>
            <a:off x="3054316" y="3518404"/>
            <a:ext cx="6088131" cy="2149925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endParaRPr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4" name="表格 6">
            <a:extLst>
              <a:ext uri="{FF2B5EF4-FFF2-40B4-BE49-F238E27FC236}">
                <a16:creationId xmlns:a16="http://schemas.microsoft.com/office/drawing/2014/main" id="{02047CFE-9C5B-415A-2678-7AA3F3661D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3153552"/>
              </p:ext>
            </p:extLst>
          </p:nvPr>
        </p:nvGraphicFramePr>
        <p:xfrm>
          <a:off x="3054317" y="3518404"/>
          <a:ext cx="6088130" cy="2149925"/>
        </p:xfrm>
        <a:graphic>
          <a:graphicData uri="http://schemas.openxmlformats.org/drawingml/2006/table">
            <a:tbl>
              <a:tblPr/>
              <a:tblGrid>
                <a:gridCol w="1764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3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399"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1800"/>
                      </a:pPr>
                      <a:r>
                        <a:rPr lang="zh-CN" altLang="en-US" sz="18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uawei Sans"/>
                        </a:rPr>
                        <a:t>参数名称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1800"/>
                      </a:pPr>
                      <a:r>
                        <a:rPr lang="zh-CN" altLang="en-US" sz="1800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uawei Sans"/>
                        </a:rPr>
                        <a:t>含义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842"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1800"/>
                      </a:pPr>
                      <a:r>
                        <a:rPr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uawei Sans"/>
                        </a:rPr>
                        <a:t>pos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2000">
                          <a:sym typeface="Huawei Sans"/>
                        </a:defRPr>
                      </a:pPr>
                      <a:r>
                        <a:rPr sz="12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QuePosition，可以为VECIN、VECCALC、VECOUT</a:t>
                      </a:r>
                      <a:r>
                        <a:rPr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、</a:t>
                      </a:r>
                      <a:endParaRPr lang="en-US" sz="12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algn="ctr" defTabSz="890849">
                        <a:lnSpc>
                          <a:spcPct val="125000"/>
                        </a:lnSpc>
                        <a:defRPr sz="2000">
                          <a:sym typeface="Huawei Sans"/>
                        </a:defRPr>
                      </a:pPr>
                      <a:r>
                        <a:rPr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A1、A2、B1、B2、CO1、CO2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842"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1800"/>
                      </a:pPr>
                      <a:r>
                        <a:rPr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uawei Sans"/>
                        </a:rPr>
                        <a:t>BUFFER_NUM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1800"/>
                      </a:pPr>
                      <a:r>
                        <a:rPr lang="zh-CN" altLang="en-US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uawei Sans"/>
                        </a:rPr>
                        <a:t>队列深度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842"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1800"/>
                      </a:pPr>
                      <a:r>
                        <a:rPr sz="12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uawei Sans"/>
                        </a:rPr>
                        <a:t>Queue_name</a:t>
                      </a:r>
                      <a:endParaRPr sz="1200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Huawei San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890849">
                        <a:lnSpc>
                          <a:spcPct val="125000"/>
                        </a:lnSpc>
                        <a:defRPr sz="1800"/>
                      </a:pPr>
                      <a:r>
                        <a:rPr lang="zh-CN" altLang="en-US" sz="12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Huawei Sans"/>
                        </a:rPr>
                        <a:t>自定义队列名称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73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82124-4542-38DD-2BE1-57979709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5583C84E-C1A3-C9FF-52AF-7CB126A73265}"/>
              </a:ext>
            </a:extLst>
          </p:cNvPr>
          <p:cNvSpPr txBox="1">
            <a:spLocks/>
          </p:cNvSpPr>
          <p:nvPr/>
        </p:nvSpPr>
        <p:spPr>
          <a:xfrm>
            <a:off x="3550855" y="411900"/>
            <a:ext cx="5095049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TQue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：分配和释放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</a:t>
            </a:r>
            <a:endParaRPr lang="zh-CN" altLang="en-US" sz="3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D9EDBCC2-5A76-45B0-1F02-4730A81EBF67}"/>
              </a:ext>
            </a:extLst>
          </p:cNvPr>
          <p:cNvSpPr txBox="1"/>
          <p:nvPr/>
        </p:nvSpPr>
        <p:spPr>
          <a:xfrm>
            <a:off x="1054311" y="2557420"/>
            <a:ext cx="4687581" cy="193241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2000" rIns="72000" anchor="ctr">
            <a:noAutofit/>
          </a:bodyPr>
          <a:lstStyle/>
          <a:p>
            <a:pPr>
              <a:defRPr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示例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：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AllocTensor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方法分配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</a:t>
            </a:r>
            <a:endParaRPr lang="en-US" altLang="zh-CN" sz="100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defRPr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TPipe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TQue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TPosition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::VECOUT, </a:t>
            </a:r>
            <a:r>
              <a:rPr lang="en-US" altLang="zh-CN" sz="1000" dirty="0">
                <a:solidFill>
                  <a:srgbClr val="B5CEA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num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B5CEA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len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B5CEA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1024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InitBuffer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分配内存块数为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，每块大小为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1024Bytes</a:t>
            </a:r>
            <a:endParaRPr lang="en-US" altLang="zh-CN" sz="100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defRPr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r>
              <a:rPr lang="en-US" altLang="zh-CN" sz="1000" dirty="0" err="1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InitBuffer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(que, num, </a:t>
            </a:r>
            <a:r>
              <a:rPr lang="en-US" altLang="zh-CN" sz="1000" dirty="0" err="1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len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 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AllocTensor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分配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长度为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1024Bytes</a:t>
            </a:r>
            <a:endParaRPr lang="en-US" altLang="zh-CN" sz="100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defRPr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half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tensor1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AllocTensor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();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88F269-2F60-4764-1CAD-4B7DD6C2DCB6}"/>
              </a:ext>
            </a:extLst>
          </p:cNvPr>
          <p:cNvSpPr txBox="1"/>
          <p:nvPr/>
        </p:nvSpPr>
        <p:spPr>
          <a:xfrm>
            <a:off x="1054311" y="2244366"/>
            <a:ext cx="225183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分配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Tensor：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AllocTensor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6F9B2B-4D69-D436-A564-DA1F7E5EE885}"/>
              </a:ext>
            </a:extLst>
          </p:cNvPr>
          <p:cNvSpPr txBox="1"/>
          <p:nvPr/>
        </p:nvSpPr>
        <p:spPr>
          <a:xfrm>
            <a:off x="1054311" y="4618221"/>
            <a:ext cx="480259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>
                <a:solidFill>
                  <a:srgbClr val="0432FF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分配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的大小为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初始化时一块的大小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，即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len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的大小，单位为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Bytes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5AF01D5-D51C-D8F3-C09B-6E8F941A6329}"/>
              </a:ext>
            </a:extLst>
          </p:cNvPr>
          <p:cNvGrpSpPr/>
          <p:nvPr/>
        </p:nvGrpSpPr>
        <p:grpSpPr>
          <a:xfrm>
            <a:off x="6454871" y="2244366"/>
            <a:ext cx="4687580" cy="2558521"/>
            <a:chOff x="6397363" y="1931312"/>
            <a:chExt cx="4687580" cy="2558521"/>
          </a:xfrm>
        </p:grpSpPr>
        <p:sp>
          <p:nvSpPr>
            <p:cNvPr id="5" name="文本框 9">
              <a:extLst>
                <a:ext uri="{FF2B5EF4-FFF2-40B4-BE49-F238E27FC236}">
                  <a16:creationId xmlns:a16="http://schemas.microsoft.com/office/drawing/2014/main" id="{5ED2140E-D6F7-32CE-49D1-4B565CA202F5}"/>
                </a:ext>
              </a:extLst>
            </p:cNvPr>
            <p:cNvSpPr txBox="1"/>
            <p:nvPr/>
          </p:nvSpPr>
          <p:spPr>
            <a:xfrm>
              <a:off x="6397363" y="2244366"/>
              <a:ext cx="4687580" cy="1932412"/>
            </a:xfrm>
            <a:prstGeom prst="rect">
              <a:avLst/>
            </a:prstGeom>
            <a:solidFill>
              <a:srgbClr val="000000"/>
            </a:solidFill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72000" rIns="72000" anchor="ctr">
              <a:noAutofit/>
            </a:bodyPr>
            <a:lstStyle/>
            <a:p>
              <a:pPr>
                <a:defRPr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示例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：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FreeTensor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()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方法释放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Tensor</a:t>
              </a:r>
              <a:endPara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defRPr>
                  <a:solidFill>
                    <a:srgbClr val="CCCCCC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...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>
                <a:defRPr>
                  <a:solidFill>
                    <a:srgbClr val="CCCCCC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LocalTensor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&lt;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half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&gt;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tensor1 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=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dirty="0" err="1">
                  <a:solidFill>
                    <a:srgbClr val="9CDCF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que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.</a:t>
              </a:r>
              <a:r>
                <a:rPr lang="en-US" altLang="zh-CN" sz="1000" dirty="0" err="1">
                  <a:solidFill>
                    <a:srgbClr val="DCDCAA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AllocTensor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();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>
                <a:defRPr>
                  <a:solidFill>
                    <a:srgbClr val="CCCCCC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...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>
                <a:defRPr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使用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FreeTensor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释放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AllocTensor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分配的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Tensor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>
                <a:defRPr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Helvetica"/>
                </a:rPr>
                <a:t>一定配对使用</a:t>
              </a:r>
              <a:endParaRPr lang="zh-CN" altLang="en-US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defRPr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que</a:t>
              </a:r>
              <a:r>
                <a:rPr lang="en-US" altLang="zh-CN" sz="1000" dirty="0" err="1">
                  <a:solidFill>
                    <a:srgbClr val="CCCCC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.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FreeTensor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&lt;</a:t>
              </a:r>
              <a:r>
                <a:rPr lang="en-US" altLang="zh-CN" sz="1000" dirty="0">
                  <a:solidFill>
                    <a:srgbClr val="CCCCC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half</a:t>
              </a:r>
              <a:r>
                <a:rPr lang="en-US" altLang="zh-CN" sz="1000" dirty="0">
                  <a:solidFill>
                    <a:srgbClr val="D4D4D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&gt;</a:t>
              </a:r>
              <a:r>
                <a:rPr lang="en-US" altLang="zh-CN" sz="1000" dirty="0">
                  <a:solidFill>
                    <a:srgbClr val="CCCCC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(tensor1); 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>
                <a:defRPr>
                  <a:solidFill>
                    <a:srgbClr val="CCCCCC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...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8ACCDF7-3C65-3AAF-400D-A5DFB2D335E3}"/>
                </a:ext>
              </a:extLst>
            </p:cNvPr>
            <p:cNvSpPr txBox="1"/>
            <p:nvPr/>
          </p:nvSpPr>
          <p:spPr>
            <a:xfrm>
              <a:off x="6397363" y="1931312"/>
              <a:ext cx="2198935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822960">
                <a:buClr>
                  <a:srgbClr val="0000FF"/>
                </a:buClr>
                <a:buSzPct val="120000"/>
                <a:defRPr sz="2000" b="1">
                  <a:solidFill>
                    <a:srgbClr val="0000FF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释放</a:t>
              </a:r>
              <a:r>
                <a:rPr lang="en-US" altLang="zh-CN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Tensor</a:t>
              </a: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：</a:t>
              </a:r>
              <a:r>
                <a:rPr lang="en-US" altLang="zh-CN" sz="1200" b="1" dirty="0" err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FreeTensor</a:t>
              </a:r>
              <a:r>
                <a:rPr lang="en-US" altLang="zh-CN" sz="1200" b="1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()</a:t>
              </a:r>
              <a:r>
                <a:rPr lang="zh-CN" altLang="en-US" sz="1200" b="1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方法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7F14AC2-23B3-18E9-8896-3AD900CA3842}"/>
                </a:ext>
              </a:extLst>
            </p:cNvPr>
            <p:cNvSpPr txBox="1"/>
            <p:nvPr/>
          </p:nvSpPr>
          <p:spPr>
            <a:xfrm>
              <a:off x="6397363" y="4305167"/>
              <a:ext cx="1869679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>
                  <a:solidFill>
                    <a:srgbClr val="0432FF"/>
                  </a:solidFill>
                </a:defRPr>
              </a:pP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一定和</a:t>
              </a:r>
              <a:r>
                <a:rPr lang="en-US" altLang="zh-CN" sz="1200" dirty="0" err="1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AllocTensor</a:t>
              </a: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配对使用</a:t>
              </a:r>
              <a:endPara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911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85AD-A95F-90E8-1B3E-52223A66B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3FBBCC5C-DC6B-8C0C-0ABB-DCA9335A4744}"/>
              </a:ext>
            </a:extLst>
          </p:cNvPr>
          <p:cNvSpPr txBox="1">
            <a:spLocks/>
          </p:cNvSpPr>
          <p:nvPr/>
        </p:nvSpPr>
        <p:spPr>
          <a:xfrm>
            <a:off x="4234343" y="411900"/>
            <a:ext cx="3728073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TQue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：入队和出队</a:t>
            </a:r>
          </a:p>
        </p:txBody>
      </p:sp>
      <p:sp>
        <p:nvSpPr>
          <p:cNvPr id="2" name="文本框 7">
            <a:extLst>
              <a:ext uri="{FF2B5EF4-FFF2-40B4-BE49-F238E27FC236}">
                <a16:creationId xmlns:a16="http://schemas.microsoft.com/office/drawing/2014/main" id="{F20F5723-5E4C-F254-1E81-6C7FAEF89F0E}"/>
              </a:ext>
            </a:extLst>
          </p:cNvPr>
          <p:cNvSpPr txBox="1"/>
          <p:nvPr/>
        </p:nvSpPr>
        <p:spPr>
          <a:xfrm>
            <a:off x="1054311" y="3270950"/>
            <a:ext cx="4687581" cy="193241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2000" rIns="72000" anchor="ctr">
            <a:noAutofit/>
          </a:bodyPr>
          <a:lstStyle/>
          <a:p>
            <a:pPr>
              <a:defRPr sz="16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示例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：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EnQue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入队操作</a:t>
            </a:r>
            <a:endParaRPr lang="zh-CN" altLang="en-US" sz="100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TPipe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TQue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TPosition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::VECOUT, </a:t>
            </a:r>
            <a:r>
              <a:rPr lang="en-US" altLang="zh-CN" sz="1000" dirty="0">
                <a:solidFill>
                  <a:srgbClr val="B5CEA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num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B5CEA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len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B5CEA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1024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r>
              <a:rPr lang="en-US" altLang="zh-CN" sz="1000" dirty="0" err="1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InitBuffer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(que, num, </a:t>
            </a:r>
            <a:r>
              <a:rPr lang="en-US" altLang="zh-CN" sz="1000" dirty="0" err="1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len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half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tensor1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AllocTensor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 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将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加入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VECOUT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的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Queue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中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endParaRPr lang="zh-CN" altLang="en-US" sz="100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defRPr sz="16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</a:t>
            </a:r>
            <a:r>
              <a:rPr lang="en-US" altLang="zh-CN" sz="1000" dirty="0" err="1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EnQue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(tensor1);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A01D6F-0C0F-3B84-3843-09039FFAFB3B}"/>
              </a:ext>
            </a:extLst>
          </p:cNvPr>
          <p:cNvSpPr txBox="1"/>
          <p:nvPr/>
        </p:nvSpPr>
        <p:spPr>
          <a:xfrm>
            <a:off x="1054311" y="2120541"/>
            <a:ext cx="167674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入队操作：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EnQue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方法</a:t>
            </a:r>
          </a:p>
        </p:txBody>
      </p:sp>
      <p:sp>
        <p:nvSpPr>
          <p:cNvPr id="5" name="文本框 9">
            <a:extLst>
              <a:ext uri="{FF2B5EF4-FFF2-40B4-BE49-F238E27FC236}">
                <a16:creationId xmlns:a16="http://schemas.microsoft.com/office/drawing/2014/main" id="{6D9493FB-E033-7EB9-BEC6-F93D6E180357}"/>
              </a:ext>
            </a:extLst>
          </p:cNvPr>
          <p:cNvSpPr txBox="1"/>
          <p:nvPr/>
        </p:nvSpPr>
        <p:spPr>
          <a:xfrm>
            <a:off x="6454871" y="3270950"/>
            <a:ext cx="4687580" cy="193241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2000" rIns="72000" anchor="ctr">
            <a:noAutofit/>
          </a:bodyPr>
          <a:lstStyle/>
          <a:p>
            <a:pPr>
              <a:defRPr sz="16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示例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：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DeQue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出队操作</a:t>
            </a:r>
            <a:endParaRPr lang="zh-CN" altLang="en-US" sz="100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TPipe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pipe;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TQue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TPosition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::VECOUT, </a:t>
            </a:r>
            <a:r>
              <a:rPr lang="en-US" altLang="zh-CN" sz="1000" dirty="0">
                <a:solidFill>
                  <a:srgbClr val="B5CEA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num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B5CEA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len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B5CEA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1024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r>
              <a:rPr lang="en-US" altLang="zh-CN" sz="1000" dirty="0" err="1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InitBuffer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(que, num, </a:t>
            </a:r>
            <a:r>
              <a:rPr lang="en-US" altLang="zh-CN" sz="1000" dirty="0" err="1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len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half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tensor1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AllocTensor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half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</a:t>
            </a:r>
            <a:r>
              <a:rPr lang="en-US" altLang="zh-CN" sz="1000" dirty="0" err="1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EnQue</a:t>
            </a:r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(tensor1);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 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将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从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VECOUT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的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Queue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中搬出</a:t>
            </a:r>
            <a:endParaRPr lang="zh-CN" altLang="en-US" sz="100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half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tensor1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DeQue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half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(); </a:t>
            </a:r>
          </a:p>
        </p:txBody>
      </p:sp>
      <p:pic>
        <p:nvPicPr>
          <p:cNvPr id="8" name="图片 9" descr="图片 9">
            <a:extLst>
              <a:ext uri="{FF2B5EF4-FFF2-40B4-BE49-F238E27FC236}">
                <a16:creationId xmlns:a16="http://schemas.microsoft.com/office/drawing/2014/main" id="{3A5D1011-B4D2-42B0-088F-9F30E0B04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11" y="2441305"/>
            <a:ext cx="2534961" cy="659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图片 10" descr="图片 10">
            <a:extLst>
              <a:ext uri="{FF2B5EF4-FFF2-40B4-BE49-F238E27FC236}">
                <a16:creationId xmlns:a16="http://schemas.microsoft.com/office/drawing/2014/main" id="{05CAA6FF-41F6-58FE-7865-864C715E8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871" y="2305208"/>
            <a:ext cx="4687580" cy="795599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97C33E5-3E71-28AD-2040-7F5D0E820926}"/>
              </a:ext>
            </a:extLst>
          </p:cNvPr>
          <p:cNvSpPr txBox="1"/>
          <p:nvPr/>
        </p:nvSpPr>
        <p:spPr>
          <a:xfrm>
            <a:off x="6454871" y="2120541"/>
            <a:ext cx="1675139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出队操作：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DeQue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方法</a:t>
            </a:r>
          </a:p>
        </p:txBody>
      </p:sp>
    </p:spTree>
    <p:extLst>
      <p:ext uri="{BB962C8B-B14F-4D97-AF65-F5344CB8AC3E}">
        <p14:creationId xmlns:p14="http://schemas.microsoft.com/office/powerpoint/2010/main" val="176971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3B32F-D539-EB01-43FD-46A29831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30C6C444-2EFC-E1EC-9201-BF155816BC38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本章内容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BC28CD4-90AD-F01E-9A19-6A57FF17A216}"/>
              </a:ext>
            </a:extLst>
          </p:cNvPr>
          <p:cNvSpPr/>
          <p:nvPr/>
        </p:nvSpPr>
        <p:spPr>
          <a:xfrm>
            <a:off x="4712642" y="1819025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AA60E9C-98FD-E358-9A2B-50A3BD9A21C1}"/>
              </a:ext>
            </a:extLst>
          </p:cNvPr>
          <p:cNvSpPr txBox="1"/>
          <p:nvPr/>
        </p:nvSpPr>
        <p:spPr>
          <a:xfrm>
            <a:off x="5265051" y="1862959"/>
            <a:ext cx="21371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编程模型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8C64E55-C666-E897-1EC7-482ABBCF73FD}"/>
              </a:ext>
            </a:extLst>
          </p:cNvPr>
          <p:cNvSpPr/>
          <p:nvPr/>
        </p:nvSpPr>
        <p:spPr>
          <a:xfrm>
            <a:off x="4712642" y="2506262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81D10A2-3682-C130-7FCE-5FF315410A6A}"/>
              </a:ext>
            </a:extLst>
          </p:cNvPr>
          <p:cNvSpPr txBox="1"/>
          <p:nvPr/>
        </p:nvSpPr>
        <p:spPr>
          <a:xfrm>
            <a:off x="5265051" y="2550196"/>
            <a:ext cx="21371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语法扩展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4FBAA18-7229-FB77-501E-3ACB6A881826}"/>
              </a:ext>
            </a:extLst>
          </p:cNvPr>
          <p:cNvSpPr/>
          <p:nvPr/>
        </p:nvSpPr>
        <p:spPr>
          <a:xfrm>
            <a:off x="4712642" y="3193499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5FF67B-D5FC-3F38-DB9C-FCED5024A04E}"/>
              </a:ext>
            </a:extLst>
          </p:cNvPr>
          <p:cNvSpPr txBox="1"/>
          <p:nvPr/>
        </p:nvSpPr>
        <p:spPr>
          <a:xfrm>
            <a:off x="5265051" y="3237433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向量编程范式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7883DB8-F2CC-42B1-EB95-2631B4BEE089}"/>
              </a:ext>
            </a:extLst>
          </p:cNvPr>
          <p:cNvGrpSpPr/>
          <p:nvPr/>
        </p:nvGrpSpPr>
        <p:grpSpPr>
          <a:xfrm>
            <a:off x="4712642" y="3880736"/>
            <a:ext cx="2122069" cy="457200"/>
            <a:chOff x="4712642" y="4231256"/>
            <a:chExt cx="2122069" cy="457200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8BC707DE-DD7C-22DC-016C-AF851289E13E}"/>
                </a:ext>
              </a:extLst>
            </p:cNvPr>
            <p:cNvSpPr/>
            <p:nvPr/>
          </p:nvSpPr>
          <p:spPr>
            <a:xfrm>
              <a:off x="4712642" y="4231256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4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3B636B7-57D3-0929-0C72-165A2837F52F}"/>
                </a:ext>
              </a:extLst>
            </p:cNvPr>
            <p:cNvSpPr txBox="1"/>
            <p:nvPr/>
          </p:nvSpPr>
          <p:spPr>
            <a:xfrm>
              <a:off x="5265051" y="4275190"/>
              <a:ext cx="156966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0433FF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矩阵编程范式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B854F4F-CBE7-1657-E404-BA2F4BA89C42}"/>
              </a:ext>
            </a:extLst>
          </p:cNvPr>
          <p:cNvGrpSpPr/>
          <p:nvPr/>
        </p:nvGrpSpPr>
        <p:grpSpPr>
          <a:xfrm>
            <a:off x="4712642" y="4567973"/>
            <a:ext cx="2122069" cy="457200"/>
            <a:chOff x="4712642" y="3544019"/>
            <a:chExt cx="2122069" cy="457200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5CEE5D63-F30C-9477-0F82-F375A02080AD}"/>
                </a:ext>
              </a:extLst>
            </p:cNvPr>
            <p:cNvSpPr/>
            <p:nvPr/>
          </p:nvSpPr>
          <p:spPr>
            <a:xfrm>
              <a:off x="4712642" y="3544019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5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0B1E1EA-9759-7338-161F-60D5D759B991}"/>
                </a:ext>
              </a:extLst>
            </p:cNvPr>
            <p:cNvSpPr txBox="1"/>
            <p:nvPr/>
          </p:nvSpPr>
          <p:spPr>
            <a:xfrm>
              <a:off x="5265051" y="3587953"/>
              <a:ext cx="156966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FF2600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混合编程范式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9F87E05-A26F-CC3A-3AB5-6D05AD4B4777}"/>
              </a:ext>
            </a:extLst>
          </p:cNvPr>
          <p:cNvGrpSpPr/>
          <p:nvPr/>
        </p:nvGrpSpPr>
        <p:grpSpPr>
          <a:xfrm>
            <a:off x="4712642" y="5255210"/>
            <a:ext cx="3151197" cy="457200"/>
            <a:chOff x="4712642" y="4231256"/>
            <a:chExt cx="3151197" cy="457200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4A4B78EA-A311-4286-6D40-1CC60CF3CE68}"/>
                </a:ext>
              </a:extLst>
            </p:cNvPr>
            <p:cNvSpPr/>
            <p:nvPr/>
          </p:nvSpPr>
          <p:spPr>
            <a:xfrm>
              <a:off x="4712642" y="4231256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6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0579FF8-D4AB-4D04-5378-45FD8C89EF36}"/>
                </a:ext>
              </a:extLst>
            </p:cNvPr>
            <p:cNvSpPr txBox="1"/>
            <p:nvPr/>
          </p:nvSpPr>
          <p:spPr>
            <a:xfrm>
              <a:off x="5265051" y="4275190"/>
              <a:ext cx="259878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0433FF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更多</a:t>
              </a:r>
              <a:r>
                <a:rPr lang="en-US" altLang="zh-CN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Ascend C</a:t>
              </a: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算子样例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599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A8790-F158-D9D0-FEE5-5D027BE5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F2FB617A-79CF-B519-C961-F689DA0C0E5E}"/>
              </a:ext>
            </a:extLst>
          </p:cNvPr>
          <p:cNvSpPr txBox="1">
            <a:spLocks/>
          </p:cNvSpPr>
          <p:nvPr/>
        </p:nvSpPr>
        <p:spPr>
          <a:xfrm>
            <a:off x="2389672" y="411900"/>
            <a:ext cx="741741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编程范式开发自定义算子流程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CCC3C1E-72F5-198B-E3EB-EFCDEBF81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815" y="2235436"/>
            <a:ext cx="3417152" cy="290929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C198808-50E5-FBF5-8C7B-8CB217B12252}"/>
              </a:ext>
            </a:extLst>
          </p:cNvPr>
          <p:cNvSpPr txBox="1"/>
          <p:nvPr/>
        </p:nvSpPr>
        <p:spPr>
          <a:xfrm>
            <a:off x="1443795" y="2275689"/>
            <a:ext cx="5647118" cy="2828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6000" indent="-1260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算子分析</a:t>
            </a:r>
            <a:r>
              <a:rPr lang="zh-CN" altLang="en-US" sz="12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是进行编程的前置任务，负责明确自定义算子的各项需求，如输入输出、使用</a:t>
            </a:r>
            <a:r>
              <a:rPr lang="en-US" altLang="zh-CN" sz="12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2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接口等；</a:t>
            </a:r>
            <a:endParaRPr lang="en-US" altLang="zh-CN" sz="1200" b="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核函数的定义和封装</a:t>
            </a:r>
            <a:r>
              <a:rPr lang="zh-CN" altLang="en-US" sz="12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是编程的第一步，负责声明核函数的名称，并提供进入核函数运算逻辑的接口；</a:t>
            </a:r>
            <a:endParaRPr lang="en-US" altLang="zh-CN" sz="1200" b="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基于算子需求实现算子类</a:t>
            </a:r>
            <a:r>
              <a:rPr lang="zh-CN" altLang="en-US" sz="12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是整个核函数的核心计算逻辑，其由被分为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内存初始化、数据搬入、算子计算逻辑实现、数据搬出</a:t>
            </a:r>
            <a:r>
              <a:rPr lang="zh-CN" altLang="en-US" sz="12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四个部分，后三者被又被称为算子的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实现流程</a:t>
            </a:r>
            <a:r>
              <a:rPr lang="zh-CN" altLang="en-US" sz="1200" b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94369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E906-883D-5758-9787-9EC3285DD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0A04F821-2C79-80A6-4B2C-CEB35EFA5EF7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2">
                <a:extLst>
                  <a:ext uri="{FF2B5EF4-FFF2-40B4-BE49-F238E27FC236}">
                    <a16:creationId xmlns:a16="http://schemas.microsoft.com/office/drawing/2014/main" id="{3B008326-FEF4-A0B3-8575-D47A8AC223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00011" y="1158005"/>
                <a:ext cx="7996741" cy="49991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 marL="296950" indent="-296950" algn="l" defTabSz="1187798" rtl="0" eaLnBrk="1" latinLnBrk="0" hangingPunct="1">
                  <a:lnSpc>
                    <a:spcPct val="90000"/>
                  </a:lnSpc>
                  <a:spcBef>
                    <a:spcPts val="1299"/>
                  </a:spcBef>
                  <a:buFont typeface="Arial" panose="020B0604020202020204" pitchFamily="34" charset="0"/>
                  <a:buChar char="•"/>
                  <a:defRPr sz="3636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90849" indent="-296950" algn="l" defTabSz="1187798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311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484748" indent="-296950" algn="l" defTabSz="1187798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259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078648" indent="-296950" algn="l" defTabSz="1187798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233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672547" indent="-296950" algn="l" defTabSz="1187798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233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266447" indent="-296950" algn="l" defTabSz="1187798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233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860346" indent="-296950" algn="l" defTabSz="1187798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233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454245" indent="-296950" algn="l" defTabSz="1187798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233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048144" indent="-296950" algn="l" defTabSz="1187798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233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defTabSz="757123">
                  <a:lnSpc>
                    <a:spcPct val="150000"/>
                  </a:lnSpc>
                  <a:spcBef>
                    <a:spcPts val="0"/>
                  </a:spcBef>
                  <a:buNone/>
                  <a:defRPr sz="1840"/>
                </a:pPr>
                <a:r>
                  <a:rPr lang="zh-CN" altLang="en-US" sz="1800" b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明确算子的数学表达式</a:t>
                </a:r>
              </a:p>
              <a:p>
                <a:pPr marL="126000" lvl="1" indent="-126000" defTabSz="757123"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  <a:defRPr sz="1840" b="0">
                    <a:solidFill>
                      <a:srgbClr val="FF0000"/>
                    </a:solidFill>
                  </a:defRPr>
                </a:pPr>
                <a:r>
                  <a:rPr lang="en-US" altLang="zh-CN" sz="1200" b="1" dirty="0" err="1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add_custom</a:t>
                </a: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算子的数学表达式为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：</a:t>
                </a:r>
                <a:r>
                  <a:rPr lang="zh-CN" altLang="en-US" sz="12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1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zh-CN" altLang="en-US" sz="12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𝑧</m:t>
                        </m:r>
                      </m:e>
                    </m:acc>
                    <m:r>
                      <a:rPr lang="en-US" altLang="zh-CN" sz="12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zh-CN" altLang="en-US" sz="1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zh-CN" altLang="en-US" sz="12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  <m:r>
                      <a:rPr lang="en-US" altLang="zh-CN" sz="12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zh-CN" altLang="en-US" sz="1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zh-CN" altLang="en-US" sz="12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sz="12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  <a:endPara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0" indent="0" defTabSz="757123">
                  <a:lnSpc>
                    <a:spcPct val="150000"/>
                  </a:lnSpc>
                  <a:spcBef>
                    <a:spcPts val="0"/>
                  </a:spcBef>
                  <a:buNone/>
                  <a:defRPr sz="1840"/>
                </a:pPr>
                <a:r>
                  <a:rPr lang="zh-CN" altLang="en-US" sz="1800" b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明确输入和输出</a:t>
                </a:r>
                <a:endParaRPr lang="zh-CN" altLang="en-US" sz="18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126000" lvl="1" indent="-126000" defTabSz="757123">
                  <a:lnSpc>
                    <a:spcPct val="150000"/>
                  </a:lnSpc>
                  <a:spcBef>
                    <a:spcPts val="0"/>
                  </a:spcBef>
                  <a:defRPr sz="1840" b="0">
                    <a:solidFill>
                      <a:srgbClr val="FF0000"/>
                    </a:solidFill>
                  </a:defRPr>
                </a:pPr>
                <a:r>
                  <a:rPr lang="en-US" altLang="zh-CN" sz="1200" b="1" dirty="0" err="1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add_custom</a:t>
                </a: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算子有两个输入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：</a:t>
                </a:r>
                <a:r>
                  <a:rPr lang="zh-CN" altLang="en-US" sz="1200" dirty="0">
                    <a:solidFill>
                      <a:srgbClr val="FF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1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zh-CN" altLang="en-US" sz="12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1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zh-CN" altLang="en-US" sz="12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𝑦</m:t>
                        </m:r>
                      </m:e>
                    </m:acc>
                    <m:r>
                      <a:rPr lang="zh-CN" altLang="en-US" sz="12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输出为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1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zh-CN" altLang="en-US" sz="12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𝑧</m:t>
                        </m:r>
                      </m:e>
                    </m:acc>
                    <m:r>
                      <a:rPr lang="zh-CN" altLang="en-US" sz="12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</a:p>
              <a:p>
                <a:pPr marL="126000" lvl="1" indent="-126000" defTabSz="757123">
                  <a:lnSpc>
                    <a:spcPct val="150000"/>
                  </a:lnSpc>
                  <a:spcBef>
                    <a:spcPts val="0"/>
                  </a:spcBef>
                  <a:defRPr sz="1840" b="0">
                    <a:solidFill>
                      <a:srgbClr val="000000"/>
                    </a:solidFill>
                  </a:defRPr>
                </a:pP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输入数据类型为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half</a:t>
                </a: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，输出数据类型与输入数据类型相同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</a:p>
              <a:p>
                <a:pPr marL="126000" lvl="1" indent="-126000" defTabSz="757123">
                  <a:lnSpc>
                    <a:spcPct val="150000"/>
                  </a:lnSpc>
                  <a:spcBef>
                    <a:spcPts val="0"/>
                  </a:spcBef>
                  <a:defRPr sz="1840" b="0">
                    <a:solidFill>
                      <a:srgbClr val="000000"/>
                    </a:solidFill>
                  </a:defRPr>
                </a:pP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输入支持固定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shape</a:t>
                </a: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(8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2048)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输出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shape</a:t>
                </a: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与输入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shape</a:t>
                </a: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相同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</a:p>
              <a:p>
                <a:pPr marL="126000" lvl="1" indent="-126000" defTabSz="757123"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  <a:defRPr sz="1840" b="0">
                    <a:solidFill>
                      <a:srgbClr val="000000"/>
                    </a:solidFill>
                  </a:defRPr>
                </a:pP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输入数据排布类型为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ND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</a:p>
              <a:p>
                <a:pPr marL="0" indent="0" defTabSz="757123">
                  <a:lnSpc>
                    <a:spcPct val="150000"/>
                  </a:lnSpc>
                  <a:spcBef>
                    <a:spcPts val="0"/>
                  </a:spcBef>
                  <a:buNone/>
                  <a:defRPr sz="1840"/>
                </a:pPr>
                <a:r>
                  <a:rPr lang="zh-CN" altLang="en-US" sz="1800" b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确定核函数名称和参数</a:t>
                </a:r>
                <a:endParaRPr lang="zh-CN" altLang="en-US" sz="18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126000" lvl="1" indent="-126000" defTabSz="757123">
                  <a:lnSpc>
                    <a:spcPct val="150000"/>
                  </a:lnSpc>
                  <a:spcBef>
                    <a:spcPts val="0"/>
                  </a:spcBef>
                  <a:defRPr sz="1840" b="0">
                    <a:solidFill>
                      <a:srgbClr val="000000"/>
                    </a:solidFill>
                  </a:defRPr>
                </a:pP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自定义核函数如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add_custom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。根据输入输出以及数据切分需要，确定核函数有</a:t>
                </a: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3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个入参</a:t>
                </a: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x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y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z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</a:p>
              <a:p>
                <a:pPr marL="126000" lvl="1" indent="-126000" defTabSz="757123">
                  <a:lnSpc>
                    <a:spcPct val="150000"/>
                  </a:lnSpc>
                  <a:spcBef>
                    <a:spcPts val="0"/>
                  </a:spcBef>
                  <a:defRPr sz="1840" b="0">
                    <a:solidFill>
                      <a:srgbClr val="000000"/>
                    </a:solidFill>
                  </a:defRPr>
                </a:pP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x</a:t>
                </a: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y</a:t>
                </a: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为输入在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Global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Memory</a:t>
                </a: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上的内存地址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</a:p>
              <a:p>
                <a:pPr marL="126000" lvl="1" indent="-126000" defTabSz="757123"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  <a:defRPr sz="1840" b="0">
                    <a:solidFill>
                      <a:srgbClr val="000000"/>
                    </a:solidFill>
                  </a:defRPr>
                </a:pP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z</a:t>
                </a: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为输出在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Global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Memory</a:t>
                </a:r>
                <a:r>
                  <a:rPr lang="zh-CN" altLang="en-US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上的内存地址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</a:p>
              <a:p>
                <a:pPr marL="0" indent="0" defTabSz="757123">
                  <a:lnSpc>
                    <a:spcPct val="150000"/>
                  </a:lnSpc>
                  <a:spcBef>
                    <a:spcPts val="0"/>
                  </a:spcBef>
                  <a:buNone/>
                  <a:defRPr sz="1840"/>
                </a:pPr>
                <a:r>
                  <a:rPr lang="zh-CN" altLang="en-US" sz="1800" b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确定算子实现所需接口</a:t>
                </a:r>
              </a:p>
              <a:p>
                <a:pPr marL="126000" lvl="2" indent="-126000" defTabSz="757123">
                  <a:lnSpc>
                    <a:spcPct val="150000"/>
                  </a:lnSpc>
                  <a:spcBef>
                    <a:spcPts val="0"/>
                  </a:spcBef>
                  <a:defRPr sz="1840" b="0">
                    <a:solidFill>
                      <a:srgbClr val="000000"/>
                    </a:solidFill>
                  </a:defRPr>
                </a:pP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使用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DataCopy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来实现数据搬移；</a:t>
                </a:r>
              </a:p>
              <a:p>
                <a:pPr marL="126000" lvl="2" indent="-126000" defTabSz="757123">
                  <a:lnSpc>
                    <a:spcPct val="150000"/>
                  </a:lnSpc>
                  <a:spcBef>
                    <a:spcPts val="0"/>
                  </a:spcBef>
                  <a:defRPr sz="1840" b="0">
                    <a:solidFill>
                      <a:srgbClr val="000000"/>
                    </a:solidFill>
                  </a:defRPr>
                </a:pP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由于向量计算实现较为简单，使用基础</a:t>
                </a: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API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完成计算逻辑的实现，在加法算子中使用双目指令接口</a:t>
                </a: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Add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实现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1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1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1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zh-CN" altLang="en-US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12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zh-CN" altLang="en-US" sz="12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；</a:t>
                </a:r>
              </a:p>
              <a:p>
                <a:pPr marL="126000" lvl="2" indent="-126000" defTabSz="757123">
                  <a:lnSpc>
                    <a:spcPct val="150000"/>
                  </a:lnSpc>
                  <a:spcBef>
                    <a:spcPts val="0"/>
                  </a:spcBef>
                  <a:defRPr sz="1840" b="0">
                    <a:solidFill>
                      <a:srgbClr val="000000"/>
                    </a:solidFill>
                  </a:defRPr>
                </a:pP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使用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EnQue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、</a:t>
                </a:r>
                <a:r>
                  <a:rPr lang="en-US" altLang="zh-CN" sz="12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DeQue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等接口对</a:t>
                </a:r>
                <a:r>
                  <a:rPr lang="en-US" altLang="zh-CN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Queue</a:t>
                </a:r>
                <a:r>
                  <a:rPr lang="zh-CN" altLang="en-US" sz="1200" dirty="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队列进行管理。</a:t>
                </a:r>
              </a:p>
            </p:txBody>
          </p:sp>
        </mc:Choice>
        <mc:Fallback xmlns="">
          <p:sp>
            <p:nvSpPr>
              <p:cNvPr id="2" name="文本占位符 2">
                <a:extLst>
                  <a:ext uri="{FF2B5EF4-FFF2-40B4-BE49-F238E27FC236}">
                    <a16:creationId xmlns:a16="http://schemas.microsoft.com/office/drawing/2014/main" id="{3B008326-FEF4-A0B3-8575-D47A8AC22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011" y="1158005"/>
                <a:ext cx="7996741" cy="4999189"/>
              </a:xfrm>
              <a:prstGeom prst="rect">
                <a:avLst/>
              </a:prstGeom>
              <a:blipFill>
                <a:blip r:embed="rId2"/>
                <a:stretch>
                  <a:fillRect l="-6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Picture 2">
            <a:extLst>
              <a:ext uri="{FF2B5EF4-FFF2-40B4-BE49-F238E27FC236}">
                <a16:creationId xmlns:a16="http://schemas.microsoft.com/office/drawing/2014/main" id="{AA548079-5120-9DEC-0B56-124F1F69B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566" y="1345721"/>
            <a:ext cx="1965073" cy="24240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9304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14F8C-09F4-8A7C-0BBD-67A04CBAA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8201EF4C-C2CE-DD3C-3A85-35350AF1C563}"/>
              </a:ext>
            </a:extLst>
          </p:cNvPr>
          <p:cNvSpPr txBox="1">
            <a:spLocks/>
          </p:cNvSpPr>
          <p:nvPr/>
        </p:nvSpPr>
        <p:spPr>
          <a:xfrm>
            <a:off x="4980125" y="41190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核函数声明</a:t>
            </a: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2F778C8D-E7AA-5E6C-4E63-4A6BFB7926C3}"/>
              </a:ext>
            </a:extLst>
          </p:cNvPr>
          <p:cNvSpPr txBox="1">
            <a:spLocks/>
          </p:cNvSpPr>
          <p:nvPr/>
        </p:nvSpPr>
        <p:spPr>
          <a:xfrm>
            <a:off x="590550" y="1663829"/>
            <a:ext cx="5085631" cy="395274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函数原型定义</a:t>
            </a:r>
          </a:p>
          <a:p>
            <a:pPr marL="126000" lvl="2" indent="-126000">
              <a:lnSpc>
                <a:spcPct val="15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本样例中，函数名为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</a:p>
          <a:p>
            <a:pPr marL="126000" lvl="2" indent="-126000">
              <a:lnSpc>
                <a:spcPct val="15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根据算子分析中对算子输入输出的分析，确定有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个参数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</a:p>
          <a:p>
            <a:pPr marL="126000" lvl="2" indent="-126000">
              <a:lnSpc>
                <a:spcPct val="15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使用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__global__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函数类型限定符来标识它是一个核函数，可以被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&lt;&lt;&lt;...&gt;&gt;&gt;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调用；</a:t>
            </a:r>
          </a:p>
          <a:p>
            <a:pPr marL="126000" lvl="2" indent="-126000">
              <a:lnSpc>
                <a:spcPct val="15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使用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函数类型限定符来标识该核函数在设备端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上执行；</a:t>
            </a:r>
          </a:p>
          <a:p>
            <a:pPr marL="126000" lvl="2" indent="-1260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此外，统一使用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GM_ADDR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宏修饰入参。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调用算子类的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</a:t>
            </a: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</a:t>
            </a: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算子类的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函数，完成内存初始化相关工作，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函数完成算子实现的核心逻辑。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SzPct val="120000"/>
              <a:buNone/>
              <a:defRPr sz="2000" b="1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Georgia"/>
              </a:rPr>
              <a:t>封装核函数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对核函数进行封装，得到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add_custom_do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函数，便于主程序调用。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0D6A87F-22C2-62D7-E074-57ABBF0C54F6}"/>
              </a:ext>
            </a:extLst>
          </p:cNvPr>
          <p:cNvGrpSpPr/>
          <p:nvPr/>
        </p:nvGrpSpPr>
        <p:grpSpPr>
          <a:xfrm>
            <a:off x="5760722" y="2593763"/>
            <a:ext cx="5845492" cy="2092881"/>
            <a:chOff x="5760722" y="2463393"/>
            <a:chExt cx="5845492" cy="2092881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17BE395-85AB-767D-05B0-DDF2CBD261F9}"/>
                </a:ext>
              </a:extLst>
            </p:cNvPr>
            <p:cNvSpPr txBox="1"/>
            <p:nvPr/>
          </p:nvSpPr>
          <p:spPr>
            <a:xfrm>
              <a:off x="5760722" y="2463393"/>
              <a:ext cx="5845492" cy="2092881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altLang="zh-CN" sz="1000" b="0" dirty="0">
                  <a:solidFill>
                    <a:srgbClr val="569CD6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extern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0" dirty="0">
                  <a:solidFill>
                    <a:srgbClr val="CE9178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"C"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__global__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__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aicore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__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0" dirty="0">
                  <a:solidFill>
                    <a:srgbClr val="569CD6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void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0" dirty="0" err="1">
                  <a:solidFill>
                    <a:srgbClr val="DCDCAA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add_custom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lang="en-US" altLang="zh-CN" sz="1000" b="0" dirty="0">
                  <a:solidFill>
                    <a:srgbClr val="4EC9B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GM_ADDR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x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, </a:t>
              </a:r>
              <a:r>
                <a:rPr lang="en-US" altLang="zh-CN" sz="1000" b="0" dirty="0">
                  <a:solidFill>
                    <a:srgbClr val="4EC9B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GM_ADDR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y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, </a:t>
              </a:r>
              <a:r>
                <a:rPr lang="en-US" altLang="zh-CN" sz="1000" b="0" dirty="0">
                  <a:solidFill>
                    <a:srgbClr val="4EC9B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GM_ADDR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z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){</a:t>
              </a:r>
            </a:p>
            <a:p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   </a:t>
              </a:r>
              <a:r>
                <a:rPr lang="en-US" altLang="zh-CN" sz="1000" b="0" dirty="0" err="1">
                  <a:solidFill>
                    <a:srgbClr val="4EC9B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KernelAdd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op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;</a:t>
              </a:r>
            </a:p>
            <a:p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op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.</a:t>
              </a:r>
              <a:r>
                <a:rPr lang="en-US" altLang="zh-CN" sz="1000" b="0" dirty="0" err="1">
                  <a:solidFill>
                    <a:srgbClr val="DCDCAA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Init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x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,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y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,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z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);</a:t>
              </a:r>
            </a:p>
            <a:p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  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op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.</a:t>
              </a:r>
              <a:r>
                <a:rPr lang="en-US" altLang="zh-CN" sz="1000" b="0" dirty="0" err="1">
                  <a:solidFill>
                    <a:srgbClr val="DCDCAA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Process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();</a:t>
              </a:r>
            </a:p>
            <a:p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}</a:t>
              </a:r>
            </a:p>
            <a:p>
              <a:r>
                <a:rPr lang="en-US" altLang="zh-CN" sz="1000" b="0" dirty="0">
                  <a:solidFill>
                    <a:srgbClr val="569CD6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#ifndef __CCE_KT_TEST__</a:t>
              </a:r>
            </a:p>
            <a:p>
              <a:endPara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sz="1000" b="0" dirty="0">
                  <a:solidFill>
                    <a:srgbClr val="6A9955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// call of kernel function</a:t>
              </a:r>
              <a:endPara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en-US" altLang="zh-CN" sz="1000" b="0" dirty="0">
                  <a:solidFill>
                    <a:srgbClr val="569CD6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void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0" dirty="0" err="1">
                  <a:solidFill>
                    <a:srgbClr val="DCDCAA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add_custom_do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lang="en-US" altLang="zh-CN" sz="1000" b="0" dirty="0">
                  <a:solidFill>
                    <a:srgbClr val="4EC9B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uint32_t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0" dirty="0" err="1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blockDim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, void* l2ctrl, void* stream, uint8_t* x, uint8_t* y, uint8_t* z)</a:t>
              </a:r>
            </a:p>
            <a:p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{</a:t>
              </a:r>
            </a:p>
            <a:p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   </a:t>
              </a:r>
              <a:r>
                <a:rPr lang="en-US" altLang="zh-CN" sz="1000" b="0" dirty="0" err="1">
                  <a:solidFill>
                    <a:srgbClr val="DCDCAA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add_custom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&lt;&lt;&lt;</a:t>
              </a:r>
              <a:r>
                <a:rPr lang="en-US" altLang="zh-CN" sz="1000" b="0" dirty="0" err="1">
                  <a:solidFill>
                    <a:srgbClr val="4EC9B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blockDim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, </a:t>
              </a:r>
              <a:r>
                <a:rPr lang="en-US" altLang="zh-CN" sz="1000" b="0" dirty="0">
                  <a:solidFill>
                    <a:srgbClr val="4EC9B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l2ctrl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, </a:t>
              </a:r>
              <a:r>
                <a:rPr lang="en-US" altLang="zh-CN" sz="1000" b="0" dirty="0">
                  <a:solidFill>
                    <a:srgbClr val="4EC9B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stream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&gt;&gt;&gt;(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x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,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y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,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z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);</a:t>
              </a:r>
            </a:p>
            <a:p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}</a:t>
              </a:r>
            </a:p>
            <a:p>
              <a:r>
                <a:rPr lang="en-US" altLang="zh-CN" sz="1000" b="0" dirty="0">
                  <a:solidFill>
                    <a:srgbClr val="569CD6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#endif</a:t>
              </a:r>
              <a:endPara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551500D-E4B8-E276-0CC8-49A1CA572A73}"/>
                </a:ext>
              </a:extLst>
            </p:cNvPr>
            <p:cNvSpPr/>
            <p:nvPr/>
          </p:nvSpPr>
          <p:spPr>
            <a:xfrm>
              <a:off x="5775960" y="2480645"/>
              <a:ext cx="5490211" cy="196776"/>
            </a:xfrm>
            <a:prstGeom prst="rect">
              <a:avLst/>
            </a:prstGeom>
            <a:noFill/>
            <a:ln w="12700" cap="flat">
              <a:solidFill>
                <a:srgbClr val="C00000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noAutofit/>
            </a:bodyPr>
            <a:lstStyle/>
            <a:p>
              <a:pPr marL="0" marR="0" indent="0" algn="l" defTabSz="914477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Huawei Sans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B1F16F3-C4FA-FFE5-9BAE-9670FC36E89B}"/>
                </a:ext>
              </a:extLst>
            </p:cNvPr>
            <p:cNvSpPr/>
            <p:nvPr/>
          </p:nvSpPr>
          <p:spPr>
            <a:xfrm>
              <a:off x="5775960" y="2799855"/>
              <a:ext cx="5490211" cy="196776"/>
            </a:xfrm>
            <a:prstGeom prst="rect">
              <a:avLst/>
            </a:prstGeom>
            <a:noFill/>
            <a:ln w="12700" cap="flat">
              <a:solidFill>
                <a:srgbClr val="C00000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noAutofit/>
            </a:bodyPr>
            <a:lstStyle/>
            <a:p>
              <a:pPr marL="0" marR="0" indent="0" algn="l" defTabSz="914477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Huawei Sans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85D61C5-70EF-E36C-F571-419DC21BFF28}"/>
                </a:ext>
              </a:extLst>
            </p:cNvPr>
            <p:cNvSpPr/>
            <p:nvPr/>
          </p:nvSpPr>
          <p:spPr>
            <a:xfrm>
              <a:off x="5775960" y="4023753"/>
              <a:ext cx="5490211" cy="196776"/>
            </a:xfrm>
            <a:prstGeom prst="rect">
              <a:avLst/>
            </a:prstGeom>
            <a:noFill/>
            <a:ln w="12700" cap="flat">
              <a:solidFill>
                <a:srgbClr val="C00000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noAutofit/>
            </a:bodyPr>
            <a:lstStyle/>
            <a:p>
              <a:pPr marL="0" marR="0" indent="0" algn="l" defTabSz="914477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Huawei Sans"/>
              </a:endParaRPr>
            </a:p>
          </p:txBody>
        </p:sp>
      </p:grpSp>
      <p:sp>
        <p:nvSpPr>
          <p:cNvPr id="7" name="直接箭头连接符 9">
            <a:extLst>
              <a:ext uri="{FF2B5EF4-FFF2-40B4-BE49-F238E27FC236}">
                <a16:creationId xmlns:a16="http://schemas.microsoft.com/office/drawing/2014/main" id="{098CA1BE-A5A4-1005-1946-65D090BB5578}"/>
              </a:ext>
            </a:extLst>
          </p:cNvPr>
          <p:cNvSpPr/>
          <p:nvPr/>
        </p:nvSpPr>
        <p:spPr>
          <a:xfrm flipH="1" flipV="1">
            <a:off x="2173857" y="1975396"/>
            <a:ext cx="3602102" cy="740121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直接箭头连接符 9">
            <a:extLst>
              <a:ext uri="{FF2B5EF4-FFF2-40B4-BE49-F238E27FC236}">
                <a16:creationId xmlns:a16="http://schemas.microsoft.com/office/drawing/2014/main" id="{5E6F8AAA-0B8A-026C-A43E-5B767E448C98}"/>
              </a:ext>
            </a:extLst>
          </p:cNvPr>
          <p:cNvSpPr/>
          <p:nvPr/>
        </p:nvSpPr>
        <p:spPr>
          <a:xfrm flipH="1">
            <a:off x="3968150" y="3051264"/>
            <a:ext cx="1807810" cy="1029218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pPr algn="ctr"/>
            <a:endParaRPr sz="140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直接箭头连接符 9">
            <a:extLst>
              <a:ext uri="{FF2B5EF4-FFF2-40B4-BE49-F238E27FC236}">
                <a16:creationId xmlns:a16="http://schemas.microsoft.com/office/drawing/2014/main" id="{40A00651-087B-E7B1-14F6-C3DE671B6C8E}"/>
              </a:ext>
            </a:extLst>
          </p:cNvPr>
          <p:cNvSpPr/>
          <p:nvPr/>
        </p:nvSpPr>
        <p:spPr>
          <a:xfrm flipH="1">
            <a:off x="1854679" y="4239839"/>
            <a:ext cx="3921280" cy="877826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6152D4-A856-2515-9314-E015F489E610}"/>
              </a:ext>
            </a:extLst>
          </p:cNvPr>
          <p:cNvSpPr txBox="1"/>
          <p:nvPr/>
        </p:nvSpPr>
        <p:spPr>
          <a:xfrm>
            <a:off x="5345070" y="2359466"/>
            <a:ext cx="381000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Huawei Sans"/>
              </a:rPr>
              <a:t>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85F17C-CDFC-C4C4-6ACB-45D00D623FC0}"/>
              </a:ext>
            </a:extLst>
          </p:cNvPr>
          <p:cNvSpPr txBox="1"/>
          <p:nvPr/>
        </p:nvSpPr>
        <p:spPr>
          <a:xfrm>
            <a:off x="5345070" y="2878760"/>
            <a:ext cx="381000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②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Huawei San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0BF674-CEA7-E0E4-51F6-8C6263A6A98F}"/>
              </a:ext>
            </a:extLst>
          </p:cNvPr>
          <p:cNvSpPr txBox="1"/>
          <p:nvPr/>
        </p:nvSpPr>
        <p:spPr>
          <a:xfrm>
            <a:off x="5345070" y="3963604"/>
            <a:ext cx="381000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③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Huawei Sans"/>
            </a:endParaRPr>
          </a:p>
        </p:txBody>
      </p:sp>
    </p:spTree>
    <p:extLst>
      <p:ext uri="{BB962C8B-B14F-4D97-AF65-F5344CB8AC3E}">
        <p14:creationId xmlns:p14="http://schemas.microsoft.com/office/powerpoint/2010/main" val="335577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37143-B25A-B402-B4AA-0DA4A293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D6164E93-54B8-E2C4-6908-742EABD696CD}"/>
              </a:ext>
            </a:extLst>
          </p:cNvPr>
          <p:cNvSpPr txBox="1">
            <a:spLocks/>
          </p:cNvSpPr>
          <p:nvPr/>
        </p:nvSpPr>
        <p:spPr>
          <a:xfrm>
            <a:off x="4774941" y="411900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算子数据通路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1E7A107-BD6E-2C03-C944-EE308F97B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030" y="1822201"/>
            <a:ext cx="8920702" cy="375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9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9F0E-F28E-7283-2294-11A3AF24E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8073FE26-12B6-84D0-19D8-8768D6F2DF28}"/>
              </a:ext>
            </a:extLst>
          </p:cNvPr>
          <p:cNvSpPr txBox="1">
            <a:spLocks/>
          </p:cNvSpPr>
          <p:nvPr/>
        </p:nvSpPr>
        <p:spPr>
          <a:xfrm>
            <a:off x="4774941" y="411900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算子切分策略</a:t>
            </a: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A202CA36-6785-97E0-A068-B17EFA4405B5}"/>
              </a:ext>
            </a:extLst>
          </p:cNvPr>
          <p:cNvSpPr txBox="1">
            <a:spLocks/>
          </p:cNvSpPr>
          <p:nvPr/>
        </p:nvSpPr>
        <p:spPr>
          <a:xfrm>
            <a:off x="2039834" y="1805797"/>
            <a:ext cx="8117094" cy="1167371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数据整体长度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TOTAL_LENGTH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8*2048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平均分配到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个核上运行，单核上处理的数据大小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BLOCK_LENGTH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2048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对于单核上的处理数据，进行数据切块，将数据切分成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块（并不意味着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块就是性能最优）；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切分后的每个数据块再次切分成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块，即可开启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double buffer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。此时每个数据块的长度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TILE_LENGTH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128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个数据。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26F898-3363-9530-086E-01248C29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730" y="3163278"/>
            <a:ext cx="6817302" cy="234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1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1AC6C-1618-28C2-D670-683ACCE35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9EBEBA3B-4510-3CBC-6829-179038D1FF8C}"/>
              </a:ext>
            </a:extLst>
          </p:cNvPr>
          <p:cNvSpPr txBox="1">
            <a:spLocks/>
          </p:cNvSpPr>
          <p:nvPr/>
        </p:nvSpPr>
        <p:spPr>
          <a:xfrm>
            <a:off x="3510171" y="411900"/>
            <a:ext cx="517641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算子类实现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算子类定义</a:t>
            </a: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92031CC0-17DD-7156-FA70-58A2AAAB7F1C}"/>
              </a:ext>
            </a:extLst>
          </p:cNvPr>
          <p:cNvSpPr txBox="1">
            <a:spLocks/>
          </p:cNvSpPr>
          <p:nvPr/>
        </p:nvSpPr>
        <p:spPr>
          <a:xfrm>
            <a:off x="590550" y="1956214"/>
            <a:ext cx="4506362" cy="3460306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  <a:defRPr b="0">
                <a:solidFill>
                  <a:srgbClr val="000000"/>
                </a:solidFill>
              </a:defRPr>
            </a:pP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算子类类名：</a:t>
            </a:r>
            <a:r>
              <a:rPr lang="en-US" altLang="zh-CN" sz="18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KernelAdd</a:t>
            </a:r>
            <a:endParaRPr lang="zh-CN" altLang="en-US" sz="1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  <a:defRPr b="0">
                <a:solidFill>
                  <a:srgbClr val="000000"/>
                </a:solidFill>
              </a:defRPr>
            </a:pP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初始化函数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Init()</a:t>
            </a: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和核心处理函数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Process()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  <a:defRPr b="0">
                <a:solidFill>
                  <a:srgbClr val="000000"/>
                </a:solidFill>
              </a:defRPr>
            </a:pP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三个流水线任务：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  <a:defRPr b="0">
                <a:solidFill>
                  <a:srgbClr val="FF0000"/>
                </a:solidFill>
              </a:defRPr>
            </a:pP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CopyIn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  <a:defRPr b="0">
                <a:solidFill>
                  <a:srgbClr val="FF0000"/>
                </a:solidFill>
              </a:defRPr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Compute()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b="0">
                <a:solidFill>
                  <a:srgbClr val="FF0000"/>
                </a:solidFill>
              </a:defRPr>
            </a:pP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CopyOut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  <a:defRPr b="0">
                <a:solidFill>
                  <a:srgbClr val="000000"/>
                </a:solidFill>
              </a:defRPr>
            </a:pP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内存管理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输入数据队列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VECIN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类型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输出数据队列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VECOUT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类型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外部存储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xGm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yGm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zGm</a:t>
            </a:r>
            <a:endParaRPr lang="zh-CN" altLang="en-US" sz="12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619FACBD-CFB3-7D48-5E5B-82A331D556C4}"/>
              </a:ext>
            </a:extLst>
          </p:cNvPr>
          <p:cNvSpPr txBox="1"/>
          <p:nvPr/>
        </p:nvSpPr>
        <p:spPr>
          <a:xfrm>
            <a:off x="5272698" y="1639653"/>
            <a:ext cx="5822644" cy="4093428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77">
              <a:defRPr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class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KernelAdd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public:</a:t>
            </a:r>
            <a:endParaRPr lang="en-US" altLang="zh-CN" sz="1000" dirty="0">
              <a:solidFill>
                <a:srgbClr val="D4D4D4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77">
              <a:defRPr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__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KernelAdd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 {}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2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// 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初始化函数，完成内存初始化相关操作</a:t>
            </a:r>
            <a:endParaRPr lang="zh-CN" altLang="en-US" sz="1000" dirty="0">
              <a:solidFill>
                <a:srgbClr val="D4D4D4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77"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(GM_ADDR x, GM_ADDR y, GM_ADDR z)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{}</a:t>
            </a:r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2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// 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核心处理函数，实现算子逻辑，调用私有成员函数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CopyIn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、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Compute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、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CopyOut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完成算子逻辑</a:t>
            </a:r>
          </a:p>
          <a:p>
            <a:pPr defTabSz="914477">
              <a:defRPr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 {}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b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</a:b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private: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2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// 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搬入函数，完成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CopyIn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阶段的处理，被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函数调用</a:t>
            </a:r>
          </a:p>
          <a:p>
            <a:pPr defTabSz="914477">
              <a:defRPr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CopyIn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int32_t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progress) {}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2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// 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计算函数，完成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Compute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阶段的处理，被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函数调用</a:t>
            </a:r>
          </a:p>
          <a:p>
            <a:pPr defTabSz="914477">
              <a:defRPr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Compute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int32_t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progress) {}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2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// 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搬出函数，完成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CopyOut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阶段的处理，被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函数调用</a:t>
            </a:r>
          </a:p>
          <a:p>
            <a:pPr defTabSz="914477">
              <a:defRPr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CopyOut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int32_t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progress) {}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b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</a:b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private: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2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// Pipe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内存管理对象</a:t>
            </a:r>
          </a:p>
          <a:p>
            <a:pPr defTabSz="914477">
              <a:defRPr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TPipe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pipe;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2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// 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输入数据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Queue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队列管理对象，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QuePosition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为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VECIN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TQue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QuePosition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::VECIN, BUFFER_NUM&gt;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inQueueX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inQueueY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2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// 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输出数据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Queue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队列管理对象，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QuePosition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为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VECOUT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TQue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0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QuePosition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::VECOUT, BUFFER_NUM&gt;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outQueueZ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2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// 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管理输入输出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 Memory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内存地址的对象，其中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xGm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yGm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为输入，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zGm</a:t>
            </a: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微软雅黑"/>
              </a:rPr>
              <a:t>为输出</a:t>
            </a:r>
          </a:p>
          <a:p>
            <a:pPr defTabSz="914477">
              <a:defRPr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GlobalTensor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&lt;half&gt;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xGm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yGm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zGm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1423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F333E-7A83-04AB-8F02-07D2CE546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F750ED13-9E8E-5336-86B3-CFDFFFA26F93}"/>
              </a:ext>
            </a:extLst>
          </p:cNvPr>
          <p:cNvSpPr txBox="1">
            <a:spLocks/>
          </p:cNvSpPr>
          <p:nvPr/>
        </p:nvSpPr>
        <p:spPr>
          <a:xfrm>
            <a:off x="3207204" y="411900"/>
            <a:ext cx="5782352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算子类实现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——Init()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函数实现</a:t>
            </a: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F924EAC0-95BA-D34A-33D3-FEEED97A705C}"/>
              </a:ext>
            </a:extLst>
          </p:cNvPr>
          <p:cNvSpPr txBox="1">
            <a:spLocks/>
          </p:cNvSpPr>
          <p:nvPr/>
        </p:nvSpPr>
        <p:spPr>
          <a:xfrm>
            <a:off x="764547" y="1930434"/>
            <a:ext cx="4645684" cy="33218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98271">
              <a:lnSpc>
                <a:spcPct val="150000"/>
              </a:lnSpc>
              <a:spcBef>
                <a:spcPts val="0"/>
              </a:spcBef>
              <a:buNone/>
              <a:defRPr sz="1940"/>
            </a:pPr>
            <a:r>
              <a:rPr lang="en-US" altLang="zh-CN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Init()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函数任务</a:t>
            </a:r>
          </a:p>
          <a:p>
            <a:pPr marL="126000" indent="-126000" defTabSz="79827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940">
                <a:solidFill>
                  <a:srgbClr val="0432FF"/>
                </a:solidFill>
              </a:defRPr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设置输入输出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Memory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内存地址。</a:t>
            </a:r>
          </a:p>
          <a:p>
            <a:pPr marL="126000" lvl="1" indent="-126000" defTabSz="798271">
              <a:lnSpc>
                <a:spcPct val="150000"/>
              </a:lnSpc>
              <a:spcBef>
                <a:spcPts val="0"/>
              </a:spcBef>
              <a:defRPr sz="1940"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以设置输入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Memory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上的内存偏移地址为例。</a:t>
            </a:r>
          </a:p>
          <a:p>
            <a:pPr marL="126000" lvl="1" indent="-126000" defTabSz="79827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sz="1940"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需要注意的是，因为本样例中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函数的入参统一设置为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uint8_t*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，这里需要强转成具体的数据类型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(__gm__ half*)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，再进行偏移。</a:t>
            </a:r>
          </a:p>
          <a:p>
            <a:pPr marL="126000" indent="-126000" defTabSz="798271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2"/>
              <a:defRPr sz="1940">
                <a:solidFill>
                  <a:srgbClr val="0432FF"/>
                </a:solidFill>
              </a:defRPr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通过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内存管理对象为输入输出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Queue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分配内存。</a:t>
            </a:r>
          </a:p>
          <a:p>
            <a:pPr marL="126000" lvl="1" indent="-126000" defTabSz="798271">
              <a:lnSpc>
                <a:spcPct val="150000"/>
              </a:lnSpc>
              <a:spcBef>
                <a:spcPts val="0"/>
              </a:spcBef>
              <a:defRPr sz="1940"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例如为输入数据队列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inQueneX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分配内存。</a:t>
            </a: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CE825BD9-6378-4BB3-39F2-6BDED0AD6F24}"/>
              </a:ext>
            </a:extLst>
          </p:cNvPr>
          <p:cNvSpPr txBox="1"/>
          <p:nvPr/>
        </p:nvSpPr>
        <p:spPr>
          <a:xfrm>
            <a:off x="5495664" y="2698785"/>
            <a:ext cx="5936551" cy="178510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__</a:t>
            </a:r>
            <a:r>
              <a:rPr lang="en-US" altLang="zh-CN" sz="1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aicore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__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inline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569CD6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void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dirty="0">
                <a:solidFill>
                  <a:srgbClr val="DCDCAA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Init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(GM_ADDR x, GM_ADDR y, GM_ADDR z)</a:t>
            </a:r>
            <a:endParaRPr lang="en-US" altLang="zh-CN" sz="1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{</a:t>
            </a:r>
            <a:endParaRPr lang="en-US" altLang="zh-CN" sz="1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    // get start index for current core, core parallel</a:t>
            </a:r>
            <a:endParaRPr lang="en-US" altLang="zh-CN" sz="1000" dirty="0">
              <a:solidFill>
                <a:srgbClr val="CCCCCC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   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xGm</a:t>
            </a:r>
            <a:r>
              <a:rPr lang="en-US" altLang="zh-CN" sz="1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SetGlobalBuffer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((__gm__ half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)x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BLOCK_LENGTH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GetBlockIdx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(), BLOCK_LENGTH);</a:t>
            </a:r>
            <a:endParaRPr lang="en-US" altLang="zh-CN" sz="1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   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yGm</a:t>
            </a:r>
            <a:r>
              <a:rPr lang="en-US" altLang="zh-CN" sz="1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SetGlobalBuffer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((__gm__ half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)y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BLOCK_LENGTH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GetBlockIdx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(), BLOCK_LENGTH);</a:t>
            </a:r>
            <a:endParaRPr lang="en-US" altLang="zh-CN" sz="1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   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zGm</a:t>
            </a:r>
            <a:r>
              <a:rPr lang="en-US" altLang="zh-CN" sz="1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SetGlobalBuffer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((__gm__ half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)z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BLOCK_LENGTH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GetBlockIdx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(), BLOCK_LENGTH);</a:t>
            </a:r>
            <a:endParaRPr lang="en-US" altLang="zh-CN" sz="1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    // pipe </a:t>
            </a:r>
            <a:r>
              <a:rPr lang="en-US" altLang="zh-CN" sz="1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alloc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memory to queue, the unit is Bytes</a:t>
            </a:r>
            <a:endParaRPr lang="en-US" altLang="zh-CN" sz="1000" dirty="0">
              <a:solidFill>
                <a:srgbClr val="CCCCCC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   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pipe</a:t>
            </a:r>
            <a:r>
              <a:rPr lang="en-US" altLang="zh-CN" sz="1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InitBuffer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inQueueX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BUFFER_NUM, TILE_LENGTH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569CD6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sizeof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(half));</a:t>
            </a:r>
            <a:endParaRPr lang="en-US" altLang="zh-CN" sz="1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   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pipe</a:t>
            </a:r>
            <a:r>
              <a:rPr lang="en-US" altLang="zh-CN" sz="1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InitBuffer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inQueueY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BUFFER_NUM, TILE_LENGTH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569CD6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sizeof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(half));</a:t>
            </a:r>
            <a:endParaRPr lang="en-US" altLang="zh-CN" sz="1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    </a:t>
            </a:r>
            <a:r>
              <a:rPr lang="en-US" altLang="zh-CN" sz="1000" dirty="0" err="1">
                <a:solidFill>
                  <a:srgbClr val="9CDCFE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pipe</a:t>
            </a:r>
            <a:r>
              <a:rPr lang="en-US" altLang="zh-CN" sz="1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dirty="0" err="1">
                <a:solidFill>
                  <a:srgbClr val="DCDCAA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InitBuffer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outQueueZ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BUFFER_NUM, TILE_LENGTH </a:t>
            </a:r>
            <a:r>
              <a:rPr lang="en-US" altLang="zh-CN" sz="1000" dirty="0">
                <a:solidFill>
                  <a:srgbClr val="D4D4D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dirty="0" err="1">
                <a:solidFill>
                  <a:srgbClr val="569CD6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sizeof</a:t>
            </a: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(half));</a:t>
            </a:r>
            <a:endParaRPr lang="en-US" altLang="zh-CN" sz="1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Helvetica"/>
            </a:endParaRPr>
          </a:p>
          <a:p>
            <a:pPr>
              <a:defRPr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lang="en-US" altLang="zh-CN" sz="1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}</a:t>
            </a:r>
          </a:p>
        </p:txBody>
      </p:sp>
      <p:sp>
        <p:nvSpPr>
          <p:cNvPr id="5" name="直接箭头连接符 9">
            <a:extLst>
              <a:ext uri="{FF2B5EF4-FFF2-40B4-BE49-F238E27FC236}">
                <a16:creationId xmlns:a16="http://schemas.microsoft.com/office/drawing/2014/main" id="{BF8EFEBB-15DB-0DE8-2FA5-6D6ACC318461}"/>
              </a:ext>
            </a:extLst>
          </p:cNvPr>
          <p:cNvSpPr/>
          <p:nvPr/>
        </p:nvSpPr>
        <p:spPr>
          <a:xfrm>
            <a:off x="4346316" y="2930104"/>
            <a:ext cx="1271998" cy="240634"/>
          </a:xfrm>
          <a:prstGeom prst="line">
            <a:avLst/>
          </a:prstGeom>
          <a:ln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直接箭头连接符 9">
            <a:extLst>
              <a:ext uri="{FF2B5EF4-FFF2-40B4-BE49-F238E27FC236}">
                <a16:creationId xmlns:a16="http://schemas.microsoft.com/office/drawing/2014/main" id="{B46C2D98-B1BC-3A96-E186-F07DDB324CAF}"/>
              </a:ext>
            </a:extLst>
          </p:cNvPr>
          <p:cNvSpPr/>
          <p:nvPr/>
        </p:nvSpPr>
        <p:spPr>
          <a:xfrm flipV="1">
            <a:off x="4425351" y="4399471"/>
            <a:ext cx="1492370" cy="240633"/>
          </a:xfrm>
          <a:prstGeom prst="line">
            <a:avLst/>
          </a:prstGeom>
          <a:ln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4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FA59-7A34-E831-8D28-539444DCA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960E10D6-E3D9-99CB-A6E5-3E9EDC68D657}"/>
              </a:ext>
            </a:extLst>
          </p:cNvPr>
          <p:cNvSpPr txBox="1">
            <a:spLocks/>
          </p:cNvSpPr>
          <p:nvPr/>
        </p:nvSpPr>
        <p:spPr>
          <a:xfrm>
            <a:off x="3011028" y="411900"/>
            <a:ext cx="6174704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算子类实现：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Process()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函数实现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499A5A8-A213-0D8E-EAF4-4D08EE815CEA}"/>
              </a:ext>
            </a:extLst>
          </p:cNvPr>
          <p:cNvGrpSpPr/>
          <p:nvPr/>
        </p:nvGrpSpPr>
        <p:grpSpPr>
          <a:xfrm>
            <a:off x="691675" y="1668515"/>
            <a:ext cx="4637088" cy="4097233"/>
            <a:chOff x="792801" y="2061834"/>
            <a:chExt cx="4637088" cy="4097233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DCEB8376-A0CD-430A-1633-F904F562A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0889" y="4254805"/>
              <a:ext cx="4520912" cy="1904262"/>
            </a:xfrm>
            <a:prstGeom prst="rect">
              <a:avLst/>
            </a:prstGeom>
          </p:spPr>
        </p:pic>
        <p:sp>
          <p:nvSpPr>
            <p:cNvPr id="3" name="矩形 4">
              <a:extLst>
                <a:ext uri="{FF2B5EF4-FFF2-40B4-BE49-F238E27FC236}">
                  <a16:creationId xmlns:a16="http://schemas.microsoft.com/office/drawing/2014/main" id="{ED6297D8-E928-55D7-6B57-E5D86C5F716D}"/>
                </a:ext>
              </a:extLst>
            </p:cNvPr>
            <p:cNvSpPr/>
            <p:nvPr/>
          </p:nvSpPr>
          <p:spPr>
            <a:xfrm>
              <a:off x="792801" y="2061834"/>
              <a:ext cx="4637088" cy="1818641"/>
            </a:xfrm>
            <a:prstGeom prst="rect">
              <a:avLst/>
            </a:prstGeom>
            <a:solidFill>
              <a:srgbClr val="000000"/>
            </a:solidFill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/>
            <a:p>
              <a:pPr defTabSz="914477">
                <a:defRPr sz="10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__</a:t>
              </a:r>
              <a:r>
                <a:rPr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aicore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__ </a:t>
              </a:r>
              <a:r>
                <a:rPr dirty="0">
                  <a:solidFill>
                    <a:srgbClr val="569CD6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inline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dirty="0">
                  <a:solidFill>
                    <a:srgbClr val="569CD6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void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dirty="0">
                  <a:solidFill>
                    <a:srgbClr val="DCDCAA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Process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()</a:t>
              </a:r>
              <a:endParaRPr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 defTabSz="914477">
                <a:defRPr sz="10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{</a:t>
              </a:r>
              <a:endParaRPr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 defTabSz="914477">
                <a:defRPr sz="10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   // </a:t>
              </a:r>
              <a:r>
                <a:rPr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微软雅黑"/>
                </a:rPr>
                <a:t>每次循环计算一个数据分块，计算单核上数据分块块数</a:t>
              </a:r>
              <a:endParaRPr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defTabSz="914477">
                <a:defRPr sz="10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   </a:t>
              </a:r>
              <a:r>
                <a:rPr dirty="0" err="1">
                  <a:solidFill>
                    <a:srgbClr val="569CD6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constexpr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dirty="0">
                  <a:solidFill>
                    <a:srgbClr val="569CD6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int32_t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loopCount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= TILE_NUM * BUFFER_NUM;</a:t>
              </a:r>
              <a:endParaRPr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 defTabSz="914477">
                <a:defRPr sz="10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   // </a:t>
              </a:r>
              <a:r>
                <a:rPr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微软雅黑"/>
                </a:rPr>
                <a:t>每次循环重复三步式过程</a:t>
              </a:r>
              <a:endParaRPr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defTabSz="914477">
                <a:defRPr sz="10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   </a:t>
              </a:r>
              <a:r>
                <a:rPr dirty="0">
                  <a:solidFill>
                    <a:srgbClr val="C586C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for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(</a:t>
              </a:r>
              <a:r>
                <a:rPr dirty="0">
                  <a:solidFill>
                    <a:srgbClr val="569CD6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int32_t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= </a:t>
              </a:r>
              <a:r>
                <a:rPr dirty="0">
                  <a:solidFill>
                    <a:srgbClr val="B5CEA8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; </a:t>
              </a:r>
              <a:r>
                <a:rPr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&lt; </a:t>
              </a:r>
              <a:r>
                <a:rPr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loopCount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; </a:t>
              </a:r>
              <a:r>
                <a:rPr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++) {</a:t>
              </a:r>
              <a:endParaRPr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 defTabSz="914477">
                <a:defRPr sz="10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       </a:t>
              </a:r>
              <a:r>
                <a:rPr dirty="0" err="1">
                  <a:solidFill>
                    <a:srgbClr val="DCDCAA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CopyIn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);</a:t>
              </a:r>
              <a:endParaRPr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 defTabSz="914477">
                <a:defRPr sz="10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       </a:t>
              </a:r>
              <a:r>
                <a:rPr dirty="0">
                  <a:solidFill>
                    <a:srgbClr val="DCDCAA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Compute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);</a:t>
              </a:r>
              <a:endParaRPr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 defTabSz="914477">
                <a:defRPr sz="10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       </a:t>
              </a:r>
              <a:r>
                <a:rPr dirty="0" err="1">
                  <a:solidFill>
                    <a:srgbClr val="DCDCAA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CopyOut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</a:t>
              </a: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);</a:t>
              </a:r>
              <a:endParaRPr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 defTabSz="914477">
                <a:defRPr sz="10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   }</a:t>
              </a:r>
              <a:endParaRPr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endParaRPr>
            </a:p>
            <a:p>
              <a:pPr defTabSz="914477">
                <a:defRPr sz="10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rPr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}</a:t>
              </a:r>
            </a:p>
          </p:txBody>
        </p:sp>
      </p:grpSp>
      <p:sp>
        <p:nvSpPr>
          <p:cNvPr id="5" name="矩形 6">
            <a:extLst>
              <a:ext uri="{FF2B5EF4-FFF2-40B4-BE49-F238E27FC236}">
                <a16:creationId xmlns:a16="http://schemas.microsoft.com/office/drawing/2014/main" id="{AED6C191-FE33-B342-350F-9759033AC4F4}"/>
              </a:ext>
            </a:extLst>
          </p:cNvPr>
          <p:cNvSpPr/>
          <p:nvPr/>
        </p:nvSpPr>
        <p:spPr>
          <a:xfrm>
            <a:off x="6368685" y="2886135"/>
            <a:ext cx="5136402" cy="205440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sz="85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85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850" dirty="0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Compute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85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int32_t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progress)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//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进入计算阶段，将输入数据从输入队列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VECIN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中取出</a:t>
            </a:r>
            <a:endParaRPr sz="85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&lt;half&gt;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inQueueX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DeQue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&lt;half&gt;();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&lt;half&gt;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inQueueY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DeQue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&lt;half&gt;();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sz="85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 </a:t>
            </a:r>
            <a:r>
              <a:rPr sz="850" dirty="0" err="1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分配板上</a:t>
            </a:r>
            <a:r>
              <a:rPr sz="850" dirty="0" err="1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</a:t>
            </a:r>
            <a:r>
              <a:rPr sz="850" dirty="0" err="1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数据空间</a:t>
            </a:r>
            <a:endParaRPr sz="850" dirty="0">
              <a:solidFill>
                <a:srgbClr val="6A995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&lt;half&gt;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outQueueZ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AllocTensor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&lt;half&gt;();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//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调用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：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，进行矢量加法运算</a:t>
            </a:r>
            <a:endParaRPr sz="85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TILE_LENGTH);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//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将输出结果放入输出队列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VECOUT</a:t>
            </a:r>
            <a:endParaRPr sz="85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outQueueZ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EnQue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&lt;half&gt;(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//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释放板上输入数据空间</a:t>
            </a:r>
            <a:endParaRPr sz="85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inQueueX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85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FreeTensor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inQueueY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85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FreeTensor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4" name="矩形 5">
            <a:extLst>
              <a:ext uri="{FF2B5EF4-FFF2-40B4-BE49-F238E27FC236}">
                <a16:creationId xmlns:a16="http://schemas.microsoft.com/office/drawing/2014/main" id="{DF8E23EA-84ED-0DBA-4621-EB961D78FA20}"/>
              </a:ext>
            </a:extLst>
          </p:cNvPr>
          <p:cNvSpPr/>
          <p:nvPr/>
        </p:nvSpPr>
        <p:spPr>
          <a:xfrm>
            <a:off x="6368685" y="1125538"/>
            <a:ext cx="5136402" cy="166199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sz="85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85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85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CopyIn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85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int32_t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progress)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//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分配板上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、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数据空间</a:t>
            </a:r>
            <a:endParaRPr sz="85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&lt;half&gt;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inQueueX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AllocTensor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&lt;half&gt;();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&lt;half&gt;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inQueueY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AllocTensor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&lt;half&gt;();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//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将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、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数据从外部存储拷贝进入内部存储，使用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：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DataCopy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  <a:endParaRPr sz="85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DataCopy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xGm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[progress * TILE_LENGTH], TILE_LENGTH);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DataCopy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yGm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[progress * TILE_LENGTH], TILE_LENGTH);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//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将板上输入数据放入输入队列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VECIN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中</a:t>
            </a:r>
            <a:endParaRPr sz="85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inQueueX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85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EnQue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inQueueY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85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EnQue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6" name="矩形 7">
            <a:extLst>
              <a:ext uri="{FF2B5EF4-FFF2-40B4-BE49-F238E27FC236}">
                <a16:creationId xmlns:a16="http://schemas.microsoft.com/office/drawing/2014/main" id="{65EE0E7B-17E3-E160-FF89-16B11F5FD1AD}"/>
              </a:ext>
            </a:extLst>
          </p:cNvPr>
          <p:cNvSpPr/>
          <p:nvPr/>
        </p:nvSpPr>
        <p:spPr>
          <a:xfrm>
            <a:off x="6368685" y="5039147"/>
            <a:ext cx="5136402" cy="1269578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sz="85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85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85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CopyOut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85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int32_t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progress)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//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将输出结果从输出队列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VECOUT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中取出</a:t>
            </a:r>
            <a:endParaRPr sz="85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LocalTensor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&lt;half&gt;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outQueueZ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DeQue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&lt;half&gt;();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//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将输出结果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从板上拷贝到外部存储，使用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：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DataCopy</a:t>
            </a:r>
            <a:endParaRPr sz="85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DataCopy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zGm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[progress * TILE_LENGTH],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TILE_LENGTH);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// 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释放板上输出数据空间</a:t>
            </a:r>
            <a:endParaRPr sz="850" dirty="0">
              <a:solidFill>
                <a:srgbClr val="CCCCCC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85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outQueueZ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85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FreeTensor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85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zLocal</a:t>
            </a: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85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defTabSz="914477">
              <a:defRPr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85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7" name="直接箭头连接符 8">
            <a:extLst>
              <a:ext uri="{FF2B5EF4-FFF2-40B4-BE49-F238E27FC236}">
                <a16:creationId xmlns:a16="http://schemas.microsoft.com/office/drawing/2014/main" id="{1AD16B80-D1AD-7B34-E388-BBAAABE8388D}"/>
              </a:ext>
            </a:extLst>
          </p:cNvPr>
          <p:cNvSpPr/>
          <p:nvPr/>
        </p:nvSpPr>
        <p:spPr>
          <a:xfrm flipV="1">
            <a:off x="5328759" y="1940942"/>
            <a:ext cx="1039926" cy="570862"/>
          </a:xfrm>
          <a:prstGeom prst="line">
            <a:avLst/>
          </a:prstGeom>
          <a:ln w="6350">
            <a:solidFill>
              <a:srgbClr val="C7000A"/>
            </a:solidFill>
            <a:miter/>
            <a:tailEnd type="triangle"/>
          </a:ln>
        </p:spPr>
        <p:txBody>
          <a:bodyPr lIns="45718" tIns="45718" rIns="45718" bIns="45718"/>
          <a:lstStyle/>
          <a:p>
            <a:endParaRPr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直接箭头连接符 9">
            <a:extLst>
              <a:ext uri="{FF2B5EF4-FFF2-40B4-BE49-F238E27FC236}">
                <a16:creationId xmlns:a16="http://schemas.microsoft.com/office/drawing/2014/main" id="{D0C3EA2E-22C3-B04F-94DC-4B6150B03901}"/>
              </a:ext>
            </a:extLst>
          </p:cNvPr>
          <p:cNvSpPr/>
          <p:nvPr/>
        </p:nvSpPr>
        <p:spPr>
          <a:xfrm>
            <a:off x="5328762" y="2511804"/>
            <a:ext cx="1039921" cy="1489955"/>
          </a:xfrm>
          <a:prstGeom prst="line">
            <a:avLst/>
          </a:prstGeom>
          <a:ln w="6350">
            <a:solidFill>
              <a:srgbClr val="C7000A"/>
            </a:solidFill>
            <a:miter/>
            <a:tailEnd type="triangle"/>
          </a:ln>
        </p:spPr>
        <p:txBody>
          <a:bodyPr lIns="45718" tIns="45718" rIns="45718" bIns="45718"/>
          <a:lstStyle/>
          <a:p>
            <a:endParaRPr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直接箭头连接符 10">
            <a:extLst>
              <a:ext uri="{FF2B5EF4-FFF2-40B4-BE49-F238E27FC236}">
                <a16:creationId xmlns:a16="http://schemas.microsoft.com/office/drawing/2014/main" id="{D91A4AE0-FA4E-7919-5CD3-D386C9CCA7E3}"/>
              </a:ext>
            </a:extLst>
          </p:cNvPr>
          <p:cNvSpPr/>
          <p:nvPr/>
        </p:nvSpPr>
        <p:spPr>
          <a:xfrm>
            <a:off x="5328759" y="2521733"/>
            <a:ext cx="1039923" cy="3232086"/>
          </a:xfrm>
          <a:prstGeom prst="line">
            <a:avLst/>
          </a:prstGeom>
          <a:ln w="6350">
            <a:solidFill>
              <a:srgbClr val="C7000A"/>
            </a:solidFill>
            <a:miter/>
            <a:tailEnd type="triangle"/>
          </a:ln>
        </p:spPr>
        <p:txBody>
          <a:bodyPr lIns="45718" tIns="45718" rIns="45718" bIns="45718"/>
          <a:lstStyle/>
          <a:p>
            <a:endParaRPr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65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8A0FF-D0D4-D3DE-4A0B-EBE7C295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2CA18980-DCB8-9E1A-4B96-0515831CC3BB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本章内容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85D3F15-B0AB-0D93-D324-82AD63397DBE}"/>
              </a:ext>
            </a:extLst>
          </p:cNvPr>
          <p:cNvSpPr/>
          <p:nvPr/>
        </p:nvSpPr>
        <p:spPr>
          <a:xfrm>
            <a:off x="4712642" y="1819025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CCF01FD-449D-7596-1A0A-53F079890F48}"/>
              </a:ext>
            </a:extLst>
          </p:cNvPr>
          <p:cNvSpPr txBox="1"/>
          <p:nvPr/>
        </p:nvSpPr>
        <p:spPr>
          <a:xfrm>
            <a:off x="5265051" y="1862959"/>
            <a:ext cx="21371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编程模型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7F9A384-C42B-61FE-8B10-8B6B2FB15998}"/>
              </a:ext>
            </a:extLst>
          </p:cNvPr>
          <p:cNvSpPr/>
          <p:nvPr/>
        </p:nvSpPr>
        <p:spPr>
          <a:xfrm>
            <a:off x="4712642" y="2506262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88B7D0-65BD-3F24-61EC-DB53EDA3B6FF}"/>
              </a:ext>
            </a:extLst>
          </p:cNvPr>
          <p:cNvSpPr txBox="1"/>
          <p:nvPr/>
        </p:nvSpPr>
        <p:spPr>
          <a:xfrm>
            <a:off x="5265051" y="2550196"/>
            <a:ext cx="21371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语法扩展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AACF2E6-8449-BD96-A157-CD10B47B7696}"/>
              </a:ext>
            </a:extLst>
          </p:cNvPr>
          <p:cNvGrpSpPr/>
          <p:nvPr/>
        </p:nvGrpSpPr>
        <p:grpSpPr>
          <a:xfrm>
            <a:off x="4712642" y="3193499"/>
            <a:ext cx="2122069" cy="457200"/>
            <a:chOff x="4712642" y="3544019"/>
            <a:chExt cx="2122069" cy="457200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80DC8559-92A9-7778-2026-4FACE29DEFA1}"/>
                </a:ext>
              </a:extLst>
            </p:cNvPr>
            <p:cNvSpPr/>
            <p:nvPr/>
          </p:nvSpPr>
          <p:spPr>
            <a:xfrm>
              <a:off x="4712642" y="3544019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F6FA2EA-C629-0220-A94E-13FDC4F18BE0}"/>
                </a:ext>
              </a:extLst>
            </p:cNvPr>
            <p:cNvSpPr txBox="1"/>
            <p:nvPr/>
          </p:nvSpPr>
          <p:spPr>
            <a:xfrm>
              <a:off x="5265051" y="3587953"/>
              <a:ext cx="156966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FF2600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向量编程范式</a:t>
              </a:r>
            </a:p>
          </p:txBody>
        </p:sp>
      </p:grp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17C1267-5173-7F65-3016-2467972ED77A}"/>
              </a:ext>
            </a:extLst>
          </p:cNvPr>
          <p:cNvSpPr/>
          <p:nvPr/>
        </p:nvSpPr>
        <p:spPr>
          <a:xfrm>
            <a:off x="4712642" y="3880736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73D0A24-DA1B-69F4-1CF4-BFE0F0AA4A7A}"/>
              </a:ext>
            </a:extLst>
          </p:cNvPr>
          <p:cNvSpPr txBox="1"/>
          <p:nvPr/>
        </p:nvSpPr>
        <p:spPr>
          <a:xfrm>
            <a:off x="5265051" y="3924670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矩阵编程范式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4601409-9592-8701-70A8-0543981B2923}"/>
              </a:ext>
            </a:extLst>
          </p:cNvPr>
          <p:cNvGrpSpPr/>
          <p:nvPr/>
        </p:nvGrpSpPr>
        <p:grpSpPr>
          <a:xfrm>
            <a:off x="4712642" y="4567973"/>
            <a:ext cx="2122069" cy="457200"/>
            <a:chOff x="4712642" y="3544019"/>
            <a:chExt cx="2122069" cy="457200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60F81191-282D-DAFD-458B-87C1B71756AF}"/>
                </a:ext>
              </a:extLst>
            </p:cNvPr>
            <p:cNvSpPr/>
            <p:nvPr/>
          </p:nvSpPr>
          <p:spPr>
            <a:xfrm>
              <a:off x="4712642" y="3544019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5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CA07F01-CBED-F46E-C9D0-038083AD5605}"/>
                </a:ext>
              </a:extLst>
            </p:cNvPr>
            <p:cNvSpPr txBox="1"/>
            <p:nvPr/>
          </p:nvSpPr>
          <p:spPr>
            <a:xfrm>
              <a:off x="5265051" y="3587953"/>
              <a:ext cx="156966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FF2600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混合编程范式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A2E4AB6-4E7C-3627-F32D-36EF2183EEDF}"/>
              </a:ext>
            </a:extLst>
          </p:cNvPr>
          <p:cNvGrpSpPr/>
          <p:nvPr/>
        </p:nvGrpSpPr>
        <p:grpSpPr>
          <a:xfrm>
            <a:off x="4712642" y="5255210"/>
            <a:ext cx="3151197" cy="457200"/>
            <a:chOff x="4712642" y="4231256"/>
            <a:chExt cx="3151197" cy="457200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B76A6C2B-01DC-67C8-1DA5-1DCE81B9F1ED}"/>
                </a:ext>
              </a:extLst>
            </p:cNvPr>
            <p:cNvSpPr/>
            <p:nvPr/>
          </p:nvSpPr>
          <p:spPr>
            <a:xfrm>
              <a:off x="4712642" y="4231256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6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43479C2-7202-3CEC-4695-37A3D7C3B190}"/>
                </a:ext>
              </a:extLst>
            </p:cNvPr>
            <p:cNvSpPr txBox="1"/>
            <p:nvPr/>
          </p:nvSpPr>
          <p:spPr>
            <a:xfrm>
              <a:off x="5265051" y="4275190"/>
              <a:ext cx="259878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0433FF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更多</a:t>
              </a:r>
              <a:r>
                <a:rPr lang="en-US" altLang="zh-CN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Ascend C</a:t>
              </a: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算子样例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907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19DE4-9655-C08D-B748-B7EFC968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F0340DDA-5661-8E72-CA95-0380C1E46F1F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矩阵乘法</a:t>
            </a: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FB1A9AB5-D0F5-AB72-B137-9C1A3CCF2DC1}"/>
              </a:ext>
            </a:extLst>
          </p:cNvPr>
          <p:cNvSpPr txBox="1">
            <a:spLocks/>
          </p:cNvSpPr>
          <p:nvPr/>
        </p:nvSpPr>
        <p:spPr>
          <a:xfrm>
            <a:off x="2384865" y="1893495"/>
            <a:ext cx="7427033" cy="1305870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的计算公式如下：</a:t>
            </a:r>
            <a:r>
              <a:rPr lang="en-US" altLang="zh-CN" sz="1800" b="1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1800" b="1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×</a:t>
            </a:r>
            <a:r>
              <a:rPr lang="en-US" altLang="zh-CN" sz="1800" b="1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B 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 Bias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。其中各个参数含义如下：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</a:pP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为源操作数，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为左矩阵，形状为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]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为右矩阵，形状为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]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</a:pP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为目的操作数，存放矩阵乘结果的矩阵，形状为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]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Bias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为矩阵乘偏置，形状为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[1,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]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69FAF2-ACD9-EDD3-487A-7F337C9E0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702" y="3447902"/>
            <a:ext cx="6253358" cy="17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04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E3D6D-5737-A864-AC75-55A53C6FA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C2AFBACD-5A04-BE22-F91C-14436BC8F2F5}"/>
              </a:ext>
            </a:extLst>
          </p:cNvPr>
          <p:cNvSpPr txBox="1">
            <a:spLocks/>
          </p:cNvSpPr>
          <p:nvPr/>
        </p:nvSpPr>
        <p:spPr>
          <a:xfrm>
            <a:off x="4159387" y="411900"/>
            <a:ext cx="387798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数据分块之多核切分</a:t>
            </a: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CF078BE4-9D05-240A-39D6-495F4E3986E9}"/>
              </a:ext>
            </a:extLst>
          </p:cNvPr>
          <p:cNvSpPr txBox="1">
            <a:spLocks/>
          </p:cNvSpPr>
          <p:nvPr/>
        </p:nvSpPr>
        <p:spPr>
          <a:xfrm>
            <a:off x="677208" y="2311748"/>
            <a:ext cx="5292272" cy="282968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为了实现多核并行，需要将矩阵数据进行切分，</a:t>
            </a:r>
            <a:endPara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分配到不同的核上进行处理。切分策略如下图所示：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对于矩阵</a:t>
            </a:r>
            <a:r>
              <a:rPr lang="en-US" altLang="zh-CN" sz="12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，沿着</a:t>
            </a:r>
            <a:r>
              <a:rPr lang="en-US" altLang="zh-CN" sz="12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 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轴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进行切分，切分成多份的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singleCoreM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，单核上处理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SingleCoreM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* </a:t>
            </a:r>
            <a:r>
              <a:rPr lang="en-US" altLang="zh-CN" sz="12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大小的数据。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对于矩阵</a:t>
            </a:r>
            <a:r>
              <a:rPr lang="en-US" altLang="zh-CN" sz="12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，沿着</a:t>
            </a:r>
            <a:r>
              <a:rPr lang="en-US" altLang="zh-CN" sz="12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轴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进行切分，切分成多份的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singleCoreN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，单核上处理</a:t>
            </a:r>
            <a:r>
              <a:rPr lang="en-US" altLang="zh-CN" sz="12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*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SingleCoreN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大小的数据。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对于矩阵</a:t>
            </a:r>
            <a:r>
              <a:rPr lang="en-US" altLang="zh-CN" sz="12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SingleCoreM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* </a:t>
            </a:r>
            <a:r>
              <a:rPr lang="en-US" altLang="zh-CN" sz="12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大小的矩阵</a:t>
            </a:r>
            <a:r>
              <a:rPr lang="en-US" altLang="zh-CN" sz="12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2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*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SingleCoreN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大小的矩阵</a:t>
            </a:r>
            <a:r>
              <a:rPr lang="en-US" altLang="zh-CN" sz="12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相乘得到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SingleCoreM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*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SingleCoreN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大小的矩阵</a:t>
            </a:r>
            <a:r>
              <a:rPr lang="en-US" altLang="zh-CN" sz="12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，即为单核上输出的矩阵</a:t>
            </a:r>
            <a:r>
              <a:rPr lang="en-US" altLang="zh-CN" sz="1200" i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大小。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16B623-FEAE-2355-CD23-8EE01F414C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8" r="2357"/>
          <a:stretch/>
        </p:blipFill>
        <p:spPr>
          <a:xfrm>
            <a:off x="6107501" y="2716211"/>
            <a:ext cx="5412053" cy="202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37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DDBBD-D102-C465-38C8-D63C48C9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1367785A-499B-EF0E-F094-AA81C2793562}"/>
              </a:ext>
            </a:extLst>
          </p:cNvPr>
          <p:cNvSpPr txBox="1">
            <a:spLocks/>
          </p:cNvSpPr>
          <p:nvPr/>
        </p:nvSpPr>
        <p:spPr>
          <a:xfrm>
            <a:off x="4159387" y="411900"/>
            <a:ext cx="387798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数据分块之核内切分</a:t>
            </a: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3169557A-D8CD-B900-51A0-A316BEDD2651}"/>
              </a:ext>
            </a:extLst>
          </p:cNvPr>
          <p:cNvSpPr txBox="1">
            <a:spLocks/>
          </p:cNvSpPr>
          <p:nvPr/>
        </p:nvSpPr>
        <p:spPr>
          <a:xfrm>
            <a:off x="754816" y="1796508"/>
            <a:ext cx="5780485" cy="37988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多数情况下，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Local Memory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的存储，无法完整地容纳算子的输入与输出，需要每次搬运一部分输入进行计算然后搬出，再搬运下一部分输入进行计算，直到得到完整的最终结果，也就是需要做核内的输入切分。切分的策略如下所示：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对于矩阵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，沿</a:t>
            </a:r>
            <a:r>
              <a:rPr lang="en-US" altLang="zh-CN" sz="1200" b="1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轴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进行切分，切分成多份的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baseM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；沿</a:t>
            </a:r>
            <a:r>
              <a:rPr lang="en-US" altLang="zh-CN" sz="1200" b="1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zh-CN" altLang="en-US" sz="1200" b="1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轴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进行切分，切分成多份的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baseK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对于矩阵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，沿</a:t>
            </a:r>
            <a:r>
              <a:rPr lang="en-US" altLang="zh-CN" sz="1200" b="1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zh-CN" altLang="en-US" sz="1200" b="1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轴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进行切分，切分成多份的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，沿</a:t>
            </a:r>
            <a:r>
              <a:rPr lang="en-US" altLang="zh-CN" sz="1200" b="1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zh-CN" altLang="en-US" sz="1200" b="1" i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轴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进行切分，切分成多份的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baseK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对于矩阵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，矩阵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baseM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* 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大小的分块和矩阵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 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baseK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* 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大小的分块相乘并累加，得到矩阵</a:t>
            </a:r>
            <a:r>
              <a:rPr lang="en-US" altLang="zh-CN" sz="12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中对应位置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baseM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* base 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大小的分块。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F39524-E6BB-9478-FE6F-4B040B7DC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767" y="2060741"/>
            <a:ext cx="4722180" cy="327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3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905EA-3E07-6E7F-56C7-AAF37283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F6449167-6E87-325F-8A90-A52516A4AD21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算子分析</a:t>
            </a: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F650420E-AB78-D00D-DC87-FA7D3597C596}"/>
              </a:ext>
            </a:extLst>
          </p:cNvPr>
          <p:cNvSpPr txBox="1">
            <a:spLocks/>
          </p:cNvSpPr>
          <p:nvPr/>
        </p:nvSpPr>
        <p:spPr>
          <a:xfrm>
            <a:off x="619182" y="1115809"/>
            <a:ext cx="5748877" cy="50453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48893">
              <a:lnSpc>
                <a:spcPct val="150000"/>
              </a:lnSpc>
              <a:spcBef>
                <a:spcPts val="0"/>
              </a:spcBef>
              <a:buNone/>
              <a:defRPr sz="1638"/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明确算子的数学表达式</a:t>
            </a:r>
          </a:p>
          <a:p>
            <a:pPr marL="126000" lvl="1" indent="-126000" defTabSz="748893">
              <a:lnSpc>
                <a:spcPct val="150000"/>
              </a:lnSpc>
              <a:spcBef>
                <a:spcPts val="0"/>
              </a:spcBef>
              <a:defRPr sz="1638" b="0">
                <a:solidFill>
                  <a:srgbClr val="FF0000"/>
                </a:solidFill>
              </a:defRPr>
            </a:pP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custom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算子的数学表达式为：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 a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* 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，实际意义为形状为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的矩阵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和形状为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</a:t>
            </a:r>
            <a:r>
              <a:rPr lang="zh-CN" altLang="en-US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的矩阵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相乘，得到形状为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</a:t>
            </a:r>
            <a:r>
              <a:rPr lang="zh-CN" altLang="en-US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的矩阵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。为了方便，令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m=k=n=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32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0" indent="0" defTabSz="748893">
              <a:lnSpc>
                <a:spcPct val="150000"/>
              </a:lnSpc>
              <a:spcBef>
                <a:spcPts val="0"/>
              </a:spcBef>
              <a:buNone/>
              <a:defRPr sz="1638"/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明确输入和输出</a:t>
            </a:r>
          </a:p>
          <a:p>
            <a:pPr marL="126000" lvl="1" indent="-126000" defTabSz="748893">
              <a:lnSpc>
                <a:spcPct val="150000"/>
              </a:lnSpc>
              <a:spcBef>
                <a:spcPts val="0"/>
              </a:spcBef>
              <a:defRPr sz="1638" b="0">
                <a:solidFill>
                  <a:srgbClr val="000000"/>
                </a:solidFill>
              </a:defRPr>
            </a:pP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matmul_custom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算子有两个输入：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，输出为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126000" lvl="1" indent="-126000" defTabSz="748893">
              <a:lnSpc>
                <a:spcPct val="150000"/>
              </a:lnSpc>
              <a:spcBef>
                <a:spcPts val="0"/>
              </a:spcBef>
              <a:defRPr sz="1638"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输入数据类型为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half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，输出数据类型为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float32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126000" lvl="1" indent="-126000" defTabSz="748893">
              <a:lnSpc>
                <a:spcPct val="150000"/>
              </a:lnSpc>
              <a:spcBef>
                <a:spcPts val="0"/>
              </a:spcBef>
              <a:defRPr sz="1638"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的形状均为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[32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32]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126000" lvl="1" indent="-126000" defTabSz="748893">
              <a:lnSpc>
                <a:spcPct val="150000"/>
              </a:lnSpc>
              <a:spcBef>
                <a:spcPts val="0"/>
              </a:spcBef>
              <a:defRPr sz="1638"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算子输入输出排布类型为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ND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0" indent="0" defTabSz="748893">
              <a:lnSpc>
                <a:spcPct val="150000"/>
              </a:lnSpc>
              <a:spcBef>
                <a:spcPts val="0"/>
              </a:spcBef>
              <a:buNone/>
              <a:defRPr sz="1638"/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确定核函数名称和参数</a:t>
            </a:r>
          </a:p>
          <a:p>
            <a:pPr marL="126000" lvl="1" indent="-126000" defTabSz="748893">
              <a:lnSpc>
                <a:spcPct val="150000"/>
              </a:lnSpc>
              <a:spcBef>
                <a:spcPts val="0"/>
              </a:spcBef>
              <a:defRPr sz="1729" b="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自定义核函数如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matmul_custom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。根据输入输出，确定核函数有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个入参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marL="126000" lvl="1" indent="-126000" defTabSz="748893">
              <a:lnSpc>
                <a:spcPct val="150000"/>
              </a:lnSpc>
              <a:spcBef>
                <a:spcPts val="0"/>
              </a:spcBef>
              <a:defRPr sz="1638" b="0">
                <a:solidFill>
                  <a:srgbClr val="000000"/>
                </a:solidFill>
              </a:defRPr>
            </a:pP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为输入在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Memory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上的内存地址，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为输出在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Memory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上的内存地址。</a:t>
            </a:r>
          </a:p>
          <a:p>
            <a:pPr marL="0" lvl="1" indent="0" defTabSz="748893">
              <a:lnSpc>
                <a:spcPct val="150000"/>
              </a:lnSpc>
              <a:spcBef>
                <a:spcPts val="0"/>
              </a:spcBef>
              <a:buSzPct val="120000"/>
              <a:buNone/>
              <a:defRPr sz="1638"/>
            </a:pPr>
            <a:r>
              <a:rPr lang="en-US" altLang="zh-CN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接口</a:t>
            </a:r>
          </a:p>
          <a:p>
            <a:pPr marL="126000" lvl="1" indent="-126000" defTabSz="748893">
              <a:lnSpc>
                <a:spcPct val="150000"/>
              </a:lnSpc>
              <a:spcBef>
                <a:spcPts val="0"/>
              </a:spcBef>
              <a:defRPr sz="1638" b="0">
                <a:solidFill>
                  <a:srgbClr val="000000"/>
                </a:solidFill>
              </a:defRPr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提供一组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高阶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，封装了这些常用的切分和数据搬运、计算的算法逻辑，方便用户快速实现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矩阵乘法的运算操作。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494443-5324-B0EF-632A-B3EA2B6E4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665" y="2053029"/>
            <a:ext cx="5135916" cy="317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9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D7999-E569-E6D4-F4E9-E68F164E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ED471100-D2A7-E6F6-EE61-0CE642C19FF0}"/>
              </a:ext>
            </a:extLst>
          </p:cNvPr>
          <p:cNvSpPr txBox="1">
            <a:spLocks/>
          </p:cNvSpPr>
          <p:nvPr/>
        </p:nvSpPr>
        <p:spPr>
          <a:xfrm>
            <a:off x="3659250" y="411900"/>
            <a:ext cx="4878259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侧开发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9C44BE-E206-CEB0-325A-570BC1CB9D75}"/>
              </a:ext>
            </a:extLst>
          </p:cNvPr>
          <p:cNvSpPr txBox="1"/>
          <p:nvPr/>
        </p:nvSpPr>
        <p:spPr>
          <a:xfrm>
            <a:off x="5000081" y="1943581"/>
            <a:ext cx="6235200" cy="3631762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txBody>
          <a:bodyPr wrap="square">
            <a:noAutofit/>
          </a:bodyPr>
          <a:lstStyle/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class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MatmulKernel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{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public: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Huawei Sans"/>
            </a:endParaRP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  __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aicore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__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inline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MatmulKernel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(){};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  __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aicore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__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inline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void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Init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(GM_ADDR a, GM_ADDR b, GM_ADDR bias, GM_ADDR c, GM_ADDR workspace,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const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TCubeTiling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&amp;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tiling);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  __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aicore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__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inline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void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Process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();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private: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Huawei Sans"/>
            </a:endParaRP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  __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aicore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__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inline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void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CalcOffset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(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int32_t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blockIdx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,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const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TCubeTiling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&amp;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tiling,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int32_t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&amp;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offsetA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,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int32_t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&amp;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offsetB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,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int32_t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&amp;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offsetC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,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int32_t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&amp;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offsetBias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);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</a:b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 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Matmul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&lt;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MatmulType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&lt;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TPosition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::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GM,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CubeFormat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::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ND,aType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&gt;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,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 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MatmulType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&lt;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TPosition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::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GM,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CubeFormat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::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ND,bType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&gt;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,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 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MatmulType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&lt;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TPosition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::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LCM,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CubeFormat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::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ND,cType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&gt;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,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 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MatmulType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&lt;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TPosition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::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GM,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CubeFormat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::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ND,biasType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&gt;&gt;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matmulObj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;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</a:b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 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GlobalTensor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&lt;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aType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&gt;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aGlobal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;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 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GlobalTensor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&lt;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bType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&gt;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bGlobal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;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 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GlobalTensor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&lt;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cType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&gt;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cGlobal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;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 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GlobalTensor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&lt;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biasType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&gt;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biasGlobal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;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 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TPipe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pipe;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  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TCubeTiling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 tiling;</a:t>
            </a:r>
          </a:p>
          <a:p>
            <a:pPr marL="0" marR="0" lvl="0" indent="0" defTabSz="914477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Huawei Sans"/>
              </a:rPr>
              <a:t>  };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4249CE-3A00-0495-763E-50F6F532F1A6}"/>
              </a:ext>
            </a:extLst>
          </p:cNvPr>
          <p:cNvSpPr/>
          <p:nvPr/>
        </p:nvSpPr>
        <p:spPr>
          <a:xfrm>
            <a:off x="961481" y="1903014"/>
            <a:ext cx="2925634" cy="849259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定义公有类成员函数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719B13-6CC5-32F4-9A43-A173E0F60038}"/>
              </a:ext>
            </a:extLst>
          </p:cNvPr>
          <p:cNvSpPr/>
          <p:nvPr/>
        </p:nvSpPr>
        <p:spPr>
          <a:xfrm>
            <a:off x="961481" y="2844037"/>
            <a:ext cx="2925634" cy="849259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定义私有类成员函数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（计算各核使用数据偏移）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BC1597F-F72B-7979-6B61-B37EA66E6FDA}"/>
              </a:ext>
            </a:extLst>
          </p:cNvPr>
          <p:cNvSpPr/>
          <p:nvPr/>
        </p:nvSpPr>
        <p:spPr>
          <a:xfrm>
            <a:off x="961481" y="3785060"/>
            <a:ext cx="2925634" cy="849259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定义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Matmul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类结构体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存储本算子的输入输出等参数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529DDC-E4E7-1938-4457-4368968B5B92}"/>
              </a:ext>
            </a:extLst>
          </p:cNvPr>
          <p:cNvSpPr/>
          <p:nvPr/>
        </p:nvSpPr>
        <p:spPr>
          <a:xfrm>
            <a:off x="961481" y="4726084"/>
            <a:ext cx="2925634" cy="849259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定义其他相关私有成员</a:t>
            </a:r>
          </a:p>
        </p:txBody>
      </p:sp>
      <p:sp>
        <p:nvSpPr>
          <p:cNvPr id="13" name="直接箭头连接符 9">
            <a:extLst>
              <a:ext uri="{FF2B5EF4-FFF2-40B4-BE49-F238E27FC236}">
                <a16:creationId xmlns:a16="http://schemas.microsoft.com/office/drawing/2014/main" id="{4384C028-1D93-87C7-512E-CE7DFBA7AF9A}"/>
              </a:ext>
            </a:extLst>
          </p:cNvPr>
          <p:cNvSpPr/>
          <p:nvPr/>
        </p:nvSpPr>
        <p:spPr>
          <a:xfrm>
            <a:off x="3887117" y="2346388"/>
            <a:ext cx="1218284" cy="207031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pPr defTabSz="914477" hangingPunct="0"/>
            <a:endParaRPr ker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Huawei Sans"/>
            </a:endParaRPr>
          </a:p>
        </p:txBody>
      </p:sp>
      <p:sp>
        <p:nvSpPr>
          <p:cNvPr id="16" name="直接箭头连接符 9">
            <a:extLst>
              <a:ext uri="{FF2B5EF4-FFF2-40B4-BE49-F238E27FC236}">
                <a16:creationId xmlns:a16="http://schemas.microsoft.com/office/drawing/2014/main" id="{4FEBAF35-3F65-1291-DF42-370169B676BF}"/>
              </a:ext>
            </a:extLst>
          </p:cNvPr>
          <p:cNvSpPr/>
          <p:nvPr/>
        </p:nvSpPr>
        <p:spPr>
          <a:xfrm flipV="1">
            <a:off x="3887115" y="3195646"/>
            <a:ext cx="1218285" cy="89702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pPr defTabSz="914477" hangingPunct="0"/>
            <a:endParaRPr ker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Huawei Sans"/>
            </a:endParaRPr>
          </a:p>
        </p:txBody>
      </p:sp>
      <p:sp>
        <p:nvSpPr>
          <p:cNvPr id="18" name="直接箭头连接符 9">
            <a:extLst>
              <a:ext uri="{FF2B5EF4-FFF2-40B4-BE49-F238E27FC236}">
                <a16:creationId xmlns:a16="http://schemas.microsoft.com/office/drawing/2014/main" id="{5676D152-8ABB-8266-9F60-F2FB0EC58177}"/>
              </a:ext>
            </a:extLst>
          </p:cNvPr>
          <p:cNvSpPr/>
          <p:nvPr/>
        </p:nvSpPr>
        <p:spPr>
          <a:xfrm flipV="1">
            <a:off x="3887118" y="3903132"/>
            <a:ext cx="1218284" cy="329122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pPr defTabSz="914477" hangingPunct="0"/>
            <a:endParaRPr ker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Huawei Sans"/>
            </a:endParaRPr>
          </a:p>
        </p:txBody>
      </p:sp>
      <p:sp>
        <p:nvSpPr>
          <p:cNvPr id="20" name="直接箭头连接符 9">
            <a:extLst>
              <a:ext uri="{FF2B5EF4-FFF2-40B4-BE49-F238E27FC236}">
                <a16:creationId xmlns:a16="http://schemas.microsoft.com/office/drawing/2014/main" id="{FDB7A2B0-03BD-AD44-214B-A9B89680B24E}"/>
              </a:ext>
            </a:extLst>
          </p:cNvPr>
          <p:cNvSpPr/>
          <p:nvPr/>
        </p:nvSpPr>
        <p:spPr>
          <a:xfrm flipV="1">
            <a:off x="3887117" y="4804909"/>
            <a:ext cx="1218285" cy="329122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pPr defTabSz="914477" hangingPunct="0"/>
            <a:endParaRPr ker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Huawei Sans"/>
            </a:endParaRPr>
          </a:p>
        </p:txBody>
      </p:sp>
    </p:spTree>
    <p:extLst>
      <p:ext uri="{BB962C8B-B14F-4D97-AF65-F5344CB8AC3E}">
        <p14:creationId xmlns:p14="http://schemas.microsoft.com/office/powerpoint/2010/main" val="36040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965EA-56E1-513B-8679-F54FE460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44B1878B-5180-03FC-43F6-54552032E1B4}"/>
              </a:ext>
            </a:extLst>
          </p:cNvPr>
          <p:cNvSpPr txBox="1">
            <a:spLocks/>
          </p:cNvSpPr>
          <p:nvPr/>
        </p:nvSpPr>
        <p:spPr>
          <a:xfrm>
            <a:off x="2395283" y="411900"/>
            <a:ext cx="7406194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侧开发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——Init()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A7760E-DBFE-E5AB-45DE-6D60AE739DC4}"/>
              </a:ext>
            </a:extLst>
          </p:cNvPr>
          <p:cNvSpPr txBox="1"/>
          <p:nvPr/>
        </p:nvSpPr>
        <p:spPr>
          <a:xfrm>
            <a:off x="878041" y="1943581"/>
            <a:ext cx="6234434" cy="3631763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template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&lt;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typename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typename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typename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typename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biasType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&gt;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__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aicore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__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inline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void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MatmulKernel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&lt;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biasType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&gt;::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Init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(GM_ADDR a, GM_ADDR b, GM_ADDR bias, GM_ADDR c, GM_ADDR workspace,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const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TCubeTiling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&amp;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tiling){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tiling;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aGlobal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SetGlobalBuffer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reinterpret_cast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&lt;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__gm__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aType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*&gt;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(a),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Ka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bGlobal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SetGlobalBuffer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reinterpret_cast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&lt;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__gm__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bType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*&gt;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(b),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Kb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cGlobal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SetGlobalBuffer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reinterpret_cast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&lt;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__gm__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cType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*&gt;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(c),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biasGlobal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SetGlobalBuffer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reinterpret_cast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&lt;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__gm__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biasType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*&gt;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(bias),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</a:p>
          <a:p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offsetA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offsetB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offsetC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offsetBias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CalcOffset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GetBlockIdx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(), tiling,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offsetA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offsetB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offsetC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offsetBias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aGlobal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aGlobal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[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offsetA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];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bGlobal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bGlobal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[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offsetB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];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cGlobal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cGlobal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[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offsetC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];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biasGlobal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biasGlobal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[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offsetBias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];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SetSysWorkspace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(workspace);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GetSysWorkSpacePtr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nullptr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    </a:t>
            </a:r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return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9C4692-B46E-73E5-1980-8D3BDC6521F0}"/>
              </a:ext>
            </a:extLst>
          </p:cNvPr>
          <p:cNvSpPr/>
          <p:nvPr/>
        </p:nvSpPr>
        <p:spPr>
          <a:xfrm>
            <a:off x="8393088" y="1943581"/>
            <a:ext cx="2925634" cy="1064351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查询入参的板外地址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1843DD-A658-7FD3-3AD3-27B246F4C9FB}"/>
              </a:ext>
            </a:extLst>
          </p:cNvPr>
          <p:cNvSpPr/>
          <p:nvPr/>
        </p:nvSpPr>
        <p:spPr>
          <a:xfrm>
            <a:off x="8393088" y="3227287"/>
            <a:ext cx="2925634" cy="1064351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根据所在核的编号计算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各入参对应偏移地址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C995C11-4003-252E-9CA9-863C71113173}"/>
              </a:ext>
            </a:extLst>
          </p:cNvPr>
          <p:cNvSpPr/>
          <p:nvPr/>
        </p:nvSpPr>
        <p:spPr>
          <a:xfrm>
            <a:off x="8393088" y="4510993"/>
            <a:ext cx="2925634" cy="1064351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分配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workspace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大小和空间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F2B9925-8D34-348C-4C49-36D405BBCD02}"/>
              </a:ext>
            </a:extLst>
          </p:cNvPr>
          <p:cNvCxnSpPr>
            <a:cxnSpLocks/>
          </p:cNvCxnSpPr>
          <p:nvPr/>
        </p:nvCxnSpPr>
        <p:spPr>
          <a:xfrm>
            <a:off x="6935638" y="2494724"/>
            <a:ext cx="1457450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78AE9E0-D64B-5FFD-E309-99A4C53FB3EF}"/>
              </a:ext>
            </a:extLst>
          </p:cNvPr>
          <p:cNvCxnSpPr>
            <a:cxnSpLocks/>
          </p:cNvCxnSpPr>
          <p:nvPr/>
        </p:nvCxnSpPr>
        <p:spPr>
          <a:xfrm>
            <a:off x="5072332" y="3768946"/>
            <a:ext cx="332075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B52B97B-2DDF-8AFC-E7B4-0FEEC76ECBD5}"/>
              </a:ext>
            </a:extLst>
          </p:cNvPr>
          <p:cNvCxnSpPr>
            <a:cxnSpLocks/>
          </p:cNvCxnSpPr>
          <p:nvPr/>
        </p:nvCxnSpPr>
        <p:spPr>
          <a:xfrm>
            <a:off x="3433313" y="5043168"/>
            <a:ext cx="4959775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66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E993B-D366-C7E2-5CDF-5BBFD15D0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57A56B9F-0F5E-8E31-670F-D022D593BBC9}"/>
              </a:ext>
            </a:extLst>
          </p:cNvPr>
          <p:cNvSpPr txBox="1">
            <a:spLocks/>
          </p:cNvSpPr>
          <p:nvPr/>
        </p:nvSpPr>
        <p:spPr>
          <a:xfrm>
            <a:off x="1904764" y="411900"/>
            <a:ext cx="838723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侧开发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——Process()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ABF081F-A59D-9F52-E99B-72EFF6665D8B}"/>
              </a:ext>
            </a:extLst>
          </p:cNvPr>
          <p:cNvSpPr txBox="1"/>
          <p:nvPr/>
        </p:nvSpPr>
        <p:spPr>
          <a:xfrm>
            <a:off x="878041" y="2211963"/>
            <a:ext cx="6234434" cy="3631761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noAutofit/>
          </a:bodyPr>
          <a:lstStyle/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template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&lt;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typename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typename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typename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typename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biasType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&gt;__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aicore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__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inline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void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MatmulKernel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&lt;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biasType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&gt;::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Process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REGIST_MATMUL_OBJ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&amp;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pipe,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GetSysWorkSpacePtr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(),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matmulObj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(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GetBlockIdx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&gt;=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    </a:t>
            </a:r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return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matmulObj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Init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&amp;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matmulObj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SetTensorA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aGlobal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matmulObj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SetTensorB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bGlobal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matmulObj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SetBias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biasGlobal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matmulObj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IterateAll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cGlobal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/* while (</a:t>
            </a:r>
            <a:r>
              <a:rPr lang="en-US" altLang="zh-CN" sz="1000" b="0" dirty="0" err="1">
                <a:solidFill>
                  <a:srgbClr val="6A9955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matmulObj.Iterate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()) {   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6A9955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matmulObj.GetTensorC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6A9955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cGlobal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 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}*/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matmulObj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3779B5-B2FF-4242-847B-9957823C9EF5}"/>
              </a:ext>
            </a:extLst>
          </p:cNvPr>
          <p:cNvSpPr/>
          <p:nvPr/>
        </p:nvSpPr>
        <p:spPr>
          <a:xfrm>
            <a:off x="8393088" y="2230933"/>
            <a:ext cx="2925634" cy="576000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计算矩阵初始化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5FBB817-9BE5-70CE-058B-A0FE1734AB55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6935638" y="2518933"/>
            <a:ext cx="1457450" cy="24173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FB2D550C-4880-D7D3-C942-90D7E41AE535}"/>
              </a:ext>
            </a:extLst>
          </p:cNvPr>
          <p:cNvSpPr/>
          <p:nvPr/>
        </p:nvSpPr>
        <p:spPr>
          <a:xfrm>
            <a:off x="8393088" y="2990131"/>
            <a:ext cx="2925634" cy="576000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设置左右矩阵以及偏移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F0A05C-58F8-FCA0-37EB-4BC5F97C9C55}"/>
              </a:ext>
            </a:extLst>
          </p:cNvPr>
          <p:cNvSpPr/>
          <p:nvPr/>
        </p:nvSpPr>
        <p:spPr>
          <a:xfrm>
            <a:off x="8393088" y="3749330"/>
            <a:ext cx="2925634" cy="576000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计算方式一：全部计算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A25A2D-6076-9724-8FBD-E5106B8B18BC}"/>
              </a:ext>
            </a:extLst>
          </p:cNvPr>
          <p:cNvSpPr/>
          <p:nvPr/>
        </p:nvSpPr>
        <p:spPr>
          <a:xfrm>
            <a:off x="8393088" y="4508529"/>
            <a:ext cx="2925634" cy="576000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计算方式二：循环逐个计算</a:t>
            </a: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（常用于还需要进一步处理数据时）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FCBB49-D6B2-A65D-2BF6-147892CDBE66}"/>
              </a:ext>
            </a:extLst>
          </p:cNvPr>
          <p:cNvSpPr/>
          <p:nvPr/>
        </p:nvSpPr>
        <p:spPr>
          <a:xfrm>
            <a:off x="8393088" y="5267727"/>
            <a:ext cx="2925634" cy="576000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结束矩阵运算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8A659FA-26E1-6809-95A1-1A99D5F4EE04}"/>
              </a:ext>
            </a:extLst>
          </p:cNvPr>
          <p:cNvCxnSpPr>
            <a:cxnSpLocks/>
          </p:cNvCxnSpPr>
          <p:nvPr/>
        </p:nvCxnSpPr>
        <p:spPr>
          <a:xfrm flipV="1">
            <a:off x="2941608" y="2675154"/>
            <a:ext cx="5451480" cy="113868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A1F72A7-0707-742C-D101-684D97208F7A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3096883" y="3278131"/>
            <a:ext cx="5296205" cy="77352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B518E0A-4F80-2D91-FE21-87209DBE3A5D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027872" y="4037330"/>
            <a:ext cx="5365216" cy="42727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224BAF1-7D7D-E7CF-6C4B-24108E0DEBB9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225615" y="5192470"/>
            <a:ext cx="6167473" cy="36325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6BFDC7E-8068-AB27-D143-D1922E419EF4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984740" y="4702361"/>
            <a:ext cx="5408348" cy="9416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1">
            <a:extLst>
              <a:ext uri="{FF2B5EF4-FFF2-40B4-BE49-F238E27FC236}">
                <a16:creationId xmlns:a16="http://schemas.microsoft.com/office/drawing/2014/main" id="{D85C620F-5842-9BC2-68C8-D74C70240B47}"/>
              </a:ext>
            </a:extLst>
          </p:cNvPr>
          <p:cNvSpPr txBox="1">
            <a:spLocks/>
          </p:cNvSpPr>
          <p:nvPr/>
        </p:nvSpPr>
        <p:spPr>
          <a:xfrm>
            <a:off x="786134" y="1631356"/>
            <a:ext cx="3326552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输入：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GM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VECOUT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TSCM</a:t>
            </a:r>
            <a:endParaRPr lang="zh-CN" altLang="en-US" sz="1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04942B4E-A501-FE55-7BC3-5712D687CA3E}"/>
              </a:ext>
            </a:extLst>
          </p:cNvPr>
          <p:cNvSpPr txBox="1">
            <a:spLocks/>
          </p:cNvSpPr>
          <p:nvPr/>
        </p:nvSpPr>
        <p:spPr>
          <a:xfrm>
            <a:off x="8287623" y="1422707"/>
            <a:ext cx="3136564" cy="777008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en-US" altLang="zh-CN" sz="18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IterateAll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输出：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GM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TSCM</a:t>
            </a:r>
          </a:p>
          <a:p>
            <a:pPr>
              <a:lnSpc>
                <a:spcPct val="130000"/>
              </a:lnSpc>
            </a:pP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Iterate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输出：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GM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VECIN</a:t>
            </a:r>
            <a:endParaRPr lang="zh-CN" altLang="en-US" sz="1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507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C50FB-884E-1444-82C7-02CCA6251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5729D916-6489-7B51-4FC6-0F51F375D431}"/>
              </a:ext>
            </a:extLst>
          </p:cNvPr>
          <p:cNvSpPr txBox="1">
            <a:spLocks/>
          </p:cNvSpPr>
          <p:nvPr/>
        </p:nvSpPr>
        <p:spPr>
          <a:xfrm>
            <a:off x="2222959" y="411900"/>
            <a:ext cx="7750840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侧开发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核函数声明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FB74F3-3ADD-E740-C33A-49C760946CFA}"/>
              </a:ext>
            </a:extLst>
          </p:cNvPr>
          <p:cNvSpPr txBox="1"/>
          <p:nvPr/>
        </p:nvSpPr>
        <p:spPr>
          <a:xfrm>
            <a:off x="878041" y="1943580"/>
            <a:ext cx="6234434" cy="3631763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noAutofit/>
          </a:bodyPr>
          <a:lstStyle/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extern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"C"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__global__ __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aicore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__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void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matmul_custom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(GM_ADDR a, GM_ADDR b, GM_ADDR bias, GM_ADDR c, GM_ADDR workspace, GM_ADDR tiling) 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GET_TILING_DATA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tiling);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MatmulKernel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&lt;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half,half,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float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float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&gt;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matmulKernel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matmulKernel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Init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a,b,bias,c,workspace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tilingData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cubeTilingData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TILING_KEY_IS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)){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matmulKernel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Process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FC9400-2CBC-8CF2-20C8-C306A15B6F6F}"/>
              </a:ext>
            </a:extLst>
          </p:cNvPr>
          <p:cNvSpPr/>
          <p:nvPr/>
        </p:nvSpPr>
        <p:spPr>
          <a:xfrm>
            <a:off x="8393088" y="1962549"/>
            <a:ext cx="2925634" cy="1064351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获取数据切分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tiling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信息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E63D43-585D-725C-B017-6C033FD663B7}"/>
              </a:ext>
            </a:extLst>
          </p:cNvPr>
          <p:cNvSpPr/>
          <p:nvPr/>
        </p:nvSpPr>
        <p:spPr>
          <a:xfrm>
            <a:off x="8393088" y="3236771"/>
            <a:ext cx="2925634" cy="1064351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声明算子类实例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1F1ED7-3035-5BCA-065F-94A40015DAA3}"/>
              </a:ext>
            </a:extLst>
          </p:cNvPr>
          <p:cNvSpPr/>
          <p:nvPr/>
        </p:nvSpPr>
        <p:spPr>
          <a:xfrm>
            <a:off x="8393088" y="4510993"/>
            <a:ext cx="2925634" cy="1064351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执行算子核心运算逻辑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061F574-0BF6-CCD1-97F4-366912340975}"/>
              </a:ext>
            </a:extLst>
          </p:cNvPr>
          <p:cNvCxnSpPr>
            <a:cxnSpLocks/>
          </p:cNvCxnSpPr>
          <p:nvPr/>
        </p:nvCxnSpPr>
        <p:spPr>
          <a:xfrm flipV="1">
            <a:off x="3950898" y="2494724"/>
            <a:ext cx="4442190" cy="111974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6033531-E855-640D-86F5-630FD8FE9890}"/>
              </a:ext>
            </a:extLst>
          </p:cNvPr>
          <p:cNvCxnSpPr>
            <a:cxnSpLocks/>
          </p:cNvCxnSpPr>
          <p:nvPr/>
        </p:nvCxnSpPr>
        <p:spPr>
          <a:xfrm>
            <a:off x="5072332" y="3768946"/>
            <a:ext cx="332075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A811078-A3DB-596B-78A4-9AA9D5637B44}"/>
              </a:ext>
            </a:extLst>
          </p:cNvPr>
          <p:cNvCxnSpPr>
            <a:cxnSpLocks/>
          </p:cNvCxnSpPr>
          <p:nvPr/>
        </p:nvCxnSpPr>
        <p:spPr>
          <a:xfrm>
            <a:off x="3217653" y="4301122"/>
            <a:ext cx="5175435" cy="74204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93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1B2D9-FC47-C9A0-F697-6616E23CC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16D215FA-A0FE-0C9C-4FD1-982393E2CA8F}"/>
              </a:ext>
            </a:extLst>
          </p:cNvPr>
          <p:cNvSpPr txBox="1">
            <a:spLocks/>
          </p:cNvSpPr>
          <p:nvPr/>
        </p:nvSpPr>
        <p:spPr>
          <a:xfrm>
            <a:off x="2247806" y="411900"/>
            <a:ext cx="7701147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host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侧开发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创建结构体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D3009D4-7C13-7F1B-CA61-81D8C421EEF7}"/>
              </a:ext>
            </a:extLst>
          </p:cNvPr>
          <p:cNvSpPr txBox="1"/>
          <p:nvPr/>
        </p:nvSpPr>
        <p:spPr>
          <a:xfrm>
            <a:off x="878041" y="1943580"/>
            <a:ext cx="6234434" cy="3631763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noAutofit/>
          </a:bodyPr>
          <a:lstStyle/>
          <a:p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#include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"register/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tilingdata_base.h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"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#include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"tiling/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tiling_api.h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"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namespace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optiling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BEGIN_TILING_DATA_DEF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MatmulCustomTilingData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TILING_DATA_FIELD_DEF_STRUCT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TCubeTiling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cubeTilingData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END_TILING_DATA_DEF;</a:t>
            </a:r>
          </a:p>
          <a:p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REGISTER_TILING_DATA_CLASS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MatmulCustom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MatmulCustomTilingData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7DBBE9-5F36-596E-CC56-E8D201AA0BC7}"/>
              </a:ext>
            </a:extLst>
          </p:cNvPr>
          <p:cNvSpPr/>
          <p:nvPr/>
        </p:nvSpPr>
        <p:spPr>
          <a:xfrm>
            <a:off x="8393088" y="1962549"/>
            <a:ext cx="2925634" cy="1064351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注册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Tiling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F65D1E-1621-F5FA-E198-80D9F6AD3242}"/>
              </a:ext>
            </a:extLst>
          </p:cNvPr>
          <p:cNvSpPr/>
          <p:nvPr/>
        </p:nvSpPr>
        <p:spPr>
          <a:xfrm>
            <a:off x="8393088" y="3236771"/>
            <a:ext cx="2925634" cy="1064351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添加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TcubeTiling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结构体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654593-1FD0-C094-A144-A9DCAB60EDCC}"/>
              </a:ext>
            </a:extLst>
          </p:cNvPr>
          <p:cNvSpPr/>
          <p:nvPr/>
        </p:nvSpPr>
        <p:spPr>
          <a:xfrm>
            <a:off x="8393088" y="4510993"/>
            <a:ext cx="2925634" cy="1064351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注册该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Tiling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类到对应算子中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0AFEF11-3BE6-42B3-5FA7-CB31F60A2CDB}"/>
              </a:ext>
            </a:extLst>
          </p:cNvPr>
          <p:cNvCxnSpPr>
            <a:cxnSpLocks/>
          </p:cNvCxnSpPr>
          <p:nvPr/>
        </p:nvCxnSpPr>
        <p:spPr>
          <a:xfrm flipV="1">
            <a:off x="4313208" y="2494724"/>
            <a:ext cx="4079880" cy="101622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57137F4-81AB-794E-8C41-507AA1601B98}"/>
              </a:ext>
            </a:extLst>
          </p:cNvPr>
          <p:cNvCxnSpPr>
            <a:cxnSpLocks/>
          </p:cNvCxnSpPr>
          <p:nvPr/>
        </p:nvCxnSpPr>
        <p:spPr>
          <a:xfrm>
            <a:off x="5072332" y="3768946"/>
            <a:ext cx="332075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B05ADF7-503E-CD21-DED8-87E1CD5F1E8F}"/>
              </a:ext>
            </a:extLst>
          </p:cNvPr>
          <p:cNvCxnSpPr>
            <a:cxnSpLocks/>
          </p:cNvCxnSpPr>
          <p:nvPr/>
        </p:nvCxnSpPr>
        <p:spPr>
          <a:xfrm>
            <a:off x="5641675" y="4301122"/>
            <a:ext cx="2751413" cy="74204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69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C3BDC-25CA-A5AB-D42A-545553492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2E920966-24D8-66C5-E123-4F4250D8F65E}"/>
              </a:ext>
            </a:extLst>
          </p:cNvPr>
          <p:cNvSpPr txBox="1">
            <a:spLocks/>
          </p:cNvSpPr>
          <p:nvPr/>
        </p:nvSpPr>
        <p:spPr>
          <a:xfrm>
            <a:off x="2411024" y="411900"/>
            <a:ext cx="737471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host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侧开发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 Tiling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DBF45F-601E-9C98-E7B3-A8DB1E0D73EF}"/>
              </a:ext>
            </a:extLst>
          </p:cNvPr>
          <p:cNvSpPr txBox="1"/>
          <p:nvPr/>
        </p:nvSpPr>
        <p:spPr>
          <a:xfrm>
            <a:off x="878041" y="1943580"/>
            <a:ext cx="6234434" cy="3631763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noAutofit/>
          </a:bodyPr>
          <a:lstStyle/>
          <a:p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MatmulApiTiling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ascendcPlatform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 </a:t>
            </a:r>
          </a:p>
          <a:p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SetAType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TPosition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::GM,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CubeFormat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::ND,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matmul_tiling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DataType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::DT_FLOAT16);</a:t>
            </a:r>
          </a:p>
          <a:p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SetBType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TPosition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::GM,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CubeFormat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::ND,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matmul_tiling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DataType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::DT_FLOAT16);</a:t>
            </a:r>
          </a:p>
          <a:p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SetCType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TPosition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::LCM,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CubeFormat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::ND,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matmul_tiling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DataType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::DT_FLOAT);</a:t>
            </a:r>
          </a:p>
          <a:p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SetBiasType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TPosition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::GM,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CubeFormat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::ND,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matmul_tiling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DataType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::DT_FLOAT);</a:t>
            </a:r>
          </a:p>
          <a:p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SetShape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(M, N, K);</a:t>
            </a:r>
          </a:p>
          <a:p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SetOrgShape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(M, N, K);</a:t>
            </a:r>
          </a:p>
          <a:p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SetBias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true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SetBufferSpace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-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-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-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MatmulCustomTilingData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tiling;</a:t>
            </a:r>
          </a:p>
          <a:p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(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GetTiling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cubeTilingData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==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-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return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::GRAPH_FAILED;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}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328EF8-1256-C323-5431-62F41FA92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762" y="1226127"/>
            <a:ext cx="2314286" cy="5066667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AA2C2E4-F50E-C15B-6FB5-D0BAA74837E8}"/>
              </a:ext>
            </a:extLst>
          </p:cNvPr>
          <p:cNvCxnSpPr>
            <a:cxnSpLocks/>
          </p:cNvCxnSpPr>
          <p:nvPr/>
        </p:nvCxnSpPr>
        <p:spPr>
          <a:xfrm flipV="1">
            <a:off x="3657600" y="2277374"/>
            <a:ext cx="5149970" cy="47445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8488D72-E691-D4CE-407F-01CE7D8BF9D9}"/>
              </a:ext>
            </a:extLst>
          </p:cNvPr>
          <p:cNvCxnSpPr>
            <a:cxnSpLocks/>
          </p:cNvCxnSpPr>
          <p:nvPr/>
        </p:nvCxnSpPr>
        <p:spPr>
          <a:xfrm flipV="1">
            <a:off x="6504317" y="2981279"/>
            <a:ext cx="2303253" cy="175989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ABFC330-E24B-2125-74AE-42098C8A9363}"/>
              </a:ext>
            </a:extLst>
          </p:cNvPr>
          <p:cNvCxnSpPr>
            <a:cxnSpLocks/>
          </p:cNvCxnSpPr>
          <p:nvPr/>
        </p:nvCxnSpPr>
        <p:spPr>
          <a:xfrm flipV="1">
            <a:off x="3045125" y="3627085"/>
            <a:ext cx="5762445" cy="175989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C5588BD-B896-F3EF-55D3-20D80D693A7E}"/>
              </a:ext>
            </a:extLst>
          </p:cNvPr>
          <p:cNvCxnSpPr>
            <a:cxnSpLocks/>
          </p:cNvCxnSpPr>
          <p:nvPr/>
        </p:nvCxnSpPr>
        <p:spPr>
          <a:xfrm>
            <a:off x="3174521" y="4226138"/>
            <a:ext cx="5633049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B62B5F0-E0A9-1449-88AA-7976688BB1E3}"/>
              </a:ext>
            </a:extLst>
          </p:cNvPr>
          <p:cNvCxnSpPr>
            <a:cxnSpLocks/>
          </p:cNvCxnSpPr>
          <p:nvPr/>
        </p:nvCxnSpPr>
        <p:spPr>
          <a:xfrm>
            <a:off x="3174521" y="3993225"/>
            <a:ext cx="5633049" cy="87207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28CD844-9495-BEA4-69EC-BC9965684203}"/>
              </a:ext>
            </a:extLst>
          </p:cNvPr>
          <p:cNvCxnSpPr>
            <a:cxnSpLocks/>
          </p:cNvCxnSpPr>
          <p:nvPr/>
        </p:nvCxnSpPr>
        <p:spPr>
          <a:xfrm>
            <a:off x="3174521" y="4566184"/>
            <a:ext cx="5633049" cy="87207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556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E43E9-86D6-9F9B-3CAC-E1D3E6580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2025017A-411B-805E-B44C-CDB38F927B0C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本章内容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917D68C-6CB2-5A2C-351E-BD519BAD5B54}"/>
              </a:ext>
            </a:extLst>
          </p:cNvPr>
          <p:cNvSpPr/>
          <p:nvPr/>
        </p:nvSpPr>
        <p:spPr>
          <a:xfrm>
            <a:off x="4712642" y="1819025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BA81F-8D66-5F3D-4773-0365F6ABB779}"/>
              </a:ext>
            </a:extLst>
          </p:cNvPr>
          <p:cNvSpPr txBox="1"/>
          <p:nvPr/>
        </p:nvSpPr>
        <p:spPr>
          <a:xfrm>
            <a:off x="5265051" y="1862959"/>
            <a:ext cx="21371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编程模型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6495DCE-BAC8-242F-965E-CDE453202DFB}"/>
              </a:ext>
            </a:extLst>
          </p:cNvPr>
          <p:cNvSpPr/>
          <p:nvPr/>
        </p:nvSpPr>
        <p:spPr>
          <a:xfrm>
            <a:off x="4712642" y="2506262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527D30-5DB7-31C8-1876-398FEEEE385E}"/>
              </a:ext>
            </a:extLst>
          </p:cNvPr>
          <p:cNvSpPr txBox="1"/>
          <p:nvPr/>
        </p:nvSpPr>
        <p:spPr>
          <a:xfrm>
            <a:off x="5265051" y="2550196"/>
            <a:ext cx="21371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语法扩展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1655D0C-5BA4-8631-3C0B-5683AA32ED30}"/>
              </a:ext>
            </a:extLst>
          </p:cNvPr>
          <p:cNvGrpSpPr/>
          <p:nvPr/>
        </p:nvGrpSpPr>
        <p:grpSpPr>
          <a:xfrm>
            <a:off x="4712642" y="3193499"/>
            <a:ext cx="2122069" cy="457200"/>
            <a:chOff x="4712642" y="3544019"/>
            <a:chExt cx="2122069" cy="457200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3B1E1DFC-5E0A-A6C8-BF13-9DBC9BAF5BC2}"/>
                </a:ext>
              </a:extLst>
            </p:cNvPr>
            <p:cNvSpPr/>
            <p:nvPr/>
          </p:nvSpPr>
          <p:spPr>
            <a:xfrm>
              <a:off x="4712642" y="3544019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13DBA5B-C31D-1B7F-6C97-D11D2CC945DF}"/>
                </a:ext>
              </a:extLst>
            </p:cNvPr>
            <p:cNvSpPr txBox="1"/>
            <p:nvPr/>
          </p:nvSpPr>
          <p:spPr>
            <a:xfrm>
              <a:off x="5265051" y="3587953"/>
              <a:ext cx="156966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FF2600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向量编程范式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BA66D5F-095E-D5C4-B8BD-7EF0F95C3144}"/>
              </a:ext>
            </a:extLst>
          </p:cNvPr>
          <p:cNvGrpSpPr/>
          <p:nvPr/>
        </p:nvGrpSpPr>
        <p:grpSpPr>
          <a:xfrm>
            <a:off x="4712642" y="3880736"/>
            <a:ext cx="2122069" cy="457200"/>
            <a:chOff x="4712642" y="4231256"/>
            <a:chExt cx="2122069" cy="457200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CFF9532A-BC08-50AE-A8E1-08D8A14FB374}"/>
                </a:ext>
              </a:extLst>
            </p:cNvPr>
            <p:cNvSpPr/>
            <p:nvPr/>
          </p:nvSpPr>
          <p:spPr>
            <a:xfrm>
              <a:off x="4712642" y="4231256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4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E80C2AE-2341-417A-1991-46E4A3CE777B}"/>
                </a:ext>
              </a:extLst>
            </p:cNvPr>
            <p:cNvSpPr txBox="1"/>
            <p:nvPr/>
          </p:nvSpPr>
          <p:spPr>
            <a:xfrm>
              <a:off x="5265051" y="4275190"/>
              <a:ext cx="156966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0433FF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矩阵编程范式</a:t>
              </a:r>
            </a:p>
          </p:txBody>
        </p:sp>
      </p:grp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E266522-6CD1-D490-C557-A328B59771A1}"/>
              </a:ext>
            </a:extLst>
          </p:cNvPr>
          <p:cNvSpPr/>
          <p:nvPr/>
        </p:nvSpPr>
        <p:spPr>
          <a:xfrm>
            <a:off x="4712642" y="4567973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A230A98-6C31-DDAE-4B3E-54CD5360843D}"/>
              </a:ext>
            </a:extLst>
          </p:cNvPr>
          <p:cNvSpPr txBox="1"/>
          <p:nvPr/>
        </p:nvSpPr>
        <p:spPr>
          <a:xfrm>
            <a:off x="5265051" y="4611907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混合编程范式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C45A6F1-CFA6-1076-EBEC-7E121CE11747}"/>
              </a:ext>
            </a:extLst>
          </p:cNvPr>
          <p:cNvGrpSpPr/>
          <p:nvPr/>
        </p:nvGrpSpPr>
        <p:grpSpPr>
          <a:xfrm>
            <a:off x="4712642" y="5255210"/>
            <a:ext cx="3151197" cy="457200"/>
            <a:chOff x="4712642" y="4231256"/>
            <a:chExt cx="3151197" cy="457200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B0A45BC1-4305-7371-F2F3-6A2C7A4FD9F1}"/>
                </a:ext>
              </a:extLst>
            </p:cNvPr>
            <p:cNvSpPr/>
            <p:nvPr/>
          </p:nvSpPr>
          <p:spPr>
            <a:xfrm>
              <a:off x="4712642" y="4231256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6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242C683-72A2-749A-A17F-1F6F64C65946}"/>
                </a:ext>
              </a:extLst>
            </p:cNvPr>
            <p:cNvSpPr txBox="1"/>
            <p:nvPr/>
          </p:nvSpPr>
          <p:spPr>
            <a:xfrm>
              <a:off x="5265051" y="4275190"/>
              <a:ext cx="259878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0433FF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更多</a:t>
              </a:r>
              <a:r>
                <a:rPr lang="en-US" altLang="zh-CN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Ascend C</a:t>
              </a: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算子样例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834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6F893-6835-662B-84A2-C3A240818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24C36497-BEEE-62CF-0210-884BDC7CC280}"/>
              </a:ext>
            </a:extLst>
          </p:cNvPr>
          <p:cNvSpPr txBox="1">
            <a:spLocks/>
          </p:cNvSpPr>
          <p:nvPr/>
        </p:nvSpPr>
        <p:spPr>
          <a:xfrm>
            <a:off x="4569756" y="411900"/>
            <a:ext cx="3057247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融合算子的优势</a:t>
            </a: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2A71F014-D4B2-2DE2-64FF-2DCC57C47BB2}"/>
              </a:ext>
            </a:extLst>
          </p:cNvPr>
          <p:cNvSpPr txBox="1">
            <a:spLocks/>
          </p:cNvSpPr>
          <p:nvPr/>
        </p:nvSpPr>
        <p:spPr>
          <a:xfrm>
            <a:off x="1019175" y="1911168"/>
            <a:ext cx="3000375" cy="144437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当前的昇腾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处理器中，矩阵计算单元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Cube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核与向量计算单元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Vector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核之间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相互分离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，只通过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GM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数据总线进行数据传递。在这种架构的影响下，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Cube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核与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Vector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核可以进行一定的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并行计算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263DB3-3326-32BE-F39F-C34796E7FD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131" y="1872609"/>
            <a:ext cx="7036457" cy="152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CD79BEC-9A01-0C39-1F26-1E97981601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965" y="3801730"/>
            <a:ext cx="2260788" cy="17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占位符 2">
            <a:extLst>
              <a:ext uri="{FF2B5EF4-FFF2-40B4-BE49-F238E27FC236}">
                <a16:creationId xmlns:a16="http://schemas.microsoft.com/office/drawing/2014/main" id="{7318BA23-2055-B97A-6149-CB9F39B85606}"/>
              </a:ext>
            </a:extLst>
          </p:cNvPr>
          <p:cNvSpPr txBox="1">
            <a:spLocks/>
          </p:cNvSpPr>
          <p:nvPr/>
        </p:nvSpPr>
        <p:spPr>
          <a:xfrm>
            <a:off x="1019175" y="4369835"/>
            <a:ext cx="5200470" cy="604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1148" tIns="41148" rIns="41148" bIns="41148">
            <a:spAutoFit/>
          </a:bodyPr>
          <a:lstStyle>
            <a:lvl1pPr marL="120000" marR="0" indent="-300000" algn="l" defTabSz="822960" rtl="0" latinLnBrk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ct val="120000"/>
              <a:buFontTx/>
              <a:buChar char="●"/>
              <a:tabLst/>
              <a:defRPr sz="2000" b="1" i="0" u="none" strike="noStrike" cap="none" spc="0" baseline="0">
                <a:solidFill>
                  <a:srgbClr val="0000FF"/>
                </a:solidFill>
                <a:uFillTx/>
                <a:latin typeface="Georgia"/>
                <a:ea typeface="Georgia"/>
                <a:cs typeface="Georgia"/>
                <a:sym typeface="Georgia"/>
              </a:defRPr>
            </a:lvl1pPr>
            <a:lvl2pPr marL="719998" marR="0" indent="-323998" algn="l" defTabSz="822960" rtl="0" latinLnBrk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ct val="100000"/>
              <a:buFontTx/>
              <a:buChar char="✓"/>
              <a:tabLst/>
              <a:defRPr sz="2000" b="1" i="0" u="none" strike="noStrike" cap="none" spc="0" baseline="0">
                <a:solidFill>
                  <a:srgbClr val="0000FF"/>
                </a:solidFill>
                <a:uFillTx/>
                <a:latin typeface="Georgia"/>
                <a:ea typeface="Georgia"/>
                <a:cs typeface="Georgia"/>
                <a:sym typeface="Georgia"/>
              </a:defRPr>
            </a:lvl2pPr>
            <a:lvl3pPr marL="1111998" marR="0" indent="-319998" algn="l" defTabSz="822960" rtl="0" latinLnBrk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ct val="171000"/>
              <a:buFontTx/>
              <a:buChar char="•"/>
              <a:tabLst/>
              <a:defRPr sz="2000" b="1" i="0" u="none" strike="noStrike" cap="none" spc="0" baseline="0">
                <a:solidFill>
                  <a:srgbClr val="0000FF"/>
                </a:solidFill>
                <a:uFillTx/>
                <a:latin typeface="Georgia"/>
                <a:ea typeface="Georgia"/>
                <a:cs typeface="Georgia"/>
                <a:sym typeface="Georgia"/>
              </a:defRPr>
            </a:lvl3pPr>
            <a:lvl4pPr marL="1511998" marR="0" indent="-359997" algn="l" defTabSz="822960" rtl="0" latinLnBrk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ct val="171000"/>
              <a:buFontTx/>
              <a:buChar char="•"/>
              <a:tabLst/>
              <a:defRPr sz="2000" b="1" i="0" u="none" strike="noStrike" cap="none" spc="0" baseline="0">
                <a:solidFill>
                  <a:srgbClr val="0000FF"/>
                </a:solidFill>
                <a:uFillTx/>
                <a:latin typeface="Georgia"/>
                <a:ea typeface="Georgia"/>
                <a:cs typeface="Georgia"/>
                <a:sym typeface="Georgia"/>
              </a:defRPr>
            </a:lvl4pPr>
            <a:lvl5pPr marL="1923426" marR="0" indent="-411427" algn="l" defTabSz="822960" rtl="0" latinLnBrk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ct val="171000"/>
              <a:buFontTx/>
              <a:buChar char="•"/>
              <a:tabLst/>
              <a:defRPr sz="2000" b="1" i="0" u="none" strike="noStrike" cap="none" spc="0" baseline="0">
                <a:solidFill>
                  <a:srgbClr val="0000FF"/>
                </a:solidFill>
                <a:uFillTx/>
                <a:latin typeface="Georgia"/>
                <a:ea typeface="Georgia"/>
                <a:cs typeface="Georgia"/>
                <a:sym typeface="Georgia"/>
              </a:defRPr>
            </a:lvl5pPr>
            <a:lvl6pPr marL="2553917" marR="0" indent="-268833" algn="l" defTabSz="822960" rtl="0" latinLnBrk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ct val="100000"/>
              <a:buFontTx/>
              <a:buChar char="•"/>
              <a:tabLst/>
              <a:defRPr sz="2000" b="1" i="0" u="none" strike="noStrike" cap="none" spc="0" baseline="0">
                <a:solidFill>
                  <a:srgbClr val="0000FF"/>
                </a:solidFill>
                <a:uFillTx/>
                <a:latin typeface="Georgia"/>
                <a:ea typeface="Georgia"/>
                <a:cs typeface="Georgia"/>
                <a:sym typeface="Georgia"/>
              </a:defRPr>
            </a:lvl6pPr>
            <a:lvl7pPr marL="3010935" marR="0" indent="-268833" algn="l" defTabSz="822960" rtl="0" latinLnBrk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ct val="100000"/>
              <a:buFontTx/>
              <a:buChar char="•"/>
              <a:tabLst/>
              <a:defRPr sz="2000" b="1" i="0" u="none" strike="noStrike" cap="none" spc="0" baseline="0">
                <a:solidFill>
                  <a:srgbClr val="0000FF"/>
                </a:solidFill>
                <a:uFillTx/>
                <a:latin typeface="Georgia"/>
                <a:ea typeface="Georgia"/>
                <a:cs typeface="Georgia"/>
                <a:sym typeface="Georgia"/>
              </a:defRPr>
            </a:lvl7pPr>
            <a:lvl8pPr marL="3467952" marR="0" indent="-268833" algn="l" defTabSz="822960" rtl="0" latinLnBrk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ct val="100000"/>
              <a:buFontTx/>
              <a:buChar char="•"/>
              <a:tabLst/>
              <a:defRPr sz="2000" b="1" i="0" u="none" strike="noStrike" cap="none" spc="0" baseline="0">
                <a:solidFill>
                  <a:srgbClr val="0000FF"/>
                </a:solidFill>
                <a:uFillTx/>
                <a:latin typeface="Georgia"/>
                <a:ea typeface="Georgia"/>
                <a:cs typeface="Georgia"/>
                <a:sym typeface="Georgia"/>
              </a:defRPr>
            </a:lvl8pPr>
            <a:lvl9pPr marL="3924969" marR="0" indent="-268833" algn="l" defTabSz="822960" rtl="0" latinLnBrk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FF"/>
              </a:buClr>
              <a:buSzPct val="100000"/>
              <a:buFontTx/>
              <a:buChar char="•"/>
              <a:tabLst/>
              <a:defRPr sz="2000" b="1" i="0" u="none" strike="noStrike" cap="none" spc="0" baseline="0">
                <a:solidFill>
                  <a:srgbClr val="0000FF"/>
                </a:solidFill>
                <a:uFillTx/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indent="0" hangingPunct="1">
              <a:lnSpc>
                <a:spcPct val="150000"/>
              </a:lnSpc>
              <a:buNone/>
            </a:pP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而融合算子，即既要进行矩阵计算又要进行向量计算的算子，正充分发挥了当前昇腾硬件</a:t>
            </a:r>
            <a:r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Cube</a:t>
            </a: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核和</a:t>
            </a:r>
            <a:r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Vector</a:t>
            </a: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核分离的优势，可以有效地提升算子的性能。</a:t>
            </a:r>
          </a:p>
        </p:txBody>
      </p:sp>
    </p:spTree>
    <p:extLst>
      <p:ext uri="{BB962C8B-B14F-4D97-AF65-F5344CB8AC3E}">
        <p14:creationId xmlns:p14="http://schemas.microsoft.com/office/powerpoint/2010/main" val="415479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61972-50AA-F564-2F58-4E90AC218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8355DB26-8276-1117-98BD-C258AE015169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67271BD-1410-0794-6863-1881B0A19061}"/>
                  </a:ext>
                </a:extLst>
              </p:cNvPr>
              <p:cNvSpPr txBox="1"/>
              <p:nvPr/>
            </p:nvSpPr>
            <p:spPr>
              <a:xfrm>
                <a:off x="2064349" y="1694684"/>
                <a:ext cx="8068065" cy="4022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790041">
                  <a:lnSpc>
                    <a:spcPct val="150000"/>
                  </a:lnSpc>
                  <a:defRPr sz="1919"/>
                </a:pPr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明确算子的数学表达式</a:t>
                </a:r>
              </a:p>
              <a:p>
                <a:pPr marL="126000" lvl="1" indent="-126000" defTabSz="790041">
                  <a:lnSpc>
                    <a:spcPct val="150000"/>
                  </a:lnSpc>
                  <a:buSzTx/>
                  <a:buFont typeface="Arial" panose="020B0604020202020204" pitchFamily="34" charset="0"/>
                  <a:buChar char="•"/>
                  <a:defRPr sz="1919" b="0">
                    <a:solidFill>
                      <a:srgbClr val="000000"/>
                    </a:solidFill>
                  </a:defRPr>
                </a:pP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matmul_leakyrelu_custom</a:t>
                </a: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算子的数学表达式为：</a:t>
                </a:r>
                <a:r>
                  <a:rPr lang="en-US" altLang="zh-CN" sz="1200" b="1" i="1" dirty="0" err="1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</a:t>
                </a:r>
                <a:r>
                  <a:rPr lang="en-US" altLang="zh-CN" sz="1200" b="1" i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= </a:t>
                </a:r>
                <a:r>
                  <a:rPr lang="en-US" altLang="zh-CN" sz="1200" b="1" dirty="0" err="1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LeakyReLU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(</a:t>
                </a:r>
                <a:r>
                  <a:rPr lang="en-US" altLang="zh-CN" sz="1200" b="1" i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 * </a:t>
                </a:r>
                <a:r>
                  <a:rPr lang="en-US" altLang="zh-CN" sz="1200" b="1" i="1" dirty="0" err="1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b</a:t>
                </a:r>
                <a:r>
                  <a:rPr lang="zh-CN" altLang="en-US" sz="1200" b="1" dirty="0" err="1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sz="1200" b="1" dirty="0" err="1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alpha</a:t>
                </a:r>
                <a:r>
                  <a:rPr lang="en-US" altLang="zh-CN" sz="12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)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而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leakyrelu</a:t>
                </a: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函数的表达式为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1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𝑳𝒆𝒂𝒌𝒚𝑹𝒆𝑳𝑼</m:t>
                    </m:r>
                    <m:r>
                      <a:rPr lang="en-US" altLang="zh-CN" sz="1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ar-AE" altLang="zh-CN" sz="1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ar-AE" sz="1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ar-AE" sz="1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zh-CN" altLang="ar-AE" sz="1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zh-CN" altLang="ar-AE" sz="1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𝒂𝒍𝒑𝒉𝒂</m:t>
                    </m:r>
                    <m:r>
                      <a:rPr lang="ar-AE" altLang="zh-CN" sz="1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ar-AE" altLang="zh-CN" sz="1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ar-AE" altLang="zh-CN" sz="1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 </m:t>
                        </m:r>
                        <m:eqArr>
                          <m:eqArrPr>
                            <m:ctrlPr>
                              <a:rPr lang="ar-AE" altLang="zh-CN" sz="12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ar-AE" altLang="zh-CN" sz="12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ar-AE" sz="12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zh-CN" altLang="ar-AE" sz="12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ar-AE" altLang="zh-CN" sz="12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zh-CN" altLang="ar-AE" sz="12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，</m:t>
                            </m:r>
                            <m:sSub>
                              <m:sSubPr>
                                <m:ctrlPr>
                                  <a:rPr lang="ar-AE" altLang="zh-CN" sz="12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ar-AE" sz="12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zh-CN" altLang="ar-AE" sz="12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ar-AE" altLang="zh-CN" sz="12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≥</m:t>
                            </m:r>
                            <m:r>
                              <a:rPr lang="ar-AE" altLang="zh-CN" sz="12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sz="12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𝒂𝒍𝒑𝒉𝒂</m:t>
                            </m:r>
                            <m:r>
                              <a:rPr lang="en-US" altLang="zh-CN" sz="12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ar-AE" altLang="zh-CN" sz="12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ar-AE" sz="12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zh-CN" altLang="ar-AE" sz="12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ar-AE" altLang="zh-CN" sz="12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zh-CN" altLang="ar-AE" sz="12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，</m:t>
                            </m:r>
                            <m:sSub>
                              <m:sSubPr>
                                <m:ctrlPr>
                                  <a:rPr lang="ar-AE" altLang="zh-CN" sz="12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ar-AE" sz="12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zh-CN" altLang="ar-AE" sz="12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ar-AE" altLang="zh-CN" sz="12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&lt;</m:t>
                            </m:r>
                            <m:r>
                              <a:rPr lang="ar-AE" altLang="zh-CN" sz="12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  <m:r>
                      <a:rPr lang="ar-AE" altLang="zh-CN" sz="1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ar-AE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</a:p>
              <a:p>
                <a:pPr defTabSz="790041">
                  <a:lnSpc>
                    <a:spcPct val="150000"/>
                  </a:lnSpc>
                  <a:defRPr sz="1919"/>
                </a:pPr>
                <a:r>
                  <a:rPr lang="zh-CN" altLang="en-US" b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明确输入和输出</a:t>
                </a:r>
                <a:endParaRPr lang="zh-CN" altLang="en-US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126000" lvl="1" indent="-126000" defTabSz="790041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1919" b="0">
                    <a:solidFill>
                      <a:srgbClr val="000000"/>
                    </a:solidFill>
                  </a:defRPr>
                </a:pP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matmul_leakyrelu_custom</a:t>
                </a: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算子有三个输入：</a:t>
                </a: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</a:t>
                </a:r>
                <a:r>
                  <a:rPr lang="zh-CN" altLang="en-US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、</a:t>
                </a: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b</a:t>
                </a: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、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alpha</a:t>
                </a: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，输出为</a:t>
                </a: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</a:p>
              <a:p>
                <a:pPr marL="126000" lvl="1" indent="-126000" defTabSz="790041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1919" b="0">
                    <a:solidFill>
                      <a:srgbClr val="000000"/>
                    </a:solidFill>
                  </a:defRPr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输入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</a:t>
                </a:r>
                <a:r>
                  <a:rPr lang="zh-CN" altLang="en-US" sz="1200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、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b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数据类型为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half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，输入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alpha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与输出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数据类型为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float32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</a:p>
              <a:p>
                <a:pPr marL="126000" lvl="1" indent="-126000" defTabSz="790041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1919" b="0">
                    <a:solidFill>
                      <a:srgbClr val="000000"/>
                    </a:solidFill>
                  </a:defRPr>
                </a:pP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矩阵</a:t>
                </a: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</a:t>
                </a:r>
                <a:r>
                  <a:rPr lang="zh-CN" altLang="en-US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、</a:t>
                </a: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b</a:t>
                </a:r>
                <a:r>
                  <a:rPr lang="zh-CN" altLang="en-US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、</a:t>
                </a: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</a:t>
                </a: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的形状均为分别为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[</a:t>
                </a: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m</a:t>
                </a:r>
                <a:r>
                  <a:rPr lang="zh-CN" altLang="en-US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k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]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、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[</a:t>
                </a: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k</a:t>
                </a:r>
                <a:r>
                  <a:rPr lang="zh-CN" altLang="en-US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n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]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、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[</a:t>
                </a: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m</a:t>
                </a:r>
                <a:r>
                  <a:rPr lang="zh-CN" altLang="en-US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n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]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</a:p>
              <a:p>
                <a:pPr marL="126000" lvl="1" indent="-126000" defTabSz="790041">
                  <a:lnSpc>
                    <a:spcPct val="15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919" b="0">
                    <a:solidFill>
                      <a:srgbClr val="000000"/>
                    </a:solidFill>
                  </a:defRPr>
                </a:pP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算子输入输出排布类型为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ND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</a:p>
              <a:p>
                <a:pPr defTabSz="790041">
                  <a:lnSpc>
                    <a:spcPct val="150000"/>
                  </a:lnSpc>
                  <a:defRPr sz="1919"/>
                </a:pPr>
                <a:r>
                  <a:rPr lang="zh-CN" altLang="en-US" b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确定核函数名称和参数</a:t>
                </a:r>
                <a:endParaRPr lang="zh-CN" altLang="en-US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126000" lvl="1" indent="-126000" defTabSz="790041">
                  <a:lnSpc>
                    <a:spcPct val="150000"/>
                  </a:lnSpc>
                  <a:buSzTx/>
                  <a:buFont typeface="Arial" panose="020B0604020202020204" pitchFamily="34" charset="0"/>
                  <a:buChar char="•"/>
                  <a:defRPr sz="1919" b="0">
                    <a:solidFill>
                      <a:srgbClr val="000000"/>
                    </a:solidFill>
                  </a:defRPr>
                </a:pP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自定义核函数如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matmul_leakyrelu_custom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。确定核函数有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4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个入参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</a:t>
                </a:r>
                <a:r>
                  <a:rPr lang="zh-CN" altLang="en-US" sz="1200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b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alpha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sz="1200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</a:p>
              <a:p>
                <a:pPr marL="126000" lvl="1" indent="-126000" defTabSz="790041">
                  <a:lnSpc>
                    <a:spcPct val="150000"/>
                  </a:lnSpc>
                  <a:buSzTx/>
                  <a:buFont typeface="Arial" panose="020B0604020202020204" pitchFamily="34" charset="0"/>
                  <a:buChar char="•"/>
                  <a:defRPr sz="1919" b="0">
                    <a:solidFill>
                      <a:srgbClr val="000000"/>
                    </a:solidFill>
                  </a:defRPr>
                </a:pP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</a:t>
                </a:r>
                <a:r>
                  <a:rPr lang="zh-CN" altLang="en-US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b</a:t>
                </a: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alpha</a:t>
                </a: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为输入在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Global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Memory</a:t>
                </a: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上的内存地址，</a:t>
                </a:r>
                <a:r>
                  <a:rPr lang="en-US" altLang="zh-CN" sz="1200" i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</a:t>
                </a: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为输出在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Global</a:t>
                </a:r>
                <a:r>
                  <a: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Memory</a:t>
                </a:r>
                <a:r>
                  <a:rPr lang="zh-CN" altLang="en-US" sz="120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上的内存地址</a:t>
                </a: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67271BD-1410-0794-6863-1881B0A19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349" y="1694684"/>
                <a:ext cx="8068065" cy="4022320"/>
              </a:xfrm>
              <a:prstGeom prst="rect">
                <a:avLst/>
              </a:prstGeom>
              <a:blipFill>
                <a:blip r:embed="rId2"/>
                <a:stretch>
                  <a:fillRect l="-756" t="-455" b="-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1276D-F343-6152-D9DC-7A81F7C7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148DCCD6-85A9-9E32-A8A2-0F3E91F2D8E7}"/>
              </a:ext>
            </a:extLst>
          </p:cNvPr>
          <p:cNvSpPr txBox="1">
            <a:spLocks/>
          </p:cNvSpPr>
          <p:nvPr/>
        </p:nvSpPr>
        <p:spPr>
          <a:xfrm>
            <a:off x="2508775" y="411900"/>
            <a:ext cx="7179209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matmul_leakyrelu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侧开发</a:t>
            </a: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B02154F2-8FD1-65B2-B65B-5970131DBCFB}"/>
              </a:ext>
            </a:extLst>
          </p:cNvPr>
          <p:cNvSpPr txBox="1">
            <a:spLocks/>
          </p:cNvSpPr>
          <p:nvPr/>
        </p:nvSpPr>
        <p:spPr>
          <a:xfrm>
            <a:off x="1183113" y="2767010"/>
            <a:ext cx="5062924" cy="1859868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matmul_leakyrelu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算子核函数实现中：</a:t>
            </a:r>
            <a:endParaRPr lang="en-US" altLang="zh-CN" sz="1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使用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算子实现中的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高阶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完成了矩阵乘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的相关工作，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如向量算子实现一般将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算子的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部分分为了三个阶段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，分别是：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2000" lvl="2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实现矩阵乘的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MatmulCompute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2000" lvl="2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实现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LeakyReLU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运算的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LeakyReLUCompute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52000" lvl="2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完成数据搬出的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CopyOut</a:t>
            </a:r>
            <a:endParaRPr lang="zh-CN" altLang="en-US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6" descr="图片 6">
            <a:extLst>
              <a:ext uri="{FF2B5EF4-FFF2-40B4-BE49-F238E27FC236}">
                <a16:creationId xmlns:a16="http://schemas.microsoft.com/office/drawing/2014/main" id="{B5816B50-0DAA-D66A-6BEA-484DC6C69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907" y="2388854"/>
            <a:ext cx="4601743" cy="261618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720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AFE91-BCEB-8B2F-C7A0-FF2C06C5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D4E977C4-DD74-E886-13EB-622F2C627C07}"/>
              </a:ext>
            </a:extLst>
          </p:cNvPr>
          <p:cNvSpPr txBox="1">
            <a:spLocks/>
          </p:cNvSpPr>
          <p:nvPr/>
        </p:nvSpPr>
        <p:spPr>
          <a:xfrm>
            <a:off x="4364572" y="411900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混合算子算法逻辑</a:t>
            </a:r>
          </a:p>
        </p:txBody>
      </p:sp>
      <p:pic>
        <p:nvPicPr>
          <p:cNvPr id="2" name="图片 4" descr="图片 4">
            <a:extLst>
              <a:ext uri="{FF2B5EF4-FFF2-40B4-BE49-F238E27FC236}">
                <a16:creationId xmlns:a16="http://schemas.microsoft.com/office/drawing/2014/main" id="{002237A6-DD7D-23E1-9359-DD1483AF7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49" y="1549750"/>
            <a:ext cx="3767599" cy="4231672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图片 5" descr="图片 5">
            <a:extLst>
              <a:ext uri="{FF2B5EF4-FFF2-40B4-BE49-F238E27FC236}">
                <a16:creationId xmlns:a16="http://schemas.microsoft.com/office/drawing/2014/main" id="{E689A685-244F-67EE-44F2-4DEB83B90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640" y="1549750"/>
            <a:ext cx="7166573" cy="42316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9077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E4EF8-353E-6C12-045F-9AF4458C7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B369D13C-25DF-648C-638C-E2E22ABE2C2F}"/>
              </a:ext>
            </a:extLst>
          </p:cNvPr>
          <p:cNvSpPr txBox="1">
            <a:spLocks/>
          </p:cNvSpPr>
          <p:nvPr/>
        </p:nvSpPr>
        <p:spPr>
          <a:xfrm>
            <a:off x="2772180" y="411900"/>
            <a:ext cx="6652399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算子类实现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——Process()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函数实现</a:t>
            </a:r>
          </a:p>
        </p:txBody>
      </p:sp>
      <p:pic>
        <p:nvPicPr>
          <p:cNvPr id="2" name="图片 4" descr="图片 4">
            <a:extLst>
              <a:ext uri="{FF2B5EF4-FFF2-40B4-BE49-F238E27FC236}">
                <a16:creationId xmlns:a16="http://schemas.microsoft.com/office/drawing/2014/main" id="{FE88518E-3E98-F9A7-6BCB-9FB2C943E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310" y="1273151"/>
            <a:ext cx="7040144" cy="503557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1226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9FC1B-5C25-E414-1614-FABBF1AC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69991A9B-CA51-87E1-12D1-00F9DEF52B7D}"/>
              </a:ext>
            </a:extLst>
          </p:cNvPr>
          <p:cNvSpPr txBox="1"/>
          <p:nvPr/>
        </p:nvSpPr>
        <p:spPr>
          <a:xfrm>
            <a:off x="590551" y="2658122"/>
            <a:ext cx="5102884" cy="272382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08000" rIns="45719">
            <a:spAutoFit/>
          </a:bodyPr>
          <a:lstStyle/>
          <a:p>
            <a:pPr>
              <a:defRPr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template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biasType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MatmulLeakyKernel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biasType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&gt;::</a:t>
            </a:r>
            <a:r>
              <a:rPr sz="900" dirty="0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computeRound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B5CEA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REGIST_MATMUL_OBJ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&amp;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pipe, 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GetSysWorkSpacePtr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matmulObj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matmulObj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&amp;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matmulObj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SetTensorA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aGlobal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matmulObj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SetTensorB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bGlobal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matmulObj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SetBias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biasGlobal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>
                <a:solidFill>
                  <a:srgbClr val="C586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while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matmulObj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template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Iterate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true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&gt;()) {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MamtulCompute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LeakyReluCompute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CopyOut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computeRound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computeRound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++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}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matmulObj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End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pipe_barrier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(PIPE_ALL);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set_atomic_none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" name="文本框 7">
            <a:extLst>
              <a:ext uri="{FF2B5EF4-FFF2-40B4-BE49-F238E27FC236}">
                <a16:creationId xmlns:a16="http://schemas.microsoft.com/office/drawing/2014/main" id="{6AF28A3E-0053-D960-0D8B-E0916960EFB8}"/>
              </a:ext>
            </a:extLst>
          </p:cNvPr>
          <p:cNvSpPr txBox="1"/>
          <p:nvPr/>
        </p:nvSpPr>
        <p:spPr>
          <a:xfrm>
            <a:off x="6386602" y="1647609"/>
            <a:ext cx="5240408" cy="92333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08000" rIns="45719">
            <a:spAutoFit/>
          </a:bodyPr>
          <a:lstStyle/>
          <a:p>
            <a:pPr>
              <a:defRPr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template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biasType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MatmulLeakyKernel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biasType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&gt;::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MamtulCompute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reluOutLocal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reluOutQueue</a:t>
            </a:r>
            <a:r>
              <a:rPr sz="9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AllocTensor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cType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matmulObj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template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GetTensorC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true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&gt;(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reluOutLocal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false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true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4" name="直接箭头连接符 9">
            <a:extLst>
              <a:ext uri="{FF2B5EF4-FFF2-40B4-BE49-F238E27FC236}">
                <a16:creationId xmlns:a16="http://schemas.microsoft.com/office/drawing/2014/main" id="{0287CC47-F3D4-F4B1-FE91-123DDA9E309B}"/>
              </a:ext>
            </a:extLst>
          </p:cNvPr>
          <p:cNvSpPr/>
          <p:nvPr/>
        </p:nvSpPr>
        <p:spPr>
          <a:xfrm flipV="1">
            <a:off x="2428080" y="1720118"/>
            <a:ext cx="3958521" cy="2723823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 sz="1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文本框 12">
            <a:extLst>
              <a:ext uri="{FF2B5EF4-FFF2-40B4-BE49-F238E27FC236}">
                <a16:creationId xmlns:a16="http://schemas.microsoft.com/office/drawing/2014/main" id="{586DB4AC-192C-0EF7-9A6C-D446343ECC9F}"/>
              </a:ext>
            </a:extLst>
          </p:cNvPr>
          <p:cNvSpPr txBox="1"/>
          <p:nvPr/>
        </p:nvSpPr>
        <p:spPr>
          <a:xfrm>
            <a:off x="6386602" y="4551950"/>
            <a:ext cx="5240408" cy="1754326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08000" rIns="45719">
            <a:spAutoFit/>
          </a:bodyPr>
          <a:lstStyle/>
          <a:p>
            <a:pPr>
              <a:defRPr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template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biasType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MatmulLeakyKernel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biasType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&gt;::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CopyOut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count)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  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reluOutQueue</a:t>
            </a:r>
            <a:r>
              <a:rPr sz="9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DeQue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cType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roundM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singleCoreM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baseM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roundN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singleCoreN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baseN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startOffset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(count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%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roundM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baseM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count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roundM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baseN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DataCopyParams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copyParam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{(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uint16_t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baseM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(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uint16_t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)(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baseN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sizeof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DEFAULT_C0_SIZE),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sz="900" dirty="0">
                <a:solidFill>
                  <a:srgbClr val="B5CEA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(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uint16_t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)((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–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baseN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sizeof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DEFAULT_C0_SIZE)};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AscendC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DataCopy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cGlobal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startOffset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],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reluOutLocal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copyParam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reluOutQueue</a:t>
            </a:r>
            <a:r>
              <a:rPr sz="9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FreeTensor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reluOutLocal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);}</a:t>
            </a:r>
          </a:p>
        </p:txBody>
      </p:sp>
      <p:sp>
        <p:nvSpPr>
          <p:cNvPr id="6" name="文本框 19">
            <a:extLst>
              <a:ext uri="{FF2B5EF4-FFF2-40B4-BE49-F238E27FC236}">
                <a16:creationId xmlns:a16="http://schemas.microsoft.com/office/drawing/2014/main" id="{5F964CCC-BB0E-0088-A2ED-09478E0FD927}"/>
              </a:ext>
            </a:extLst>
          </p:cNvPr>
          <p:cNvSpPr txBox="1"/>
          <p:nvPr/>
        </p:nvSpPr>
        <p:spPr>
          <a:xfrm>
            <a:off x="6386602" y="2815499"/>
            <a:ext cx="5240408" cy="92333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08000" rIns="45719">
            <a:spAutoFit/>
          </a:bodyPr>
          <a:lstStyle/>
          <a:p>
            <a:pPr>
              <a:defRPr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template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biasType</a:t>
            </a:r>
            <a:r>
              <a:rPr sz="9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569CD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MatmulLeakyKernel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biasType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&gt;::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LeakyReluCompute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 err="1">
                <a:solidFill>
                  <a:srgbClr val="4EC9B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AscendC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LeakyRelu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reluOutLocal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reluOutLocal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(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cType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sz="900" dirty="0">
                <a:solidFill>
                  <a:srgbClr val="B5CEA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0.001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baseM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>
                <a:solidFill>
                  <a:srgbClr val="D4D4D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baseN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sz="900" dirty="0" err="1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reluOutQueue</a:t>
            </a:r>
            <a:r>
              <a:rPr sz="900" dirty="0">
                <a:solidFill>
                  <a:srgbClr val="9CDCF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sz="900" dirty="0" err="1">
                <a:solidFill>
                  <a:srgbClr val="DCDCA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EnQue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sz="9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reluOutLocal</a:t>
            </a: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endParaRPr sz="9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>
              <a:defRPr sz="12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7" name="直接箭头连接符 10">
            <a:extLst>
              <a:ext uri="{FF2B5EF4-FFF2-40B4-BE49-F238E27FC236}">
                <a16:creationId xmlns:a16="http://schemas.microsoft.com/office/drawing/2014/main" id="{74AD1B10-D165-6F63-EE29-E1F24AF81BB4}"/>
              </a:ext>
            </a:extLst>
          </p:cNvPr>
          <p:cNvSpPr/>
          <p:nvPr/>
        </p:nvSpPr>
        <p:spPr>
          <a:xfrm>
            <a:off x="2585364" y="4752440"/>
            <a:ext cx="3801238" cy="759840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 sz="1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直接箭头连接符 14">
            <a:extLst>
              <a:ext uri="{FF2B5EF4-FFF2-40B4-BE49-F238E27FC236}">
                <a16:creationId xmlns:a16="http://schemas.microsoft.com/office/drawing/2014/main" id="{FFDDBF12-C26A-4D09-B04C-F8F2D26C8D92}"/>
              </a:ext>
            </a:extLst>
          </p:cNvPr>
          <p:cNvSpPr/>
          <p:nvPr/>
        </p:nvSpPr>
        <p:spPr>
          <a:xfrm flipV="1">
            <a:off x="2585364" y="3429000"/>
            <a:ext cx="3801238" cy="1079459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 sz="1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直接箭头连接符 9">
            <a:extLst>
              <a:ext uri="{FF2B5EF4-FFF2-40B4-BE49-F238E27FC236}">
                <a16:creationId xmlns:a16="http://schemas.microsoft.com/office/drawing/2014/main" id="{10A972E5-E2A1-81A9-A4AA-1823AC3EBFBE}"/>
              </a:ext>
            </a:extLst>
          </p:cNvPr>
          <p:cNvSpPr/>
          <p:nvPr/>
        </p:nvSpPr>
        <p:spPr>
          <a:xfrm flipH="1" flipV="1">
            <a:off x="1664897" y="2306377"/>
            <a:ext cx="227299" cy="1122621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 sz="1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直接箭头连接符 9">
            <a:extLst>
              <a:ext uri="{FF2B5EF4-FFF2-40B4-BE49-F238E27FC236}">
                <a16:creationId xmlns:a16="http://schemas.microsoft.com/office/drawing/2014/main" id="{52CF2FF7-0ED1-5068-367C-B0A5A8B5C384}"/>
              </a:ext>
            </a:extLst>
          </p:cNvPr>
          <p:cNvSpPr/>
          <p:nvPr/>
        </p:nvSpPr>
        <p:spPr>
          <a:xfrm flipV="1">
            <a:off x="2869229" y="2314877"/>
            <a:ext cx="1114642" cy="1599858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 sz="1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8EB6AD-4853-E274-088E-6E6CD4EB882C}"/>
              </a:ext>
            </a:extLst>
          </p:cNvPr>
          <p:cNvSpPr/>
          <p:nvPr/>
        </p:nvSpPr>
        <p:spPr>
          <a:xfrm>
            <a:off x="589752" y="1674106"/>
            <a:ext cx="2185955" cy="632274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需要逐个处理数据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需要设置参数存储计算轮次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2AAA69-4EC8-BF64-7ABD-8D7215093CB3}"/>
              </a:ext>
            </a:extLst>
          </p:cNvPr>
          <p:cNvSpPr/>
          <p:nvPr/>
        </p:nvSpPr>
        <p:spPr>
          <a:xfrm>
            <a:off x="2886377" y="1674106"/>
            <a:ext cx="2185955" cy="632274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初始化矩阵</a:t>
            </a:r>
          </a:p>
        </p:txBody>
      </p:sp>
      <p:sp>
        <p:nvSpPr>
          <p:cNvPr id="14" name="直接箭头连接符 9">
            <a:extLst>
              <a:ext uri="{FF2B5EF4-FFF2-40B4-BE49-F238E27FC236}">
                <a16:creationId xmlns:a16="http://schemas.microsoft.com/office/drawing/2014/main" id="{2F5CAE5A-14D5-C198-BDA7-3D0041345E98}"/>
              </a:ext>
            </a:extLst>
          </p:cNvPr>
          <p:cNvSpPr/>
          <p:nvPr/>
        </p:nvSpPr>
        <p:spPr>
          <a:xfrm flipV="1">
            <a:off x="8520522" y="1257299"/>
            <a:ext cx="904057" cy="787249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 sz="1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00D79F-0C07-D2E0-1FC1-83D1DB9F6A62}"/>
              </a:ext>
            </a:extLst>
          </p:cNvPr>
          <p:cNvSpPr/>
          <p:nvPr/>
        </p:nvSpPr>
        <p:spPr>
          <a:xfrm>
            <a:off x="9424579" y="1079049"/>
            <a:ext cx="2202431" cy="324000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逐个计算矩阵乘后取出数据</a:t>
            </a:r>
          </a:p>
        </p:txBody>
      </p:sp>
      <p:sp>
        <p:nvSpPr>
          <p:cNvPr id="16" name="直接箭头连接符 9">
            <a:extLst>
              <a:ext uri="{FF2B5EF4-FFF2-40B4-BE49-F238E27FC236}">
                <a16:creationId xmlns:a16="http://schemas.microsoft.com/office/drawing/2014/main" id="{E91194EC-A328-199D-C1F0-A64945006E1B}"/>
              </a:ext>
            </a:extLst>
          </p:cNvPr>
          <p:cNvSpPr/>
          <p:nvPr/>
        </p:nvSpPr>
        <p:spPr>
          <a:xfrm>
            <a:off x="8789333" y="3662761"/>
            <a:ext cx="635245" cy="503947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 sz="1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179CEB5-30E7-17F1-9E1D-38750022453E}"/>
              </a:ext>
            </a:extLst>
          </p:cNvPr>
          <p:cNvSpPr/>
          <p:nvPr/>
        </p:nvSpPr>
        <p:spPr>
          <a:xfrm>
            <a:off x="9424579" y="3983389"/>
            <a:ext cx="2202431" cy="324000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计算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LeakyReLU</a:t>
            </a:r>
            <a:endParaRPr lang="zh-CN" altLang="en-US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8" name="直接箭头连接符 9">
            <a:extLst>
              <a:ext uri="{FF2B5EF4-FFF2-40B4-BE49-F238E27FC236}">
                <a16:creationId xmlns:a16="http://schemas.microsoft.com/office/drawing/2014/main" id="{0A2F5620-CADF-BB51-03DB-B4F36CF04F37}"/>
              </a:ext>
            </a:extLst>
          </p:cNvPr>
          <p:cNvSpPr/>
          <p:nvPr/>
        </p:nvSpPr>
        <p:spPr>
          <a:xfrm flipH="1">
            <a:off x="5693435" y="6045002"/>
            <a:ext cx="809896" cy="0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 sz="1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5F353F-85B8-AA20-5FB7-987125C86947}"/>
              </a:ext>
            </a:extLst>
          </p:cNvPr>
          <p:cNvSpPr/>
          <p:nvPr/>
        </p:nvSpPr>
        <p:spPr>
          <a:xfrm>
            <a:off x="590550" y="5805071"/>
            <a:ext cx="5102883" cy="477050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根据计算轮次确定输出位置并输出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FC3AD191-8AC9-DA4E-DB17-0D9A2B26C657}"/>
              </a:ext>
            </a:extLst>
          </p:cNvPr>
          <p:cNvSpPr txBox="1">
            <a:spLocks/>
          </p:cNvSpPr>
          <p:nvPr/>
        </p:nvSpPr>
        <p:spPr>
          <a:xfrm>
            <a:off x="2772180" y="411900"/>
            <a:ext cx="6652399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算子类实现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——Process()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函数实现</a:t>
            </a:r>
          </a:p>
        </p:txBody>
      </p:sp>
    </p:spTree>
    <p:extLst>
      <p:ext uri="{BB962C8B-B14F-4D97-AF65-F5344CB8AC3E}">
        <p14:creationId xmlns:p14="http://schemas.microsoft.com/office/powerpoint/2010/main" val="368587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643F3-C87B-6E02-4119-F9E4CA13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78699932-579D-50DB-04C4-C7451B8095EE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本章内容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AB69280-AB8C-38CF-F765-E7F00EA687D9}"/>
              </a:ext>
            </a:extLst>
          </p:cNvPr>
          <p:cNvSpPr/>
          <p:nvPr/>
        </p:nvSpPr>
        <p:spPr>
          <a:xfrm>
            <a:off x="4712642" y="1819025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49F60D-074A-4B97-863F-2B918D94D901}"/>
              </a:ext>
            </a:extLst>
          </p:cNvPr>
          <p:cNvSpPr txBox="1"/>
          <p:nvPr/>
        </p:nvSpPr>
        <p:spPr>
          <a:xfrm>
            <a:off x="5265051" y="1862959"/>
            <a:ext cx="21371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编程模型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14917AA-B46F-803F-8DE5-48C9D11D623D}"/>
              </a:ext>
            </a:extLst>
          </p:cNvPr>
          <p:cNvSpPr/>
          <p:nvPr/>
        </p:nvSpPr>
        <p:spPr>
          <a:xfrm>
            <a:off x="4712642" y="2506262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0E988F-35B4-0CD5-08E8-887D9530491C}"/>
              </a:ext>
            </a:extLst>
          </p:cNvPr>
          <p:cNvSpPr txBox="1"/>
          <p:nvPr/>
        </p:nvSpPr>
        <p:spPr>
          <a:xfrm>
            <a:off x="5265051" y="2550196"/>
            <a:ext cx="21371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语法扩展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769B5BC-7A63-37A5-0BCB-FF0F8DDBEB59}"/>
              </a:ext>
            </a:extLst>
          </p:cNvPr>
          <p:cNvGrpSpPr/>
          <p:nvPr/>
        </p:nvGrpSpPr>
        <p:grpSpPr>
          <a:xfrm>
            <a:off x="4712642" y="3193499"/>
            <a:ext cx="2122069" cy="457200"/>
            <a:chOff x="4712642" y="3544019"/>
            <a:chExt cx="2122069" cy="457200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DDEEF431-25C2-DC22-EFA0-4AB85997AA5F}"/>
                </a:ext>
              </a:extLst>
            </p:cNvPr>
            <p:cNvSpPr/>
            <p:nvPr/>
          </p:nvSpPr>
          <p:spPr>
            <a:xfrm>
              <a:off x="4712642" y="3544019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4B34AC4-8995-7739-9429-B3B4F9FCE0DD}"/>
                </a:ext>
              </a:extLst>
            </p:cNvPr>
            <p:cNvSpPr txBox="1"/>
            <p:nvPr/>
          </p:nvSpPr>
          <p:spPr>
            <a:xfrm>
              <a:off x="5265051" y="3587953"/>
              <a:ext cx="156966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FF2600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向量编程范式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4DAB035-B210-F8FF-FD1F-B1510F242E81}"/>
              </a:ext>
            </a:extLst>
          </p:cNvPr>
          <p:cNvGrpSpPr/>
          <p:nvPr/>
        </p:nvGrpSpPr>
        <p:grpSpPr>
          <a:xfrm>
            <a:off x="4712642" y="3880736"/>
            <a:ext cx="2122069" cy="457200"/>
            <a:chOff x="4712642" y="4231256"/>
            <a:chExt cx="2122069" cy="457200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12000EC9-2397-5108-E513-25CD38E45EED}"/>
                </a:ext>
              </a:extLst>
            </p:cNvPr>
            <p:cNvSpPr/>
            <p:nvPr/>
          </p:nvSpPr>
          <p:spPr>
            <a:xfrm>
              <a:off x="4712642" y="4231256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4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F9DE6CD-FAF0-8E2B-CB3C-C03BACE3221E}"/>
                </a:ext>
              </a:extLst>
            </p:cNvPr>
            <p:cNvSpPr txBox="1"/>
            <p:nvPr/>
          </p:nvSpPr>
          <p:spPr>
            <a:xfrm>
              <a:off x="5265051" y="4275190"/>
              <a:ext cx="156966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0433FF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矩阵编程范式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BAED300-028F-FBCC-D3A0-C49723A7BE7D}"/>
              </a:ext>
            </a:extLst>
          </p:cNvPr>
          <p:cNvGrpSpPr/>
          <p:nvPr/>
        </p:nvGrpSpPr>
        <p:grpSpPr>
          <a:xfrm>
            <a:off x="4712642" y="4567973"/>
            <a:ext cx="2122069" cy="457200"/>
            <a:chOff x="4712642" y="3544019"/>
            <a:chExt cx="2122069" cy="457200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9C7DAC36-9630-9891-76AA-5B7036AF286D}"/>
                </a:ext>
              </a:extLst>
            </p:cNvPr>
            <p:cNvSpPr/>
            <p:nvPr/>
          </p:nvSpPr>
          <p:spPr>
            <a:xfrm>
              <a:off x="4712642" y="3544019"/>
              <a:ext cx="457200" cy="457200"/>
            </a:xfrm>
            <a:prstGeom prst="roundRect">
              <a:avLst/>
            </a:prstGeom>
            <a:solidFill>
              <a:schemeClr val="bg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5</a:t>
              </a:r>
              <a:endPara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58E62ED-A81B-70C7-BDF0-78D256611A9F}"/>
                </a:ext>
              </a:extLst>
            </p:cNvPr>
            <p:cNvSpPr txBox="1"/>
            <p:nvPr/>
          </p:nvSpPr>
          <p:spPr>
            <a:xfrm>
              <a:off x="5265051" y="3587953"/>
              <a:ext cx="1569660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642915" indent="-822915">
                <a:buSzTx/>
                <a:buNone/>
                <a:defRPr sz="3600">
                  <a:solidFill>
                    <a:srgbClr val="FF2600"/>
                  </a:solidFill>
                </a:defRPr>
              </a:pPr>
              <a:r>
                <a:rPr lang="zh-CN" alt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混合编程范式</a:t>
              </a:r>
            </a:p>
          </p:txBody>
        </p:sp>
      </p:grp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3583E93-EB9D-9188-FCEF-EA0225EE0DD5}"/>
              </a:ext>
            </a:extLst>
          </p:cNvPr>
          <p:cNvSpPr/>
          <p:nvPr/>
        </p:nvSpPr>
        <p:spPr>
          <a:xfrm>
            <a:off x="4712642" y="5255210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C3A566C-AC88-0D0F-EBE7-824170A3FE6A}"/>
              </a:ext>
            </a:extLst>
          </p:cNvPr>
          <p:cNvSpPr txBox="1"/>
          <p:nvPr/>
        </p:nvSpPr>
        <p:spPr>
          <a:xfrm>
            <a:off x="5265051" y="5299144"/>
            <a:ext cx="26372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更多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算子样例</a:t>
            </a:r>
          </a:p>
        </p:txBody>
      </p:sp>
    </p:spTree>
    <p:extLst>
      <p:ext uri="{BB962C8B-B14F-4D97-AF65-F5344CB8AC3E}">
        <p14:creationId xmlns:p14="http://schemas.microsoft.com/office/powerpoint/2010/main" val="155311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84AE0-68E4-9A81-6D15-EA98D510B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3B9FEACF-B2D5-13FB-4246-A8FC7248293D}"/>
              </a:ext>
            </a:extLst>
          </p:cNvPr>
          <p:cNvSpPr txBox="1">
            <a:spLocks/>
          </p:cNvSpPr>
          <p:nvPr/>
        </p:nvSpPr>
        <p:spPr>
          <a:xfrm>
            <a:off x="3504560" y="411900"/>
            <a:ext cx="5187639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双曲正弦函数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Sinh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FC6C65B-CA31-D024-32FA-2E6DCA6609BA}"/>
                  </a:ext>
                </a:extLst>
              </p:cNvPr>
              <p:cNvSpPr txBox="1"/>
              <p:nvPr/>
            </p:nvSpPr>
            <p:spPr>
              <a:xfrm>
                <a:off x="4938854" y="2291368"/>
                <a:ext cx="2577561" cy="3690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8" tIns="45718" rIns="45718" bIns="45718" numCol="1" spcCol="38100" rtlCol="0" anchor="t">
                <a:spAutoFit/>
              </a:bodyPr>
              <a:lstStyle/>
              <a:p>
                <a:r>
                  <a:rPr kumimoji="0" lang="en-US" altLang="zh-CN" sz="1200" b="1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Huawei Sans"/>
                  </a:rPr>
                  <a:t>Sinh</a:t>
                </a:r>
                <a:r>
                  <a:rPr kumimoji="0" lang="zh-CN" altLang="en-US" sz="1200" b="1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Huawei Sans"/>
                  </a:rPr>
                  <a:t>数学表达式：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1200" b="1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altLang="zh-CN" sz="1200" b="1" i="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𝐬𝐢𝐧𝐡</m:t>
                        </m:r>
                      </m:fName>
                      <m:e>
                        <m:d>
                          <m:dPr>
                            <m:ctrlPr>
                              <a:rPr lang="zh-CN" altLang="zh-CN" sz="12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12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 </m:t>
                        </m:r>
                      </m:e>
                    </m:func>
                    <m:f>
                      <m:fPr>
                        <m:ctrlPr>
                          <a:rPr lang="zh-CN" altLang="zh-CN" sz="12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altLang="zh-CN" sz="12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1200" b="1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1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zh-CN" sz="1200" b="1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sup>
                            </m:sSup>
                            <m:r>
                              <a:rPr lang="en-US" altLang="zh-CN" sz="12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zh-CN" sz="1200" b="1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1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zh-CN" sz="1200" b="1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1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CN" sz="12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zh-CN" altLang="zh-CN" sz="1200" b="1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FC6C65B-CA31-D024-32FA-2E6DCA660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8854" y="2291368"/>
                <a:ext cx="2577561" cy="369008"/>
              </a:xfrm>
              <a:prstGeom prst="rect">
                <a:avLst/>
              </a:prstGeom>
              <a:blipFill>
                <a:blip r:embed="rId2"/>
                <a:stretch>
                  <a:fillRect l="-1891" b="-16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7277E9A7-51A9-5779-8EA4-AF2851D84912}"/>
              </a:ext>
            </a:extLst>
          </p:cNvPr>
          <p:cNvGrpSpPr/>
          <p:nvPr/>
        </p:nvGrpSpPr>
        <p:grpSpPr>
          <a:xfrm>
            <a:off x="2228183" y="2844147"/>
            <a:ext cx="7740396" cy="1722484"/>
            <a:chOff x="906977" y="3133471"/>
            <a:chExt cx="10124301" cy="225297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D72BED8-60DF-42D3-393D-210D8979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8791" y="3133471"/>
              <a:ext cx="6392487" cy="2252979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840C901-07FD-948F-CED5-716960876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6977" y="3133471"/>
              <a:ext cx="3579018" cy="22529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668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4369-3084-6D36-1495-96F4FC22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220F025B-A75D-C599-CF5C-DAA460D6CE53}"/>
              </a:ext>
            </a:extLst>
          </p:cNvPr>
          <p:cNvSpPr txBox="1">
            <a:spLocks/>
          </p:cNvSpPr>
          <p:nvPr/>
        </p:nvSpPr>
        <p:spPr>
          <a:xfrm>
            <a:off x="2885897" y="411900"/>
            <a:ext cx="642496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高性能矩阵乘法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Strassen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B556E42-A37A-6D03-2155-B2A84BDCE269}"/>
              </a:ext>
            </a:extLst>
          </p:cNvPr>
          <p:cNvGrpSpPr/>
          <p:nvPr/>
        </p:nvGrpSpPr>
        <p:grpSpPr>
          <a:xfrm>
            <a:off x="1399709" y="2375586"/>
            <a:ext cx="3937296" cy="2470814"/>
            <a:chOff x="1981992" y="2471991"/>
            <a:chExt cx="3937296" cy="2470814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C429D68-6A96-E576-0FCE-D7D53D8D381C}"/>
                </a:ext>
              </a:extLst>
            </p:cNvPr>
            <p:cNvSpPr txBox="1"/>
            <p:nvPr/>
          </p:nvSpPr>
          <p:spPr>
            <a:xfrm>
              <a:off x="1981992" y="2471991"/>
              <a:ext cx="1851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Strassen</a:t>
              </a:r>
              <a:r>
                <a:rPr lang="zh-CN" altLang="en-US" b="1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算法：</a:t>
              </a:r>
              <a:endPara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BCC14E1-B32F-76B1-85A6-80F4C176BD89}"/>
                    </a:ext>
                  </a:extLst>
                </p:cNvPr>
                <p:cNvSpPr txBox="1"/>
                <p:nvPr/>
              </p:nvSpPr>
              <p:spPr>
                <a:xfrm>
                  <a:off x="1981992" y="2919916"/>
                  <a:ext cx="3201004" cy="9538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每</a:t>
                  </a:r>
                  <a:r>
                    <a:rPr lang="en-US" altLang="zh-CN" sz="1200" b="1" dirty="0">
                      <a:solidFill>
                        <a:srgbClr val="C00000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1</a:t>
                  </a: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次</a:t>
                  </a:r>
                  <a:r>
                    <a:rPr lang="zh-CN" altLang="en-US" sz="1200" b="1" dirty="0">
                      <a:solidFill>
                        <a:srgbClr val="C00000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递归</a:t>
                  </a: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进行：</a:t>
                  </a:r>
                  <a:endPara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  <a:p>
                  <a:endPara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  <a:p>
                  <a:r>
                    <a:rPr lang="en-US" altLang="zh-CN" sz="1200" b="1" dirty="0">
                      <a:solidFill>
                        <a:srgbClr val="C00000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10+8</a:t>
                  </a: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次</a:t>
                  </a:r>
                  <a14:m>
                    <m:oMath xmlns:m="http://schemas.openxmlformats.org/officeDocument/2006/math">
                      <m:r>
                        <a:rPr lang="en-US" altLang="zh-CN" sz="12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(</m:t>
                      </m:r>
                      <m:f>
                        <m:fPr>
                          <m:ctrlPr>
                            <a:rPr lang="zh-CN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1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1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)×(</m:t>
                      </m:r>
                      <m:f>
                        <m:fPr>
                          <m:ctrlPr>
                            <a:rPr lang="zh-CN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1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1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)</m:t>
                      </m:r>
                    </m:oMath>
                  </a14:m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矩阵加法，时间复杂度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  <a:p>
                  <a:r>
                    <a:rPr lang="en-US" altLang="zh-CN" sz="1200" b="1" dirty="0">
                      <a:solidFill>
                        <a:srgbClr val="C00000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7</a:t>
                  </a:r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次</a:t>
                  </a:r>
                  <a14:m>
                    <m:oMath xmlns:m="http://schemas.openxmlformats.org/officeDocument/2006/math">
                      <m:r>
                        <a:rPr lang="en-US" altLang="zh-CN" sz="12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(</m:t>
                      </m:r>
                      <m:f>
                        <m:fPr>
                          <m:ctrlPr>
                            <a:rPr lang="zh-CN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1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1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)×(</m:t>
                      </m:r>
                      <m:f>
                        <m:fPr>
                          <m:ctrlPr>
                            <a:rPr lang="zh-CN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1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12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)</m:t>
                      </m:r>
                    </m:oMath>
                  </a14:m>
                  <a:r>
                    <a:rPr lang="zh-CN" altLang="en-US" sz="1200" dirty="0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矩阵乘法，时间复杂度</a:t>
                  </a:r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zh-CN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BCC14E1-B32F-76B1-85A6-80F4C176BD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992" y="2919916"/>
                  <a:ext cx="3201004" cy="953851"/>
                </a:xfrm>
                <a:prstGeom prst="rect">
                  <a:avLst/>
                </a:prstGeom>
                <a:blipFill>
                  <a:blip r:embed="rId2"/>
                  <a:stretch>
                    <a:fillRect l="-190" t="-63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EF78AB54-7819-1C0D-1612-4D7F52BA8F5E}"/>
                    </a:ext>
                  </a:extLst>
                </p:cNvPr>
                <p:cNvSpPr txBox="1"/>
                <p:nvPr/>
              </p:nvSpPr>
              <p:spPr>
                <a:xfrm>
                  <a:off x="1981992" y="3952360"/>
                  <a:ext cx="2892395" cy="5068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b="1" dirty="0"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算法总耗时</a:t>
                  </a:r>
                  <a14:m>
                    <m:oMath xmlns:m="http://schemas.openxmlformats.org/officeDocument/2006/math">
                      <m:r>
                        <a:rPr lang="en-US" altLang="zh-CN" b="1" i="1" kern="10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𝟕</m:t>
                      </m:r>
                      <m:r>
                        <a:rPr lang="en-US" altLang="zh-CN" b="1" i="1" kern="10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𝑻</m:t>
                      </m:r>
                      <m:d>
                        <m:dPr>
                          <m:ctrlPr>
                            <a:rPr lang="zh-CN" altLang="zh-CN" b="1" i="1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b="1" i="1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kern="10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b="1" i="1" kern="10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b="1" i="1" kern="10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b="1" i="1" kern="10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𝜣</m:t>
                      </m:r>
                      <m:r>
                        <a:rPr lang="en-US" altLang="zh-CN" b="1" i="1" kern="10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b="1" i="1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CN" b="1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kern="10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endPara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EF78AB54-7819-1C0D-1612-4D7F52BA8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992" y="3952360"/>
                  <a:ext cx="2892395" cy="506870"/>
                </a:xfrm>
                <a:prstGeom prst="rect">
                  <a:avLst/>
                </a:prstGeom>
                <a:blipFill>
                  <a:blip r:embed="rId3"/>
                  <a:stretch>
                    <a:fillRect l="-1899" r="-422" b="-48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925813D6-C041-6FEA-CFBA-C40521B35624}"/>
                    </a:ext>
                  </a:extLst>
                </p:cNvPr>
                <p:cNvSpPr txBox="1"/>
                <p:nvPr/>
              </p:nvSpPr>
              <p:spPr>
                <a:xfrm>
                  <a:off x="1981992" y="4537822"/>
                  <a:ext cx="3937296" cy="40498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lvl="0">
                    <a:defRPr/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总时间复杂度</a:t>
                  </a:r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zh-CN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zh-CN" altLang="zh-CN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zh-CN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zh-CN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𝟖𝟎𝟕</m:t>
                              </m:r>
                            </m:sup>
                          </m:sSup>
                        </m:e>
                      </m:d>
                    </m:oMath>
                  </a14:m>
                  <a:endPara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925813D6-C041-6FEA-CFBA-C40521B35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992" y="4537822"/>
                  <a:ext cx="3937296" cy="404983"/>
                </a:xfrm>
                <a:prstGeom prst="rect">
                  <a:avLst/>
                </a:prstGeom>
                <a:blipFill>
                  <a:blip r:embed="rId4"/>
                  <a:stretch>
                    <a:fillRect l="-1395" t="-4545" b="-196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E516D7F2-8877-5A00-A098-672A79238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4770" y="2415958"/>
            <a:ext cx="5342284" cy="239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538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DAD06-3562-C415-83CC-AFEB9DFA4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CFAE2240-7B42-D2DF-4E3A-07142D099A47}"/>
              </a:ext>
            </a:extLst>
          </p:cNvPr>
          <p:cNvSpPr txBox="1">
            <a:spLocks/>
          </p:cNvSpPr>
          <p:nvPr/>
        </p:nvSpPr>
        <p:spPr>
          <a:xfrm>
            <a:off x="2885897" y="411900"/>
            <a:ext cx="642496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高性能矩阵乘法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Strassen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F1070DD-FD22-B0D4-F128-50DDB8B4A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86" y="1125538"/>
            <a:ext cx="4144861" cy="518318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2507765-F696-73E3-78C1-830C069CA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742" y="1937565"/>
            <a:ext cx="6545334" cy="36743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1455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86D7A-743E-F8CC-A5A8-1E405BEDC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AF2D7B40-2BD8-C273-D8DE-AA5507643A44}"/>
              </a:ext>
            </a:extLst>
          </p:cNvPr>
          <p:cNvSpPr txBox="1">
            <a:spLocks/>
          </p:cNvSpPr>
          <p:nvPr/>
        </p:nvSpPr>
        <p:spPr>
          <a:xfrm>
            <a:off x="2885897" y="411900"/>
            <a:ext cx="642496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高性能矩阵乘法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Strassen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176FB0D-4276-0C38-277A-E026307E1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49" y="2062879"/>
            <a:ext cx="5353689" cy="367724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68C5043-00D4-8C0C-73F8-1A7386297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526" y="2062879"/>
            <a:ext cx="5353689" cy="158052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B79B8E2-71CC-2844-420B-51A1F445ABD8}"/>
              </a:ext>
            </a:extLst>
          </p:cNvPr>
          <p:cNvSpPr txBox="1"/>
          <p:nvPr/>
        </p:nvSpPr>
        <p:spPr>
          <a:xfrm>
            <a:off x="2904954" y="1666493"/>
            <a:ext cx="724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E07EE3-67A6-FD63-EB5D-1E677A3EC5DB}"/>
              </a:ext>
            </a:extLst>
          </p:cNvPr>
          <p:cNvSpPr txBox="1"/>
          <p:nvPr/>
        </p:nvSpPr>
        <p:spPr>
          <a:xfrm>
            <a:off x="8384990" y="1666493"/>
            <a:ext cx="1088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142788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BDD39-490A-7064-3D78-14489BF09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5E2ECF5A-512B-0FBF-C25E-E088F424B7A3}"/>
              </a:ext>
            </a:extLst>
          </p:cNvPr>
          <p:cNvSpPr txBox="1">
            <a:spLocks/>
          </p:cNvSpPr>
          <p:nvPr/>
        </p:nvSpPr>
        <p:spPr>
          <a:xfrm>
            <a:off x="2885897" y="411900"/>
            <a:ext cx="642496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高性能矩阵乘法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Strassen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FE5001-A1F0-3DD9-21E5-06C128933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2698" y="1658605"/>
            <a:ext cx="6691747" cy="3951399"/>
          </a:xfrm>
          <a:prstGeom prst="rect">
            <a:avLst/>
          </a:prstGeom>
          <a:noFill/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6FE2C10-3A3B-1459-A0D3-F1E6B1790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317" y="1764233"/>
            <a:ext cx="1787864" cy="384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95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FA980-4284-6E43-5B39-E266C1600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CB050EE7-BC03-E0EA-0A59-A2867EE64A24}"/>
              </a:ext>
            </a:extLst>
          </p:cNvPr>
          <p:cNvSpPr txBox="1">
            <a:spLocks/>
          </p:cNvSpPr>
          <p:nvPr/>
        </p:nvSpPr>
        <p:spPr>
          <a:xfrm>
            <a:off x="2885897" y="411900"/>
            <a:ext cx="642496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高性能矩阵乘法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Strassen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72FF2DB-F23D-2F4C-6757-3C608C7A6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75" y="2336790"/>
            <a:ext cx="5101722" cy="3012532"/>
          </a:xfrm>
          <a:prstGeom prst="rect">
            <a:avLst/>
          </a:prstGeom>
          <a:noFill/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86934FC-3CAF-7B7C-CA97-627F6025E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995" y="2336790"/>
            <a:ext cx="5922218" cy="301253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176AEE2-BDE3-BC81-8F5E-CE5E60DEA43B}"/>
              </a:ext>
            </a:extLst>
          </p:cNvPr>
          <p:cNvSpPr txBox="1"/>
          <p:nvPr/>
        </p:nvSpPr>
        <p:spPr>
          <a:xfrm>
            <a:off x="6209181" y="1890997"/>
            <a:ext cx="48718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DataCopy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(</a:t>
            </a:r>
            <a:r>
              <a:rPr kumimoji="0" lang="en-US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dst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, </a:t>
            </a:r>
            <a:r>
              <a:rPr kumimoji="0" lang="en-US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src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, {</a:t>
            </a:r>
            <a:r>
              <a:rPr kumimoji="0" lang="en-US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blockCount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, </a:t>
            </a:r>
            <a:r>
              <a:rPr kumimoji="0" lang="en-US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blockLen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, </a:t>
            </a:r>
            <a:r>
              <a:rPr kumimoji="0" lang="en-US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srcStride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, </a:t>
            </a:r>
            <a:r>
              <a:rPr kumimoji="0" lang="en-US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dstStride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uawei Sans"/>
              </a:rPr>
              <a:t>})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uawei Sans"/>
            </a:endParaRPr>
          </a:p>
        </p:txBody>
      </p:sp>
    </p:spTree>
    <p:extLst>
      <p:ext uri="{BB962C8B-B14F-4D97-AF65-F5344CB8AC3E}">
        <p14:creationId xmlns:p14="http://schemas.microsoft.com/office/powerpoint/2010/main" val="377906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F8D3F-2BE4-5809-E021-270C7D5C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BC6548F1-8E4E-66A1-146A-3F1C883A506D}"/>
              </a:ext>
            </a:extLst>
          </p:cNvPr>
          <p:cNvSpPr txBox="1">
            <a:spLocks/>
          </p:cNvSpPr>
          <p:nvPr/>
        </p:nvSpPr>
        <p:spPr>
          <a:xfrm>
            <a:off x="2885897" y="411900"/>
            <a:ext cx="642496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高性能矩阵乘法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Strassen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863DD6B-DADF-C702-256E-D8905B3225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03"/>
          <a:stretch/>
        </p:blipFill>
        <p:spPr>
          <a:xfrm>
            <a:off x="2011577" y="1125538"/>
            <a:ext cx="1983743" cy="511065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690F6E0-B4FB-614F-E1EA-2EA90FEC1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553" y="1125538"/>
            <a:ext cx="6026633" cy="511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4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7F5AD-088A-D4EB-59C3-15F5E5DFF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AEB1F342-CFEE-81B9-32F6-807DA880630E}"/>
              </a:ext>
            </a:extLst>
          </p:cNvPr>
          <p:cNvSpPr txBox="1">
            <a:spLocks/>
          </p:cNvSpPr>
          <p:nvPr/>
        </p:nvSpPr>
        <p:spPr>
          <a:xfrm>
            <a:off x="2885897" y="411900"/>
            <a:ext cx="642496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高性能矩阵乘法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Strassen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9820695-1367-B7B6-BB25-C59D200217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2" b="9537"/>
          <a:stretch/>
        </p:blipFill>
        <p:spPr>
          <a:xfrm>
            <a:off x="2839595" y="1124192"/>
            <a:ext cx="1940420" cy="518453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38CF419-12D7-1AFB-2183-89B89D738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659" y="1124192"/>
            <a:ext cx="4414508" cy="51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4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25353-14DA-E8D3-20A8-EE4BEC970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B1649-CCE4-92D2-C520-C6F8FAA77C26}"/>
              </a:ext>
            </a:extLst>
          </p:cNvPr>
          <p:cNvSpPr txBox="1">
            <a:spLocks/>
          </p:cNvSpPr>
          <p:nvPr/>
        </p:nvSpPr>
        <p:spPr>
          <a:xfrm>
            <a:off x="2885897" y="411900"/>
            <a:ext cx="642496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高性能矩阵乘法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Strassen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4AE5D3-2E67-C3F8-0CA9-8D4A9BA451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949"/>
          <a:stretch/>
        </p:blipFill>
        <p:spPr>
          <a:xfrm>
            <a:off x="1331438" y="1588154"/>
            <a:ext cx="2357691" cy="41683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A30AD17-A192-B1D6-5DB7-A2B010FF6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798" y="2049519"/>
            <a:ext cx="7030527" cy="324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0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5DEB7-1A36-BF9D-594C-44097FC1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92C49E91-1857-AFCD-0DCD-EB80ECC53C38}"/>
              </a:ext>
            </a:extLst>
          </p:cNvPr>
          <p:cNvSpPr txBox="1">
            <a:spLocks/>
          </p:cNvSpPr>
          <p:nvPr/>
        </p:nvSpPr>
        <p:spPr>
          <a:xfrm>
            <a:off x="2885897" y="411900"/>
            <a:ext cx="642496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高性能矩阵乘法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Strassen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1F93A17-3DD4-4331-4D3E-5AB51EF2A9A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81494" y="1689506"/>
            <a:ext cx="1581522" cy="399334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AF62BA5-15EF-F6C1-B9AD-1C32BB5C2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016" y="1686256"/>
            <a:ext cx="6252252" cy="39998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5109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B0144-B480-BE49-A452-3B68643EB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FA966031-A28B-B59F-A2A0-5153C67E035E}"/>
              </a:ext>
            </a:extLst>
          </p:cNvPr>
          <p:cNvSpPr txBox="1">
            <a:spLocks/>
          </p:cNvSpPr>
          <p:nvPr/>
        </p:nvSpPr>
        <p:spPr>
          <a:xfrm>
            <a:off x="2885897" y="411900"/>
            <a:ext cx="642496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高性能矩阵乘法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Strassen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CFF1F6C-E801-F010-19A6-6CA913F49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26" y="2075619"/>
            <a:ext cx="5025032" cy="3214735"/>
          </a:xfrm>
          <a:prstGeom prst="rect">
            <a:avLst/>
          </a:prstGeom>
          <a:noFill/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1468E67-A317-F1DF-B846-21A3D49F4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637" y="2666426"/>
            <a:ext cx="5868577" cy="203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7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F6E27-4EB8-9FF8-66A1-28409B768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4763BBF7-EFE1-7C6E-4C95-09E37D77137A}"/>
              </a:ext>
            </a:extLst>
          </p:cNvPr>
          <p:cNvSpPr txBox="1">
            <a:spLocks/>
          </p:cNvSpPr>
          <p:nvPr/>
        </p:nvSpPr>
        <p:spPr>
          <a:xfrm>
            <a:off x="2885897" y="411900"/>
            <a:ext cx="642496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高性能矩阵乘法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Strassen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90F7DFF-77F8-BDB7-9C2B-06354897E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68" y="2680509"/>
            <a:ext cx="11020426" cy="187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7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BF27-6FA1-0DA4-A53C-EEAE2EC4C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DC8177A3-ECA6-CC78-7409-D2D420D0628B}"/>
              </a:ext>
            </a:extLst>
          </p:cNvPr>
          <p:cNvSpPr txBox="1">
            <a:spLocks/>
          </p:cNvSpPr>
          <p:nvPr/>
        </p:nvSpPr>
        <p:spPr>
          <a:xfrm>
            <a:off x="4239025" y="411900"/>
            <a:ext cx="3718710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LayNorm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FEFEFC3-28FF-912D-6EBD-DB1AEB2BFE05}"/>
                  </a:ext>
                </a:extLst>
              </p:cNvPr>
              <p:cNvSpPr txBox="1"/>
              <p:nvPr/>
            </p:nvSpPr>
            <p:spPr>
              <a:xfrm>
                <a:off x="1462499" y="1762594"/>
                <a:ext cx="9271765" cy="40163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8" tIns="45718" rIns="45718" bIns="45718" numCol="1" spcCol="38100" rtlCol="0" anchor="t">
                <a:spAutoFit/>
              </a:bodyPr>
              <a:lstStyle/>
              <a:p>
                <a:pPr marL="0" marR="0" defTabSz="914477" rtl="0" fontAlgn="auto" latinLnBrk="0" hangingPunct="0">
                  <a:lnSpc>
                    <a:spcPct val="150000"/>
                  </a:lnSpc>
                  <a:buClrTx/>
                  <a:buSzTx/>
                  <a:buFontTx/>
                  <a:buNone/>
                  <a:tabLst/>
                </a:pPr>
                <a:r>
                  <a:rPr lang="en-US" altLang="zh-CN" sz="1200" b="1" kern="100" dirty="0" err="1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LayerNorm</a:t>
                </a:r>
                <a:r>
                  <a:rPr lang="zh-CN" altLang="zh-CN" sz="1200" b="1" kern="100" dirty="0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（</a:t>
                </a:r>
                <a:r>
                  <a:rPr lang="en-US" altLang="zh-CN" sz="1200" b="1" kern="100" dirty="0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Layer Normalization</a:t>
                </a:r>
                <a:r>
                  <a:rPr lang="zh-CN" altLang="zh-CN" sz="1200" b="1" kern="100" dirty="0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，层归一化）</a:t>
                </a:r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是一种用于深度学习模型的归一化技术，</a:t>
                </a:r>
                <a:endParaRPr lang="en-US" altLang="zh-CN" sz="1200" kern="100" dirty="0"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0" marR="0" defTabSz="914477" rtl="0" fontAlgn="auto" latinLnBrk="0" hangingPunct="0">
                  <a:lnSpc>
                    <a:spcPct val="150000"/>
                  </a:lnSpc>
                  <a:buClrTx/>
                  <a:buSzTx/>
                  <a:buFontTx/>
                  <a:buNone/>
                  <a:tabLst/>
                </a:pPr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通过对每个样本内部的特征进行独立归一化，有助于减少内部协变量偏移的影响，</a:t>
                </a:r>
                <a:endParaRPr lang="en-US" altLang="zh-CN" sz="1200" kern="100" dirty="0"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0" marR="0" defTabSz="914477" rtl="0" fontAlgn="auto" latinLnBrk="0" hangingPunct="0">
                  <a:lnSpc>
                    <a:spcPct val="150000"/>
                  </a:lnSpc>
                  <a:spcAft>
                    <a:spcPts val="120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提升模型的训练稳定性和泛化能力。</a:t>
                </a:r>
                <a:endParaRPr lang="en-US" altLang="zh-CN" sz="1200" kern="100" dirty="0"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52000">
                  <a:lnSpc>
                    <a:spcPct val="150000"/>
                  </a:lnSpc>
                </a:pPr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对于一个具有特征维度为</a:t>
                </a:r>
                <a:r>
                  <a:rPr lang="en-US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d</a:t>
                </a:r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的输入</a:t>
                </a:r>
                <a14:m>
                  <m:oMath xmlns:m="http://schemas.openxmlformats.org/officeDocument/2006/math">
                    <m:r>
                      <a:rPr lang="en-US" altLang="zh-CN" sz="12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12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1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2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zh-CN" sz="1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zh-CN" altLang="zh-CN" sz="12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zh-CN" sz="1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…</m:t>
                        </m:r>
                        <m:r>
                          <a:rPr lang="zh-CN" altLang="zh-CN" sz="1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zh-CN" altLang="zh-CN" sz="12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2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</a:p>
              <a:p>
                <a:pPr marL="2520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0" kern="10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𝐋𝐚𝐲𝐞𝐫𝐍𝐨𝐫𝐦</m:t>
                      </m:r>
                      <m:d>
                        <m:dPr>
                          <m:ctrlPr>
                            <a:rPr lang="zh-CN" altLang="zh-CN" sz="1200" b="1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1200" b="1" i="1" kern="10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200" b="1" i="1" kern="10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𝜸</m:t>
                      </m:r>
                      <m:r>
                        <a:rPr lang="en-US" altLang="zh-CN" sz="1200" b="1" i="1" kern="10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∙</m:t>
                      </m:r>
                      <m:f>
                        <m:fPr>
                          <m:ctrlPr>
                            <a:rPr lang="zh-CN" altLang="zh-CN" sz="1200" b="1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1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en-US" altLang="zh-CN" sz="1200" b="1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200" b="1" i="1" kern="10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𝝁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sz="1200" b="1" i="1" kern="10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zh-CN" sz="1200" b="1" i="1" kern="100">
                                      <a:solidFill>
                                        <a:srgbClr val="C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1" i="1" kern="100">
                                      <a:solidFill>
                                        <a:srgbClr val="C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zh-CN" sz="1200" b="1" i="1" kern="100">
                                      <a:solidFill>
                                        <a:srgbClr val="C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1200" b="1" i="1" kern="10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1200" b="1" i="1" kern="10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𝝐</m:t>
                              </m:r>
                            </m:e>
                          </m:rad>
                        </m:den>
                      </m:f>
                      <m:r>
                        <a:rPr lang="en-US" altLang="zh-CN" sz="1200" b="1" i="1" kern="10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200" b="1" i="1" kern="10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𝜷</m:t>
                      </m:r>
                    </m:oMath>
                  </m:oMathPara>
                </a14:m>
                <a:endParaRPr lang="zh-CN" altLang="zh-CN" sz="1200" b="1" kern="100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52000">
                  <a:lnSpc>
                    <a:spcPct val="150000"/>
                  </a:lnSpc>
                </a:pPr>
                <a:r>
                  <a:rPr lang="zh-CN" altLang="zh-CN" sz="1200" b="1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其中：</a:t>
                </a:r>
              </a:p>
              <a:p>
                <a:pPr marL="252000" indent="-126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200" b="1" i="0" kern="10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𝐋𝐚𝐲𝐞𝐫𝐍𝐨𝐫𝐦</m:t>
                    </m:r>
                    <m:d>
                      <m:dPr>
                        <m:ctrlPr>
                          <a:rPr lang="zh-CN" altLang="zh-CN" sz="1200" b="1" i="1" kern="10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200" b="1" i="1" kern="10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表示对输入</a:t>
                </a:r>
                <a:r>
                  <a:rPr lang="en-US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x</a:t>
                </a:r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进行</a:t>
                </a:r>
                <a:r>
                  <a:rPr lang="en-US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Layer Normalization </a:t>
                </a:r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的结果。</a:t>
                </a:r>
              </a:p>
              <a:p>
                <a:pPr marL="252000" indent="-126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2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γ</a:t>
                </a:r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和</a:t>
                </a:r>
                <a:r>
                  <a:rPr lang="zh-CN" altLang="zh-CN" sz="12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β</a:t>
                </a:r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是可学习的参数向量，维度均为</a:t>
                </a:r>
                <a:r>
                  <a:rPr lang="en-US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d</a:t>
                </a:r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，它们用于对归一化的结果进行缩放和平移，以便让网络自由地学习调整数据的均值和方差。</a:t>
                </a:r>
              </a:p>
              <a:p>
                <a:pPr marL="252000" indent="-126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2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μ</a:t>
                </a:r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是输入</a:t>
                </a:r>
                <a:r>
                  <a:rPr lang="en-US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x</a:t>
                </a:r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在特征维度上的均值，计算方式为：</a:t>
                </a:r>
                <a14:m>
                  <m:oMath xmlns:m="http://schemas.openxmlformats.org/officeDocument/2006/math">
                    <m:r>
                      <a:rPr lang="en-US" altLang="zh-CN" sz="1200" b="1" kern="1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sz="1200" b="1" kern="1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200" b="1" i="1" kern="1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200" b="1" kern="1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200" b="1" kern="1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zh-CN" altLang="zh-CN" sz="1200" b="1" i="1" kern="1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200" b="1" kern="1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200" b="1" kern="1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200" b="1" kern="1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zh-CN" altLang="zh-CN" sz="1200" b="1" i="1" kern="1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1" kern="1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200" b="1" kern="1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zh-CN" altLang="zh-CN" sz="1200" b="1" kern="100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marL="252000" indent="-126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2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σ</a:t>
                </a:r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是输入</a:t>
                </a:r>
                <a:r>
                  <a:rPr lang="en-US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x</a:t>
                </a:r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在特征维度上的标准差，计算方式为：</a:t>
                </a:r>
                <a14:m>
                  <m:oMath xmlns:m="http://schemas.openxmlformats.org/officeDocument/2006/math">
                    <m:r>
                      <a:rPr lang="en-US" altLang="zh-CN" sz="1200" b="1" kern="1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CN" sz="1200" b="1" kern="1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zh-CN" sz="1200" b="1" i="1" kern="1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zh-CN" sz="1200" b="1" i="1" kern="1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1" kern="1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1" kern="1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zh-CN" altLang="zh-CN" sz="1200" b="1" i="1" kern="1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200" b="1" kern="1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1200" b="1" kern="1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200" b="1" kern="1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p>
                          <m:e>
                            <m:sSup>
                              <m:sSupPr>
                                <m:ctrlPr>
                                  <a:rPr lang="zh-CN" altLang="zh-CN" sz="1200" b="1" i="1" kern="1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zh-CN" sz="1200" b="1" i="1" kern="1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sz="1200" b="1" i="1" kern="10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200" b="1" kern="10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200" b="1" kern="10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1200" b="1" kern="1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200" b="1" kern="10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1200" b="1" kern="10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zh-CN" altLang="zh-CN" sz="1200" b="1" kern="100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marL="252000" indent="-126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200" b="1" kern="1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是一个小的常数，例如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zh-CN" altLang="zh-CN" sz="1200" kern="100" dirty="0"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，用于避免除以零的情况。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FEFEFC3-28FF-912D-6EBD-DB1AEB2BF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499" y="1762594"/>
                <a:ext cx="9271765" cy="4016352"/>
              </a:xfrm>
              <a:prstGeom prst="rect">
                <a:avLst/>
              </a:prstGeom>
              <a:blipFill>
                <a:blip r:embed="rId2"/>
                <a:stretch>
                  <a:fillRect l="-52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851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F8172-F7F3-2284-C50C-F9D66CEE3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31B40A69-8A74-1000-25A2-AE0978EE5BBA}"/>
              </a:ext>
            </a:extLst>
          </p:cNvPr>
          <p:cNvSpPr txBox="1">
            <a:spLocks/>
          </p:cNvSpPr>
          <p:nvPr/>
        </p:nvSpPr>
        <p:spPr>
          <a:xfrm>
            <a:off x="4239025" y="411900"/>
            <a:ext cx="3718710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LayNorm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71B7A49-B638-102E-2E45-A5ED943428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80"/>
          <a:stretch/>
        </p:blipFill>
        <p:spPr>
          <a:xfrm>
            <a:off x="2833148" y="1236935"/>
            <a:ext cx="6530467" cy="49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9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3CE1C-1EC0-1665-627A-2AD136BE8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A41A7D82-035F-558E-4EE7-5D7B1F6DB94D}"/>
              </a:ext>
            </a:extLst>
          </p:cNvPr>
          <p:cNvSpPr txBox="1">
            <a:spLocks/>
          </p:cNvSpPr>
          <p:nvPr/>
        </p:nvSpPr>
        <p:spPr>
          <a:xfrm>
            <a:off x="4239025" y="411900"/>
            <a:ext cx="3718710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LayNorm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算子实现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4BF6A66-0EB7-954D-1403-4082DD87704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5F6F7"/>
              </a:clrFrom>
              <a:clrTo>
                <a:srgbClr val="F5F6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74964" y="2021059"/>
            <a:ext cx="4168501" cy="336833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67F6100-7831-C105-65BB-F8F2FAEE273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5F6F7"/>
              </a:clrFrom>
              <a:clrTo>
                <a:srgbClr val="F5F6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67370" y="2021059"/>
            <a:ext cx="3854429" cy="328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04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77E3B732-DDF7-4011-B681-28F511DF8898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002891D3-441F-4843-9EAC-D44E0F2301F5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4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AFFA82CF-250F-4604-B0DF-1F7FF8D51155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</Template>
  <TotalTime>1693</TotalTime>
  <Words>6892</Words>
  <Application>Microsoft Office PowerPoint</Application>
  <PresentationFormat>自定义</PresentationFormat>
  <Paragraphs>765</Paragraphs>
  <Slides>67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67</vt:i4>
      </vt:variant>
    </vt:vector>
  </HeadingPairs>
  <TitlesOfParts>
    <vt:vector size="79" baseType="lpstr">
      <vt:lpstr>.AppleSystemUIFont</vt:lpstr>
      <vt:lpstr>微软雅黑</vt:lpstr>
      <vt:lpstr>微软雅黑</vt:lpstr>
      <vt:lpstr>Arial</vt:lpstr>
      <vt:lpstr>Calibri</vt:lpstr>
      <vt:lpstr>Cambria Math</vt:lpstr>
      <vt:lpstr>Times New Roman</vt:lpstr>
      <vt:lpstr>封面页_图片版 </vt:lpstr>
      <vt:lpstr>目录页</vt:lpstr>
      <vt:lpstr>章节页</vt:lpstr>
      <vt:lpstr>1_自定义设计方案</vt:lpstr>
      <vt:lpstr>结束页</vt:lpstr>
      <vt:lpstr>第3章 Ascend C编程模型与编程范式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yusi (A)</dc:creator>
  <cp:lastModifiedBy>a92190</cp:lastModifiedBy>
  <cp:revision>132</cp:revision>
  <dcterms:created xsi:type="dcterms:W3CDTF">2022-02-10T15:02:30Z</dcterms:created>
  <dcterms:modified xsi:type="dcterms:W3CDTF">2024-12-04T02:10:50Z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(3)C96Z1hAKosym6EbdFlMCzRXUHiiwYE22PTU1N8/Nz2n/qDo6LJV7WzI53aocoscGy5cfQZpr
EMvDwD4llbAKwgozTlti4TwFVN2DturZbkcHevYO7h/StlxEiPmHEJ/4XH1O6vVS07brnKZD
WMeEhWuDu9x4s8CxTI9+bXJPVn9sarFCjeBytrONxqof7kh4d1rCLD9esbc6gh2kL9x4RRTj
b/cP7mJscMHv0GK31U</vt:lpwstr>
  </property>
  <property fmtid="{D5CDD505-2E9C-101B-9397-08002B2CF9AE}" pid="3" name="_2015_ms_pID_7253431">
    <vt:lpwstr>+G7EV3gMKk658DH/eee45Z3t+vtmf8yh0lsvSKv6yLCRbWNMnpX0U1
xzYAty90ETFfGfibDhssu0Mva4SxzXSoKPgcTG5SZxqTOweKBnPBV6d6kCN4pINXKT7ZUsPD
qU0gn8I9MQS1tysBDuxN1sc9883rAdqB86/EN1Okg0Kl9588Lz22Blx16F17zwlzeUmT4/7k
I1MM5cTLYYSisKizyYuH7Yb1BtTNmM+xcfle</vt:lpwstr>
  </property>
  <property fmtid="{D5CDD505-2E9C-101B-9397-08002B2CF9AE}" pid="4" name="_2015_ms_pID_7253432">
    <vt:lpwstr>2UHHCpPJjfFv3TbGNdgTG/Q=</vt:lpwstr>
  </property>
</Properties>
</file>