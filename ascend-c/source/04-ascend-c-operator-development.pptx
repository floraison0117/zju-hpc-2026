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897" r:id="rId4"/>
    <p:sldMasterId id="2147483683" r:id="rId5"/>
  </p:sldMasterIdLst>
  <p:notesMasterIdLst>
    <p:notesMasterId r:id="rId47"/>
  </p:notesMasterIdLst>
  <p:handoutMasterIdLst>
    <p:handoutMasterId r:id="rId48"/>
  </p:handoutMasterIdLst>
  <p:sldIdLst>
    <p:sldId id="307" r:id="rId6"/>
    <p:sldId id="306" r:id="rId7"/>
    <p:sldId id="345" r:id="rId8"/>
    <p:sldId id="308" r:id="rId9"/>
    <p:sldId id="315" r:id="rId10"/>
    <p:sldId id="316" r:id="rId11"/>
    <p:sldId id="317" r:id="rId12"/>
    <p:sldId id="318" r:id="rId13"/>
    <p:sldId id="319" r:id="rId14"/>
    <p:sldId id="309" r:id="rId15"/>
    <p:sldId id="320" r:id="rId16"/>
    <p:sldId id="321" r:id="rId17"/>
    <p:sldId id="322" r:id="rId18"/>
    <p:sldId id="310" r:id="rId19"/>
    <p:sldId id="323" r:id="rId20"/>
    <p:sldId id="311" r:id="rId21"/>
    <p:sldId id="324" r:id="rId22"/>
    <p:sldId id="325" r:id="rId23"/>
    <p:sldId id="326" r:id="rId24"/>
    <p:sldId id="327" r:id="rId25"/>
    <p:sldId id="328" r:id="rId26"/>
    <p:sldId id="312" r:id="rId27"/>
    <p:sldId id="329" r:id="rId28"/>
    <p:sldId id="330" r:id="rId29"/>
    <p:sldId id="331" r:id="rId30"/>
    <p:sldId id="332" r:id="rId31"/>
    <p:sldId id="333" r:id="rId32"/>
    <p:sldId id="313" r:id="rId33"/>
    <p:sldId id="334" r:id="rId34"/>
    <p:sldId id="335" r:id="rId35"/>
    <p:sldId id="336" r:id="rId36"/>
    <p:sldId id="314" r:id="rId37"/>
    <p:sldId id="337" r:id="rId38"/>
    <p:sldId id="338" r:id="rId39"/>
    <p:sldId id="339" r:id="rId40"/>
    <p:sldId id="340" r:id="rId41"/>
    <p:sldId id="341" r:id="rId42"/>
    <p:sldId id="342" r:id="rId43"/>
    <p:sldId id="344" r:id="rId44"/>
    <p:sldId id="343" r:id="rId45"/>
    <p:sldId id="280" r:id="rId4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372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73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23" autoAdjust="0"/>
    <p:restoredTop sz="96291"/>
  </p:normalViewPr>
  <p:slideViewPr>
    <p:cSldViewPr snapToGrid="0" snapToObjects="1">
      <p:cViewPr varScale="1">
        <p:scale>
          <a:sx n="111" d="100"/>
          <a:sy n="111" d="100"/>
        </p:scale>
        <p:origin x="1140" y="114"/>
      </p:cViewPr>
      <p:guideLst>
        <p:guide orient="horz" pos="572"/>
        <p:guide pos="372"/>
        <p:guide orient="horz" pos="709"/>
        <p:guide orient="horz" pos="3974"/>
        <p:guide pos="73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312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06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B5F381-98AB-4934-A504-21ACFACA4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7" y="562718"/>
            <a:ext cx="1069222" cy="10259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7" y="562718"/>
            <a:ext cx="1067473" cy="10267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6077" y="2738745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defRPr sz="48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62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8F253EC-E992-90CA-66A0-0C07F09DFCCE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514F1A-C559-F4B2-5B39-6C21732C8287}"/>
              </a:ext>
            </a:extLst>
          </p:cNvPr>
          <p:cNvSpPr txBox="1"/>
          <p:nvPr userDrawn="1"/>
        </p:nvSpPr>
        <p:spPr>
          <a:xfrm>
            <a:off x="3048000" y="6407378"/>
            <a:ext cx="61007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2960">
              <a:defRPr sz="800">
                <a:latin typeface="Verdana"/>
                <a:ea typeface="Verdana"/>
                <a:cs typeface="Verdana"/>
                <a:sym typeface="Verdana"/>
              </a:defRPr>
            </a:pPr>
            <a:r>
              <a:rPr lang="zh-CN" altLang="en-US"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哈尔滨工业大学软件学院 </a:t>
            </a:r>
            <a:r>
              <a:rPr lang="en-US" altLang="zh-CN"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F3CBD6-EDB9-1B8D-A051-A76DB7C6A6B7}"/>
              </a:ext>
            </a:extLst>
          </p:cNvPr>
          <p:cNvSpPr/>
          <p:nvPr userDrawn="1"/>
        </p:nvSpPr>
        <p:spPr>
          <a:xfrm>
            <a:off x="0" y="0"/>
            <a:ext cx="2590800" cy="453957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D89F75-E7E2-0ECC-B8CB-3A67226DBA6C}"/>
              </a:ext>
            </a:extLst>
          </p:cNvPr>
          <p:cNvSpPr/>
          <p:nvPr userDrawn="1"/>
        </p:nvSpPr>
        <p:spPr>
          <a:xfrm flipH="1">
            <a:off x="9605963" y="0"/>
            <a:ext cx="2590800" cy="453957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C9185F3-5FA6-8561-8A1F-EBA859609B6C}"/>
              </a:ext>
            </a:extLst>
          </p:cNvPr>
          <p:cNvSpPr txBox="1"/>
          <p:nvPr userDrawn="1"/>
        </p:nvSpPr>
        <p:spPr>
          <a:xfrm>
            <a:off x="150514" y="61942"/>
            <a:ext cx="1931152" cy="330072"/>
          </a:xfrm>
          <a:prstGeom prst="rect">
            <a:avLst/>
          </a:prstGeom>
          <a:noFill/>
        </p:spPr>
        <p:txBody>
          <a:bodyPr wrap="none" lIns="72000" tIns="72000" rIns="72000" bIns="72000" rtlCol="0">
            <a:spAutoFit/>
          </a:bodyPr>
          <a:lstStyle/>
          <a:p>
            <a:pPr defTabSz="914400"/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 Ascend C</a:t>
            </a:r>
            <a:r>
              <a:rPr lang="zh-CN" altLang="en-US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 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20A125F-1FB9-6068-F37E-25A0FB03953F}"/>
              </a:ext>
            </a:extLst>
          </p:cNvPr>
          <p:cNvSpPr txBox="1"/>
          <p:nvPr userDrawn="1"/>
        </p:nvSpPr>
        <p:spPr>
          <a:xfrm>
            <a:off x="9982094" y="61942"/>
            <a:ext cx="2059392" cy="330072"/>
          </a:xfrm>
          <a:prstGeom prst="rect">
            <a:avLst/>
          </a:prstGeom>
          <a:noFill/>
        </p:spPr>
        <p:txBody>
          <a:bodyPr wrap="none" lIns="72000" tIns="72000" rIns="72000" bIns="72000" rtlCol="0">
            <a:spAutoFit/>
          </a:bodyPr>
          <a:lstStyle/>
          <a:p>
            <a:pPr defTabSz="914400"/>
            <a:r>
              <a:rPr lang="en-US" altLang="zh-CN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20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异构并行程序设计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970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A04B147-2E7E-4917-8235-4561D75BDAB2}"/>
              </a:ext>
            </a:extLst>
          </p:cNvPr>
          <p:cNvSpPr/>
          <p:nvPr userDrawn="1"/>
        </p:nvSpPr>
        <p:spPr>
          <a:xfrm>
            <a:off x="0" y="1415045"/>
            <a:ext cx="12196763" cy="544295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9646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tiff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5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265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" y="0"/>
            <a:ext cx="12195413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ascend/op-plugin#https://gitee.com/ascend/pytorch/blob/master/README.zh.md#%E4%BD%BF%E7%94%A8%E6%BA%90%E7%A0%81%E7%BC%96%E8%AF%91%E5%AE%89%E8%A3%85pytorch%E6%A1%86%E6%9E%B6" TargetMode="External"/><Relationship Id="rId2" Type="http://schemas.openxmlformats.org/officeDocument/2006/relationships/hyperlink" Target="https://gitee.com/ascend/pytorch/blob/master/README.zh.md#%E4%BD%BF%E7%94%A8%E6%BA%90%E7%A0%81%E7%BC%96%E8%AF%91%E5%AE%89%E8%A3%85pytorch%E6%A1%86%E6%9E%B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>
            <a:cxnSpLocks/>
          </p:cNvCxnSpPr>
          <p:nvPr/>
        </p:nvCxnSpPr>
        <p:spPr>
          <a:xfrm>
            <a:off x="661930" y="3100912"/>
            <a:ext cx="1468795" cy="0"/>
          </a:xfrm>
          <a:prstGeom prst="line">
            <a:avLst/>
          </a:prstGeom>
          <a:ln w="25400">
            <a:solidFill>
              <a:srgbClr val="E900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1930" y="2191924"/>
            <a:ext cx="8206025" cy="690255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latin typeface="+mn-lt"/>
              </a:rPr>
              <a:t>第</a:t>
            </a:r>
            <a:r>
              <a:rPr lang="en-US" altLang="zh-CN" sz="4400" b="1" dirty="0">
                <a:latin typeface="+mn-lt"/>
              </a:rPr>
              <a:t>4</a:t>
            </a:r>
            <a:r>
              <a:rPr lang="zh-CN" altLang="en-US" sz="4400" b="1" dirty="0">
                <a:latin typeface="+mn-lt"/>
              </a:rPr>
              <a:t>章 </a:t>
            </a:r>
            <a:r>
              <a:rPr lang="en-US" altLang="zh-CN" sz="4400" b="1" dirty="0">
                <a:latin typeface="+mn-lt"/>
              </a:rPr>
              <a:t>Ascend C</a:t>
            </a:r>
            <a:r>
              <a:rPr lang="zh-CN" altLang="en-US" sz="4400" b="1" dirty="0">
                <a:latin typeface="+mn-lt"/>
              </a:rPr>
              <a:t>算子开发流程</a:t>
            </a:r>
          </a:p>
        </p:txBody>
      </p:sp>
      <p:sp>
        <p:nvSpPr>
          <p:cNvPr id="10" name="文本占位符 4">
            <a:extLst>
              <a:ext uri="{FF2B5EF4-FFF2-40B4-BE49-F238E27FC236}">
                <a16:creationId xmlns:a16="http://schemas.microsoft.com/office/drawing/2014/main" id="{DFD77602-E5F7-4521-A54F-96BBD2B54A62}"/>
              </a:ext>
            </a:extLst>
          </p:cNvPr>
          <p:cNvSpPr txBox="1">
            <a:spLocks/>
          </p:cNvSpPr>
          <p:nvPr/>
        </p:nvSpPr>
        <p:spPr>
          <a:xfrm>
            <a:off x="661930" y="5097762"/>
            <a:ext cx="6535842" cy="64392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000" kern="1200">
                <a:solidFill>
                  <a:srgbClr val="1D1D1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华为</a:t>
            </a:r>
            <a:r>
              <a:rPr lang="en-US" altLang="zh-CN" sz="1800" dirty="0"/>
              <a:t>ICT</a:t>
            </a:r>
            <a:r>
              <a:rPr lang="zh-CN" altLang="en-US" sz="1800" dirty="0"/>
              <a:t>学院  播种新</a:t>
            </a:r>
            <a:r>
              <a:rPr lang="en-US" altLang="zh-CN" sz="1800" dirty="0"/>
              <a:t>ICT</a:t>
            </a:r>
            <a:r>
              <a:rPr lang="zh-CN" altLang="en-US" sz="1800" dirty="0"/>
              <a:t>未来</a:t>
            </a:r>
          </a:p>
        </p:txBody>
      </p:sp>
      <p:sp>
        <p:nvSpPr>
          <p:cNvPr id="3" name="文本占位符 4">
            <a:extLst>
              <a:ext uri="{FF2B5EF4-FFF2-40B4-BE49-F238E27FC236}">
                <a16:creationId xmlns:a16="http://schemas.microsoft.com/office/drawing/2014/main" id="{D19C6A6F-1306-0C68-2B32-A61AAF718306}"/>
              </a:ext>
            </a:extLst>
          </p:cNvPr>
          <p:cNvSpPr txBox="1">
            <a:spLocks/>
          </p:cNvSpPr>
          <p:nvPr/>
        </p:nvSpPr>
        <p:spPr>
          <a:xfrm>
            <a:off x="592920" y="3319646"/>
            <a:ext cx="1261884" cy="90576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000" kern="1200">
                <a:solidFill>
                  <a:srgbClr val="1D1D1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7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sz="1400" b="1" dirty="0"/>
              <a:t>苏统华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软件学院</a:t>
            </a:r>
          </a:p>
          <a:p>
            <a:pPr>
              <a:lnSpc>
                <a:spcPct val="130000"/>
              </a:lnSpc>
            </a:pPr>
            <a:r>
              <a:rPr lang="zh-CN" altLang="en-US" sz="1200" dirty="0"/>
              <a:t>哈尔滨工业大学</a:t>
            </a:r>
          </a:p>
        </p:txBody>
      </p:sp>
    </p:spTree>
    <p:extLst>
      <p:ext uri="{BB962C8B-B14F-4D97-AF65-F5344CB8AC3E}">
        <p14:creationId xmlns:p14="http://schemas.microsoft.com/office/powerpoint/2010/main" val="201235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3F8861DB-FC39-16C1-E8EB-34605AE0D1E5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F2BDC853-BB69-AB83-8E55-70DD77CFC8E5}"/>
              </a:ext>
            </a:extLst>
          </p:cNvPr>
          <p:cNvGrpSpPr/>
          <p:nvPr/>
        </p:nvGrpSpPr>
        <p:grpSpPr>
          <a:xfrm>
            <a:off x="4405951" y="1207699"/>
            <a:ext cx="4392340" cy="4987470"/>
            <a:chOff x="5046330" y="1207699"/>
            <a:chExt cx="4392340" cy="4987470"/>
          </a:xfrm>
        </p:grpSpPr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D84DBC0D-CE40-7EC4-F5AB-E7610F8D3354}"/>
                </a:ext>
              </a:extLst>
            </p:cNvPr>
            <p:cNvCxnSpPr>
              <a:cxnSpLocks/>
            </p:cNvCxnSpPr>
            <p:nvPr/>
          </p:nvCxnSpPr>
          <p:spPr>
            <a:xfrm>
              <a:off x="5046330" y="3521644"/>
              <a:ext cx="273837" cy="0"/>
            </a:xfrm>
            <a:prstGeom prst="line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8DD793C4-4F85-E61B-5EBE-2390AF97E848}"/>
                </a:ext>
              </a:extLst>
            </p:cNvPr>
            <p:cNvSpPr/>
            <p:nvPr/>
          </p:nvSpPr>
          <p:spPr>
            <a:xfrm>
              <a:off x="7944928" y="1357261"/>
              <a:ext cx="641201" cy="380416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D16C1764-B652-91F5-B6D2-50AA6E3E43FB}"/>
                </a:ext>
              </a:extLst>
            </p:cNvPr>
            <p:cNvSpPr/>
            <p:nvPr/>
          </p:nvSpPr>
          <p:spPr>
            <a:xfrm>
              <a:off x="7944928" y="2470480"/>
              <a:ext cx="641201" cy="380416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D178A9F-3949-4187-AD16-42626A256248}"/>
                </a:ext>
              </a:extLst>
            </p:cNvPr>
            <p:cNvSpPr/>
            <p:nvPr/>
          </p:nvSpPr>
          <p:spPr>
            <a:xfrm>
              <a:off x="7944928" y="3954773"/>
              <a:ext cx="641201" cy="380416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278EF5CC-046C-6063-CA12-143AF035F654}"/>
                </a:ext>
              </a:extLst>
            </p:cNvPr>
            <p:cNvSpPr/>
            <p:nvPr/>
          </p:nvSpPr>
          <p:spPr>
            <a:xfrm>
              <a:off x="7944928" y="5434450"/>
              <a:ext cx="641201" cy="760719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3B87170-5706-101C-74BE-1B15B9D5FCD3}"/>
                </a:ext>
              </a:extLst>
            </p:cNvPr>
            <p:cNvSpPr/>
            <p:nvPr/>
          </p:nvSpPr>
          <p:spPr>
            <a:xfrm>
              <a:off x="7944928" y="3583698"/>
              <a:ext cx="641201" cy="1110221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矩形: 圆角 227">
              <a:extLst>
                <a:ext uri="{FF2B5EF4-FFF2-40B4-BE49-F238E27FC236}">
                  <a16:creationId xmlns:a16="http://schemas.microsoft.com/office/drawing/2014/main" id="{2672DDE3-9478-EC08-8120-2A29660F1EE1}"/>
                </a:ext>
              </a:extLst>
            </p:cNvPr>
            <p:cNvSpPr/>
            <p:nvPr/>
          </p:nvSpPr>
          <p:spPr>
            <a:xfrm>
              <a:off x="5320167" y="1547469"/>
              <a:ext cx="641201" cy="4267340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矩形: 圆角 228">
              <a:extLst>
                <a:ext uri="{FF2B5EF4-FFF2-40B4-BE49-F238E27FC236}">
                  <a16:creationId xmlns:a16="http://schemas.microsoft.com/office/drawing/2014/main" id="{526EB41B-DE74-1B15-BDC4-ADF1FFFC970C}"/>
                </a:ext>
              </a:extLst>
            </p:cNvPr>
            <p:cNvSpPr/>
            <p:nvPr/>
          </p:nvSpPr>
          <p:spPr>
            <a:xfrm>
              <a:off x="5320167" y="2660688"/>
              <a:ext cx="641201" cy="1478122"/>
            </a:xfrm>
            <a:prstGeom prst="roundRect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DD82FAB5-8725-867D-9125-DCEDBDFC4A3A}"/>
                </a:ext>
              </a:extLst>
            </p:cNvPr>
            <p:cNvSpPr/>
            <p:nvPr/>
          </p:nvSpPr>
          <p:spPr>
            <a:xfrm>
              <a:off x="5546787" y="1357261"/>
              <a:ext cx="1172284" cy="4751677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6B29E36E-73D6-EE93-2777-9A05EDD31FB7}"/>
                </a:ext>
              </a:extLst>
            </p:cNvPr>
            <p:cNvSpPr/>
            <p:nvPr/>
          </p:nvSpPr>
          <p:spPr>
            <a:xfrm>
              <a:off x="8266386" y="1207699"/>
              <a:ext cx="1172284" cy="490124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21BA522-40C9-9D33-4945-0497794AABE7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7246189" y="4138809"/>
              <a:ext cx="698739" cy="0"/>
            </a:xfrm>
            <a:prstGeom prst="line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6C5545DD-3CDE-36D2-6AB2-3C8864388EC2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50" y="2660688"/>
              <a:ext cx="933478" cy="0"/>
            </a:xfrm>
            <a:prstGeom prst="line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4586CE9D-5E21-D87B-4E8E-3DD307DC9470}"/>
                </a:ext>
              </a:extLst>
            </p:cNvPr>
            <p:cNvCxnSpPr>
              <a:cxnSpLocks/>
            </p:cNvCxnSpPr>
            <p:nvPr/>
          </p:nvCxnSpPr>
          <p:spPr>
            <a:xfrm>
              <a:off x="7246189" y="1547469"/>
              <a:ext cx="698739" cy="0"/>
            </a:xfrm>
            <a:prstGeom prst="line">
              <a:avLst/>
            </a:prstGeom>
            <a:noFill/>
            <a:ln w="19050">
              <a:solidFill>
                <a:schemeClr val="bg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980EF461-AEEE-A330-15AF-DB950DFEEEDB}"/>
              </a:ext>
            </a:extLst>
          </p:cNvPr>
          <p:cNvSpPr/>
          <p:nvPr/>
        </p:nvSpPr>
        <p:spPr>
          <a:xfrm>
            <a:off x="2067461" y="3235443"/>
            <a:ext cx="2338490" cy="57240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大模型算子优化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0EEB38-0BE6-C9E6-B021-6E7D662AFF7F}"/>
              </a:ext>
            </a:extLst>
          </p:cNvPr>
          <p:cNvSpPr txBox="1"/>
          <p:nvPr/>
        </p:nvSpPr>
        <p:spPr>
          <a:xfrm>
            <a:off x="7692737" y="1284989"/>
            <a:ext cx="164788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大模型的奠基石</a:t>
            </a: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Transformer</a:t>
            </a:r>
            <a:endParaRPr kumimoji="1" lang="zh-CN" altLang="en-US" sz="10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E0CF59-697A-A024-31FC-702BEE7DA1E8}"/>
              </a:ext>
            </a:extLst>
          </p:cNvPr>
          <p:cNvSpPr txBox="1"/>
          <p:nvPr/>
        </p:nvSpPr>
        <p:spPr>
          <a:xfrm>
            <a:off x="7692737" y="1656062"/>
            <a:ext cx="219290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自注意力算子在</a:t>
            </a: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GPU</a:t>
            </a:r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上的加速计算发展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1BDAFD-8F5B-B885-C4E8-4C7A20BA8B06}"/>
              </a:ext>
            </a:extLst>
          </p:cNvPr>
          <p:cNvSpPr txBox="1"/>
          <p:nvPr/>
        </p:nvSpPr>
        <p:spPr>
          <a:xfrm>
            <a:off x="7692737" y="2398208"/>
            <a:ext cx="243656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自注意力算子在昇腾</a:t>
            </a: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AI</a:t>
            </a:r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处理器上的优化思路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9A80AD-A598-5F43-EEA6-70483899D047}"/>
              </a:ext>
            </a:extLst>
          </p:cNvPr>
          <p:cNvSpPr txBox="1"/>
          <p:nvPr/>
        </p:nvSpPr>
        <p:spPr>
          <a:xfrm>
            <a:off x="7692737" y="2769281"/>
            <a:ext cx="15388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自注意力算子前向传播优化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5A2CDE-ADEE-C963-7178-AB45B603EF52}"/>
              </a:ext>
            </a:extLst>
          </p:cNvPr>
          <p:cNvSpPr txBox="1"/>
          <p:nvPr/>
        </p:nvSpPr>
        <p:spPr>
          <a:xfrm>
            <a:off x="7692737" y="3882500"/>
            <a:ext cx="7694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矩阵乘法计算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BDAA6E-3E34-74EC-EE95-315F178BE695}"/>
              </a:ext>
            </a:extLst>
          </p:cNvPr>
          <p:cNvSpPr txBox="1"/>
          <p:nvPr/>
        </p:nvSpPr>
        <p:spPr>
          <a:xfrm>
            <a:off x="7692737" y="4253573"/>
            <a:ext cx="72455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zh-CN" sz="1000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Softmax</a:t>
            </a:r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计算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8EA12F-FC4F-28F8-8098-66D6E5A66A83}"/>
              </a:ext>
            </a:extLst>
          </p:cNvPr>
          <p:cNvSpPr txBox="1"/>
          <p:nvPr/>
        </p:nvSpPr>
        <p:spPr>
          <a:xfrm>
            <a:off x="7692737" y="4624646"/>
            <a:ext cx="179536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第二次矩阵乘法及输出合并计算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D0A6F2-B4A9-5F2C-0061-3C8B2B9E6727}"/>
              </a:ext>
            </a:extLst>
          </p:cNvPr>
          <p:cNvSpPr txBox="1"/>
          <p:nvPr/>
        </p:nvSpPr>
        <p:spPr>
          <a:xfrm>
            <a:off x="7692737" y="5366792"/>
            <a:ext cx="7197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生成算子</a:t>
            </a: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API</a:t>
            </a:r>
            <a:endParaRPr kumimoji="1" lang="zh-CN" altLang="en-US" sz="10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6E4A64-D693-3979-58F1-8F3057F65751}"/>
              </a:ext>
            </a:extLst>
          </p:cNvPr>
          <p:cNvSpPr txBox="1"/>
          <p:nvPr/>
        </p:nvSpPr>
        <p:spPr>
          <a:xfrm>
            <a:off x="7692737" y="5737865"/>
            <a:ext cx="7694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编写测试项目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A3BC67-9DF2-7507-4DCF-BE1E38F879D0}"/>
              </a:ext>
            </a:extLst>
          </p:cNvPr>
          <p:cNvSpPr txBox="1"/>
          <p:nvPr/>
        </p:nvSpPr>
        <p:spPr>
          <a:xfrm>
            <a:off x="7692737" y="6108938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编译与运行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398B44-D030-183B-DABB-928E29E9F3CC}"/>
              </a:ext>
            </a:extLst>
          </p:cNvPr>
          <p:cNvSpPr txBox="1"/>
          <p:nvPr/>
        </p:nvSpPr>
        <p:spPr>
          <a:xfrm>
            <a:off x="4966790" y="1470525"/>
            <a:ext cx="15388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大模型与自注意力算子基础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F76A29C-1539-F76C-FB01-F72F45D844F4}"/>
              </a:ext>
            </a:extLst>
          </p:cNvPr>
          <p:cNvSpPr txBox="1"/>
          <p:nvPr/>
        </p:nvSpPr>
        <p:spPr>
          <a:xfrm>
            <a:off x="4966790" y="2583744"/>
            <a:ext cx="128240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自注意力算子优化算法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6FECF52-5855-D517-957D-E7490B6D2640}"/>
              </a:ext>
            </a:extLst>
          </p:cNvPr>
          <p:cNvSpPr txBox="1"/>
          <p:nvPr/>
        </p:nvSpPr>
        <p:spPr>
          <a:xfrm>
            <a:off x="4966790" y="4068036"/>
            <a:ext cx="153888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自注意力算子前向传播实现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62171B-C10C-432D-AB76-53AEB998029E}"/>
              </a:ext>
            </a:extLst>
          </p:cNvPr>
          <p:cNvSpPr txBox="1"/>
          <p:nvPr/>
        </p:nvSpPr>
        <p:spPr>
          <a:xfrm>
            <a:off x="4966790" y="5737865"/>
            <a:ext cx="102592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自注意力算子测试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312767C-34EE-5CA9-6D08-F0718E4ED710}"/>
              </a:ext>
            </a:extLst>
          </p:cNvPr>
          <p:cNvCxnSpPr>
            <a:cxnSpLocks/>
          </p:cNvCxnSpPr>
          <p:nvPr/>
        </p:nvCxnSpPr>
        <p:spPr>
          <a:xfrm>
            <a:off x="6056832" y="5814809"/>
            <a:ext cx="1633524" cy="0"/>
          </a:xfrm>
          <a:prstGeom prst="line">
            <a:avLst/>
          </a:prstGeom>
          <a:noFill/>
          <a:ln w="19050">
            <a:solidFill>
              <a:schemeClr val="bg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A43F3B4-6D9F-9D19-4B17-FC80C793CE16}"/>
              </a:ext>
            </a:extLst>
          </p:cNvPr>
          <p:cNvSpPr txBox="1"/>
          <p:nvPr/>
        </p:nvSpPr>
        <p:spPr>
          <a:xfrm>
            <a:off x="7692737" y="3511427"/>
            <a:ext cx="51296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矩阵切分</a:t>
            </a:r>
          </a:p>
        </p:txBody>
      </p:sp>
    </p:spTree>
    <p:extLst>
      <p:ext uri="{BB962C8B-B14F-4D97-AF65-F5344CB8AC3E}">
        <p14:creationId xmlns:p14="http://schemas.microsoft.com/office/powerpoint/2010/main" val="265741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F012D-6572-A3FE-89DF-9A1B6FBA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id="{B9A017BF-5C57-DCF4-C176-10946CA582D8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D65908-633E-70AF-8EAA-C92D63D7376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54776" y="1041185"/>
            <a:ext cx="6617126" cy="5267540"/>
          </a:xfrm>
          <a:prstGeom prst="rect">
            <a:avLst/>
          </a:prstGeom>
        </p:spPr>
      </p:pic>
      <p:sp>
        <p:nvSpPr>
          <p:cNvPr id="230" name="矩形: 圆角 229">
            <a:extLst>
              <a:ext uri="{FF2B5EF4-FFF2-40B4-BE49-F238E27FC236}">
                <a16:creationId xmlns:a16="http://schemas.microsoft.com/office/drawing/2014/main" id="{4C9D3D5A-46A7-1463-87A9-58776512B6DD}"/>
              </a:ext>
            </a:extLst>
          </p:cNvPr>
          <p:cNvSpPr/>
          <p:nvPr/>
        </p:nvSpPr>
        <p:spPr>
          <a:xfrm>
            <a:off x="2524861" y="3235443"/>
            <a:ext cx="2668972" cy="57240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章 </a:t>
            </a:r>
            <a:r>
              <a:rPr lang="en-US" altLang="zh-CN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4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</a:t>
            </a:r>
          </a:p>
        </p:txBody>
      </p:sp>
    </p:spTree>
    <p:extLst>
      <p:ext uri="{BB962C8B-B14F-4D97-AF65-F5344CB8AC3E}">
        <p14:creationId xmlns:p14="http://schemas.microsoft.com/office/powerpoint/2010/main" val="10962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BD1EF-9C9F-0A43-AA6B-F4BC130E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F1BF4B9B-1A06-7882-BDB1-210FBD2E0DB8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75CF867-1750-5F0D-FD6F-40142AC778F8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EDB3FA-BAAE-C4BE-0A3B-CB20AB0D357D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A5EAF0-257D-0B44-86AA-99EBFACDE12B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CE8305-A687-862C-49C2-713FF78942A7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406F92B-513E-1216-97C0-2670AB01E352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D766BA-A5D0-204D-4DEB-CCB9C3973AB7}"/>
              </a:ext>
            </a:extLst>
          </p:cNvPr>
          <p:cNvSpPr txBox="1"/>
          <p:nvPr/>
        </p:nvSpPr>
        <p:spPr>
          <a:xfrm>
            <a:off x="4728943" y="2856782"/>
            <a:ext cx="2698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7171326-FF5D-9420-4EAC-B17C2576C911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5684297-65D8-9952-EFEC-80C2407DA6A1}"/>
              </a:ext>
            </a:extLst>
          </p:cNvPr>
          <p:cNvSpPr txBox="1"/>
          <p:nvPr/>
        </p:nvSpPr>
        <p:spPr>
          <a:xfrm>
            <a:off x="4728943" y="3544019"/>
            <a:ext cx="25506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EE099BA-1396-54F6-0DD2-9F4721942A7A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A1D18D-8CBE-83AA-698E-D91C2AEA9CCA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84DA570-C843-62A1-56FC-1587900302C2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5D978C-BB8B-5E75-6DDC-BA36ED275562}"/>
              </a:ext>
            </a:extLst>
          </p:cNvPr>
          <p:cNvSpPr txBox="1"/>
          <p:nvPr/>
        </p:nvSpPr>
        <p:spPr>
          <a:xfrm>
            <a:off x="4728943" y="4918493"/>
            <a:ext cx="1968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ACC422C-4632-A379-AB77-D07864A5A004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60C3313-A888-7BCD-4E90-7C232BA02C54}"/>
              </a:ext>
            </a:extLst>
          </p:cNvPr>
          <p:cNvSpPr txBox="1"/>
          <p:nvPr/>
        </p:nvSpPr>
        <p:spPr>
          <a:xfrm>
            <a:off x="4728943" y="5605730"/>
            <a:ext cx="3291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233087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FAD0F-587D-3176-016E-FEA7D9F1FD16}"/>
              </a:ext>
            </a:extLst>
          </p:cNvPr>
          <p:cNvSpPr txBox="1">
            <a:spLocks/>
          </p:cNvSpPr>
          <p:nvPr/>
        </p:nvSpPr>
        <p:spPr>
          <a:xfrm>
            <a:off x="4980125" y="41190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什么是算子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A383AD-96C7-58E2-2BA1-9CCD0B78ABE6}"/>
              </a:ext>
            </a:extLst>
          </p:cNvPr>
          <p:cNvSpPr/>
          <p:nvPr/>
        </p:nvSpPr>
        <p:spPr>
          <a:xfrm>
            <a:off x="2697450" y="1466653"/>
            <a:ext cx="6801862" cy="15664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算子在网络中定义：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算子对应网络中层或者节点的计算逻辑。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算子在数学中的定义：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一个函数空间到函数空间上的映射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O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→</a:t>
            </a:r>
            <a:r>
              <a:rPr lang="en-US" altLang="zh-CN" sz="1200" i="1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；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广义地讲，对任何函数进行某一项操作都可以认为是一个算子。比如微分算子，不定积分算子等。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常见算子举例</a:t>
            </a:r>
            <a:r>
              <a:rPr lang="zh-CN" altLang="zh-CN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tanh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ReLU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Conv2D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等。</a:t>
            </a:r>
            <a:endParaRPr lang="zh-CN" altLang="zh-CN" sz="1200" dirty="0">
              <a:solidFill>
                <a:srgbClr val="000000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F5EBEB0-7C99-E24A-344D-5A83D49493A7}"/>
              </a:ext>
            </a:extLst>
          </p:cNvPr>
          <p:cNvGrpSpPr/>
          <p:nvPr/>
        </p:nvGrpSpPr>
        <p:grpSpPr>
          <a:xfrm>
            <a:off x="1643672" y="3184832"/>
            <a:ext cx="3381092" cy="2538784"/>
            <a:chOff x="746962" y="3033107"/>
            <a:chExt cx="3381092" cy="253878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BC69E84-18C3-4307-B04F-C4344054E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962" y="3033107"/>
              <a:ext cx="3381092" cy="2110060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1DDE48-6725-76E0-EE49-B00589C5049A}"/>
                </a:ext>
              </a:extLst>
            </p:cNvPr>
            <p:cNvSpPr/>
            <p:nvPr/>
          </p:nvSpPr>
          <p:spPr>
            <a:xfrm>
              <a:off x="1888736" y="5294892"/>
              <a:ext cx="10975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b="1" kern="100" dirty="0" err="1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Tanh</a:t>
              </a:r>
              <a:r>
                <a:rPr lang="zh-CN" altLang="en-US" sz="1200" b="1" kern="100" dirty="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函数图像</a:t>
              </a:r>
              <a:endParaRPr lang="zh-CN" altLang="en-US" sz="1200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D4A600F-3DED-577D-2FD9-445E9E9772A7}"/>
              </a:ext>
            </a:extLst>
          </p:cNvPr>
          <p:cNvGrpSpPr/>
          <p:nvPr/>
        </p:nvGrpSpPr>
        <p:grpSpPr>
          <a:xfrm>
            <a:off x="5636399" y="3184832"/>
            <a:ext cx="2888054" cy="2538784"/>
            <a:chOff x="4242396" y="3033107"/>
            <a:chExt cx="2888054" cy="253878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1ABD033-FA85-1F0D-281D-C40A89FCA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2396" y="3033107"/>
              <a:ext cx="2888054" cy="2110061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B788BF7-A47A-3302-2C2E-1CB6105A9ED1}"/>
                </a:ext>
              </a:extLst>
            </p:cNvPr>
            <p:cNvSpPr/>
            <p:nvPr/>
          </p:nvSpPr>
          <p:spPr>
            <a:xfrm>
              <a:off x="5127424" y="5294892"/>
              <a:ext cx="111799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1200" b="1" kern="100" dirty="0" err="1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ReLU</a:t>
              </a:r>
              <a:r>
                <a:rPr lang="zh-CN" altLang="en-US" sz="1200" b="1" kern="100" dirty="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函数图像</a:t>
              </a:r>
              <a:endParaRPr lang="zh-CN" altLang="en-US" sz="1200" b="1" dirty="0"/>
            </a:p>
          </p:txBody>
        </p:sp>
      </p:grpSp>
      <p:pic>
        <p:nvPicPr>
          <p:cNvPr id="10" name="Picture 2" descr="C:\Users\d00464022\AppData\Roaming\eSpace_Desktop\UserData\d00464022\imagefiles\615A2BE2-710B-4061-871A-697AD303A365.png">
            <a:extLst>
              <a:ext uri="{FF2B5EF4-FFF2-40B4-BE49-F238E27FC236}">
                <a16:creationId xmlns:a16="http://schemas.microsoft.com/office/drawing/2014/main" id="{073FF2C8-3931-013F-59C1-A05FD6C69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087" y="3067453"/>
            <a:ext cx="1417004" cy="289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079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F5D26-4DF1-CE24-2405-57904940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E9478-BE82-731C-20BC-F39DDC6F1087}"/>
              </a:ext>
            </a:extLst>
          </p:cNvPr>
          <p:cNvSpPr txBox="1">
            <a:spLocks/>
          </p:cNvSpPr>
          <p:nvPr/>
        </p:nvSpPr>
        <p:spPr>
          <a:xfrm>
            <a:off x="4159387" y="411900"/>
            <a:ext cx="3877985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为什么需要算子开发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7F2F82-6522-6954-AA0F-4E5CA9D1E515}"/>
              </a:ext>
            </a:extLst>
          </p:cNvPr>
          <p:cNvSpPr txBox="1"/>
          <p:nvPr/>
        </p:nvSpPr>
        <p:spPr>
          <a:xfrm>
            <a:off x="1062610" y="2421705"/>
            <a:ext cx="10071542" cy="227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一般场景下，开发者无须自己开发算子。</a:t>
            </a:r>
            <a:endParaRPr lang="en-US" altLang="zh-CN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但若遇到以下场景，开发者需要考虑进行自定义算子的开发：</a:t>
            </a:r>
            <a:endParaRPr lang="en-US" altLang="zh-CN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训练场景下，将第三方框架（例如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TensorFlow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等）的网络训练脚本迁移到昇腾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处理器时遇到了不支持的算子。</a:t>
            </a: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推理场景下，将第三方框架模型（例如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TensorFlow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Caffe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ONNX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等）使用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ATC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工具转换为适配昇腾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处理器的离线模型时遇到了不支持的算子。</a:t>
            </a: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网络调优时，发现某算子性能较低，影响网络性能，需要重新开发一个高性能算子替换性能较低的算子。</a:t>
            </a: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推理场景下，若应用程序中的某些逻辑涉及到数学运算（例如查找最大值，进行数据类型转换等），开发者可以将这些操作通过自定义算子的方式进行实现，然后在应用程序中对算子进行调用，算子在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处理器运行，可以达到利用</a:t>
            </a:r>
            <a:r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b="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处理器进行性能提升的目的。</a:t>
            </a:r>
          </a:p>
        </p:txBody>
      </p:sp>
    </p:spTree>
    <p:extLst>
      <p:ext uri="{BB962C8B-B14F-4D97-AF65-F5344CB8AC3E}">
        <p14:creationId xmlns:p14="http://schemas.microsoft.com/office/powerpoint/2010/main" val="43578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8B3B7-B48C-44CC-7BA5-C2012652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107C0-500E-26EC-3C62-23364076C1A5}"/>
              </a:ext>
            </a:extLst>
          </p:cNvPr>
          <p:cNvSpPr txBox="1">
            <a:spLocks/>
          </p:cNvSpPr>
          <p:nvPr/>
        </p:nvSpPr>
        <p:spPr>
          <a:xfrm>
            <a:off x="4364572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两种算子开发模式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EF0C72-F46D-4B10-9A8A-AF44B75065CD}"/>
              </a:ext>
            </a:extLst>
          </p:cNvPr>
          <p:cNvSpPr txBox="1">
            <a:spLocks/>
          </p:cNvSpPr>
          <p:nvPr/>
        </p:nvSpPr>
        <p:spPr>
          <a:xfrm>
            <a:off x="4435106" y="2195671"/>
            <a:ext cx="3326552" cy="1028871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算子快速开发模式：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需要完成算子核函数的开发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内核调用符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方式进行算子调用运行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C714BB-CE5F-0635-615D-D697AF0FB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860" y="3389083"/>
            <a:ext cx="8749042" cy="132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74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2EE5-3D20-85DB-D29E-536F58FE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283E6-D922-CC20-BB3D-38D17EADC3A6}"/>
              </a:ext>
            </a:extLst>
          </p:cNvPr>
          <p:cNvSpPr txBox="1">
            <a:spLocks/>
          </p:cNvSpPr>
          <p:nvPr/>
        </p:nvSpPr>
        <p:spPr>
          <a:xfrm>
            <a:off x="4364573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两种算子开发模式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D56E5E-2EF6-EDC5-8790-8BFACAF48216}"/>
              </a:ext>
            </a:extLst>
          </p:cNvPr>
          <p:cNvSpPr txBox="1">
            <a:spLocks/>
          </p:cNvSpPr>
          <p:nvPr/>
        </p:nvSpPr>
        <p:spPr>
          <a:xfrm>
            <a:off x="2773978" y="1859193"/>
            <a:ext cx="6648808" cy="1305870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算子标准开发模式：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需完成算子交付件的开发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需完成应用程序的开发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单算子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 (ACLNN) / 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单算子模型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(ACLOP) /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Adapter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等方式进行算子调用运行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72B0EA-6A71-AF16-AB2C-3156AFEAB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323" y="3395732"/>
            <a:ext cx="6606116" cy="213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14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2355-E5B1-46E2-9123-EFBFCA38F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65861-E867-8E95-5542-7AFEF29C6CC3}"/>
              </a:ext>
            </a:extLst>
          </p:cNvPr>
          <p:cNvSpPr txBox="1">
            <a:spLocks/>
          </p:cNvSpPr>
          <p:nvPr/>
        </p:nvSpPr>
        <p:spPr>
          <a:xfrm>
            <a:off x="4364572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两种算子开发模式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1344E1-D0BB-3DFB-F641-8152EE008596}"/>
              </a:ext>
            </a:extLst>
          </p:cNvPr>
          <p:cNvSpPr txBox="1">
            <a:spLocks/>
          </p:cNvSpPr>
          <p:nvPr/>
        </p:nvSpPr>
        <p:spPr>
          <a:xfrm>
            <a:off x="5302169" y="2638692"/>
            <a:ext cx="1569660" cy="2585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两种开发方式的对比</a:t>
            </a:r>
            <a:endParaRPr lang="en-US" altLang="zh-CN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513A2A-F4C8-EF68-8444-1E48A055C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21" y="3083999"/>
            <a:ext cx="5490920" cy="113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4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E89FD-4B2B-28C9-FBBB-F658950D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02FB1A42-28E0-A71C-1181-5AF6204AEB5D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966ECE6-D279-F3A0-A6A9-773AB8E3E0E4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AD39A87-1BE9-C554-D8D2-37B9E5EF3681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349EA82-697E-4940-A24B-F95C36389201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5A6C17A-3EF8-A01A-B52C-47B0A222F066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569B8B-9FFC-563D-6E3B-406901A6B41D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D0740D-D084-352B-8B78-7937657D24F0}"/>
              </a:ext>
            </a:extLst>
          </p:cNvPr>
          <p:cNvSpPr txBox="1"/>
          <p:nvPr/>
        </p:nvSpPr>
        <p:spPr>
          <a:xfrm>
            <a:off x="4728943" y="2856782"/>
            <a:ext cx="2698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96859B2-6BD2-61AD-E82F-24115892029D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03D0FDD-7F35-8390-1AA8-F947A1EC4D50}"/>
              </a:ext>
            </a:extLst>
          </p:cNvPr>
          <p:cNvSpPr txBox="1"/>
          <p:nvPr/>
        </p:nvSpPr>
        <p:spPr>
          <a:xfrm>
            <a:off x="4728943" y="3544019"/>
            <a:ext cx="25506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D159B67-53D8-BF8F-E8AD-9F1042E79C2C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726CD0-8DDD-E62C-42C1-4FF2DFE254F6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42E39CD-6B82-0BCB-D6E8-4E10975ADF85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633051-93B1-C123-37AA-64A9E6918592}"/>
              </a:ext>
            </a:extLst>
          </p:cNvPr>
          <p:cNvSpPr txBox="1"/>
          <p:nvPr/>
        </p:nvSpPr>
        <p:spPr>
          <a:xfrm>
            <a:off x="4728943" y="4918493"/>
            <a:ext cx="1968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3B55D8C-A6AB-A4B4-C573-5FD949E936B7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D23457-502F-3E09-2979-FEB37C31ACB2}"/>
              </a:ext>
            </a:extLst>
          </p:cNvPr>
          <p:cNvSpPr txBox="1"/>
          <p:nvPr/>
        </p:nvSpPr>
        <p:spPr>
          <a:xfrm>
            <a:off x="4728943" y="5605730"/>
            <a:ext cx="3291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201877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69098-2D53-91CE-0819-848DF91D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EA45A-55AD-DCA6-D048-61BEC8172020}"/>
              </a:ext>
            </a:extLst>
          </p:cNvPr>
          <p:cNvSpPr txBox="1">
            <a:spLocks/>
          </p:cNvSpPr>
          <p:nvPr/>
        </p:nvSpPr>
        <p:spPr>
          <a:xfrm>
            <a:off x="4364572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创建算子开发工程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0AB102-2A93-0E28-199E-2A67364146FB}"/>
              </a:ext>
            </a:extLst>
          </p:cNvPr>
          <p:cNvSpPr txBox="1">
            <a:spLocks/>
          </p:cNvSpPr>
          <p:nvPr/>
        </p:nvSpPr>
        <p:spPr>
          <a:xfrm>
            <a:off x="2483844" y="1496474"/>
            <a:ext cx="7229074" cy="26385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使用工具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7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开发套件包中提供了自定义算子工程生成工具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msOpGen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，可基于算子原型定义输出算子工程，包括：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侧代码实现文件、算子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侧实现文件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算子适配插件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以及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工程编译配置文件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等。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工具路径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70000"/>
              </a:lnSpc>
              <a:spcBef>
                <a:spcPts val="0"/>
              </a:spcBef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Ascend_Home_Dir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}/python/site-packages/bin/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msopgen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7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在虚拟机环境中，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root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权限下正常安装的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Ascend_Home_Dir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 = /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/local/Ascend</a:t>
            </a:r>
          </a:p>
          <a:p>
            <a:pPr marL="126000" indent="-126000">
              <a:lnSpc>
                <a:spcPct val="17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在服务器上没有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root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权限的情况下，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Ascend_Home_Dir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为用户安装路径，一般为家目录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70D86B-D0E1-FF7F-4868-507335215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120" y="4311927"/>
            <a:ext cx="6020524" cy="13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67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B88B-5DF9-E543-FB43-73B6BB2D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2B90EB-438A-A44F-45DC-857E3A7C7503}"/>
              </a:ext>
            </a:extLst>
          </p:cNvPr>
          <p:cNvSpPr txBox="1">
            <a:spLocks/>
          </p:cNvSpPr>
          <p:nvPr/>
        </p:nvSpPr>
        <p:spPr>
          <a:xfrm>
            <a:off x="4364572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创建算子开发工程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703D68-974F-68F4-7D2B-717542C5244D}"/>
              </a:ext>
            </a:extLst>
          </p:cNvPr>
          <p:cNvSpPr txBox="1"/>
          <p:nvPr/>
        </p:nvSpPr>
        <p:spPr>
          <a:xfrm>
            <a:off x="6486448" y="1125537"/>
            <a:ext cx="3299390" cy="5183187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anchor="ctr">
            <a:noAutofit/>
          </a:bodyPr>
          <a:lstStyle/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{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"op"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AddCustom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"language"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cpp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input_desc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{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"name"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"x"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param_type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"required"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"format"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"ND"</a:t>
            </a:r>
            <a:endParaRPr lang="en-US" altLang="zh-CN" sz="8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],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"type"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"fp16"</a:t>
            </a:r>
            <a:endParaRPr lang="en-US" altLang="zh-CN" sz="8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]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},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{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"name"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"y"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param_type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"required"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"format"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"ND"</a:t>
            </a:r>
            <a:endParaRPr lang="en-US" altLang="zh-CN" sz="8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],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"type"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"fp16"</a:t>
            </a:r>
            <a:endParaRPr lang="en-US" altLang="zh-CN" sz="8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]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}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],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output_desc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{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"name"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"z"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param_type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"required"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"format"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"ND"</a:t>
            </a:r>
            <a:endParaRPr lang="en-US" altLang="zh-CN" sz="8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],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</a:t>
            </a:r>
            <a:r>
              <a:rPr lang="en-US" altLang="zh-CN" sz="800" b="0" dirty="0">
                <a:solidFill>
                  <a:srgbClr val="9CDCF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"type"</a:t>
            </a:r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[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</a:t>
            </a:r>
            <a:r>
              <a:rPr lang="en-US" altLang="zh-CN" sz="8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"fp16"</a:t>
            </a:r>
            <a:endParaRPr lang="en-US" altLang="zh-CN" sz="8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]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}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]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sz="8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E17811-3D9E-3871-CE71-2466CF18B221}"/>
              </a:ext>
            </a:extLst>
          </p:cNvPr>
          <p:cNvSpPr txBox="1">
            <a:spLocks/>
          </p:cNvSpPr>
          <p:nvPr/>
        </p:nvSpPr>
        <p:spPr>
          <a:xfrm>
            <a:off x="590550" y="1086730"/>
            <a:ext cx="5594676" cy="52607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编写算子的原型定义</a:t>
            </a:r>
            <a:r>
              <a:rPr lang="en-US" altLang="zh-CN" sz="18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json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在明确所用工具后，首先需要编写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算子的原型定义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json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假设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算子的原型定义文件命名为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add_custom.json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，存储路径为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$HOME/sample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生成算子的开发工程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msopgen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工具生成算子的开发工程。以生成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的算子工程为例：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其中：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${INSTALL_DIR}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软件安装后文件存储路径，请根据实际环境进行替换。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：指定算子原型定义文件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add_custom.json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所在路径，请根据实际情况修改。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ai_core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-&lt;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soc_version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代表算子在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 Core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上执行，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soc_version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为昇腾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处理器的型号。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 参数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cpp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代表算子基于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编程框架，使用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C++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编程语言开发。</a:t>
            </a: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-out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：生成文件所在路径，可配置为绝对路径或者相对路径，并且工具执行用户对路径具有可读写权限。若不配置，则默认生成在执行命令的当前路径。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0524B6-6664-8C6C-A140-1E1993C5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65" y="3172527"/>
            <a:ext cx="5224036" cy="51294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0784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${INSTALL_DIR}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/python/site-packages/bin/msopgen gen -i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$HOME/sample/add_custom.json -c ai_core-</a:t>
            </a:r>
            <a:r>
              <a:rPr kumimoji="0" lang="zh-CN" altLang="zh-CN" sz="10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&lt;soc_version&gt;</a:t>
            </a:r>
            <a:r>
              <a:rPr kumimoji="0" lang="zh-CN" altLang="zh-CN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-lan cpp -out $HOME/sample/AddCustom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直接箭头连接符 9">
            <a:extLst>
              <a:ext uri="{FF2B5EF4-FFF2-40B4-BE49-F238E27FC236}">
                <a16:creationId xmlns:a16="http://schemas.microsoft.com/office/drawing/2014/main" id="{1CCC6CFD-9304-B8DB-DC8C-BC941C15A43E}"/>
              </a:ext>
            </a:extLst>
          </p:cNvPr>
          <p:cNvSpPr/>
          <p:nvPr/>
        </p:nvSpPr>
        <p:spPr>
          <a:xfrm flipV="1">
            <a:off x="7651631" y="1677821"/>
            <a:ext cx="2267750" cy="41459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8" name="直接箭头连接符 9">
            <a:extLst>
              <a:ext uri="{FF2B5EF4-FFF2-40B4-BE49-F238E27FC236}">
                <a16:creationId xmlns:a16="http://schemas.microsoft.com/office/drawing/2014/main" id="{EAE25AD8-435F-0E09-8ACE-6E04321A80E4}"/>
              </a:ext>
            </a:extLst>
          </p:cNvPr>
          <p:cNvSpPr/>
          <p:nvPr/>
        </p:nvSpPr>
        <p:spPr>
          <a:xfrm>
            <a:off x="8031191" y="2285273"/>
            <a:ext cx="1888189" cy="82205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0" name="直接箭头连接符 9">
            <a:extLst>
              <a:ext uri="{FF2B5EF4-FFF2-40B4-BE49-F238E27FC236}">
                <a16:creationId xmlns:a16="http://schemas.microsoft.com/office/drawing/2014/main" id="{2C9B010E-CBFC-EBA2-7981-A35AB36C3140}"/>
              </a:ext>
            </a:extLst>
          </p:cNvPr>
          <p:cNvSpPr/>
          <p:nvPr/>
        </p:nvSpPr>
        <p:spPr>
          <a:xfrm>
            <a:off x="7483267" y="3609823"/>
            <a:ext cx="2436112" cy="82205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2" name="直接箭头连接符 9">
            <a:extLst>
              <a:ext uri="{FF2B5EF4-FFF2-40B4-BE49-F238E27FC236}">
                <a16:creationId xmlns:a16="http://schemas.microsoft.com/office/drawing/2014/main" id="{49F2F0C1-5B00-7CEF-CB81-BB369DB6B68C}"/>
              </a:ext>
            </a:extLst>
          </p:cNvPr>
          <p:cNvSpPr/>
          <p:nvPr/>
        </p:nvSpPr>
        <p:spPr>
          <a:xfrm>
            <a:off x="7483267" y="4013053"/>
            <a:ext cx="2436113" cy="174337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CCB4B0-F321-11A5-D60A-C147EEEDB1CF}"/>
              </a:ext>
            </a:extLst>
          </p:cNvPr>
          <p:cNvSpPr/>
          <p:nvPr/>
        </p:nvSpPr>
        <p:spPr>
          <a:xfrm>
            <a:off x="9919381" y="1116654"/>
            <a:ext cx="1691643" cy="114371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参数名称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268B1C-E3B0-EF44-392F-0947E0F746C3}"/>
              </a:ext>
            </a:extLst>
          </p:cNvPr>
          <p:cNvSpPr/>
          <p:nvPr/>
        </p:nvSpPr>
        <p:spPr>
          <a:xfrm>
            <a:off x="9919381" y="2466104"/>
            <a:ext cx="1691643" cy="114371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参数类型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67C56E-83CA-A751-5F11-97837E0FA58D}"/>
              </a:ext>
            </a:extLst>
          </p:cNvPr>
          <p:cNvSpPr/>
          <p:nvPr/>
        </p:nvSpPr>
        <p:spPr>
          <a:xfrm>
            <a:off x="9919381" y="3815554"/>
            <a:ext cx="1691643" cy="114371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参数存储格式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8FE2B9-0C59-B6BB-16B5-BA9A56374CF0}"/>
              </a:ext>
            </a:extLst>
          </p:cNvPr>
          <p:cNvSpPr/>
          <p:nvPr/>
        </p:nvSpPr>
        <p:spPr>
          <a:xfrm>
            <a:off x="9919381" y="5165006"/>
            <a:ext cx="1691643" cy="1143719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参数数据类型</a:t>
            </a:r>
          </a:p>
        </p:txBody>
      </p:sp>
    </p:spTree>
    <p:extLst>
      <p:ext uri="{BB962C8B-B14F-4D97-AF65-F5344CB8AC3E}">
        <p14:creationId xmlns:p14="http://schemas.microsoft.com/office/powerpoint/2010/main" val="21869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37E9-9193-2B87-2F77-AE91E7D8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A307F-1EA6-EED9-19E8-D900BA5DFCA9}"/>
              </a:ext>
            </a:extLst>
          </p:cNvPr>
          <p:cNvSpPr txBox="1">
            <a:spLocks/>
          </p:cNvSpPr>
          <p:nvPr/>
        </p:nvSpPr>
        <p:spPr>
          <a:xfrm>
            <a:off x="4364572" y="411900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创建算子开发工程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EA1702-71E2-2EE7-BC3A-88EA895363AF}"/>
              </a:ext>
            </a:extLst>
          </p:cNvPr>
          <p:cNvSpPr txBox="1">
            <a:spLocks/>
          </p:cNvSpPr>
          <p:nvPr/>
        </p:nvSpPr>
        <p:spPr>
          <a:xfrm>
            <a:off x="2812065" y="1319987"/>
            <a:ext cx="6572633" cy="4988738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查看算子工程目录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endParaRPr lang="en-US" altLang="zh-CN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build.sh</a:t>
            </a:r>
            <a:endParaRPr lang="zh-CN" altLang="en-US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config.cmake</a:t>
            </a:r>
            <a:endParaRPr lang="en-US" altLang="zh-CN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func.cmake</a:t>
            </a:r>
            <a:endParaRPr lang="en-US" altLang="zh-CN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intf.cmake</a:t>
            </a:r>
            <a:endParaRPr lang="en-US" altLang="zh-CN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makeself.cmake</a:t>
            </a:r>
            <a:endParaRPr lang="en-US" altLang="zh-CN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└── util</a:t>
            </a:r>
            <a:endParaRPr lang="zh-CN" altLang="en-US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CMakeLists.txt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</a:t>
            </a:r>
            <a:r>
              <a:rPr lang="en-US" altLang="zh-CN" sz="1200" b="1" dirty="0" err="1">
                <a:solidFill>
                  <a:srgbClr val="C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CMakePresets.json</a:t>
            </a:r>
            <a:r>
              <a:rPr lang="en-US" altLang="zh-CN" sz="1200" b="0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// 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编译配置项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framework</a:t>
            </a:r>
            <a:endParaRPr lang="zh-CN" altLang="en-US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op_host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                 // host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侧实现文件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交付给主机完成数据切分工作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add_custom_tiling.h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定义文件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add_custom.cpp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      // 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算子原型注册、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推导、信息库、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实现等内容文件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CMakeLists.txt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 </a:t>
            </a:r>
            <a:r>
              <a:rPr lang="en-US" altLang="zh-CN" sz="1200" b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op_kernel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               // Kernel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侧实现文件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实现算子逻辑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CMakeLists.txt  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   ├── 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add_custom.cpp        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 </a:t>
            </a: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算子代码实现文件 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 </a:t>
            </a:r>
            <a:r>
              <a:rPr lang="en-US" altLang="zh-CN" sz="1200" b="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scripts</a:t>
            </a:r>
            <a:endParaRPr lang="zh-CN" altLang="en-US" sz="1200" b="0" dirty="0">
              <a:solidFill>
                <a:schemeClr val="tx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567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031D6-9DDE-DFD2-736C-6A7F9DBF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6D881C9-F19F-1B13-A7F6-71CB036F5CEB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73ED839-9CDE-A04B-0A0A-12C14CD33E77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8CF3A1-99D3-92E2-D86C-907BDD3A7D1C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B7E58C7-ABB3-CA46-F9ED-780CB4EEF043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E0BAB5-FC30-20FA-8B25-A036BE1CD3AC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E63CE61-A611-049A-3A91-238D007CD51B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31B26D-292E-D25F-6A4E-41686118B79B}"/>
              </a:ext>
            </a:extLst>
          </p:cNvPr>
          <p:cNvSpPr txBox="1"/>
          <p:nvPr/>
        </p:nvSpPr>
        <p:spPr>
          <a:xfrm>
            <a:off x="4728943" y="2856782"/>
            <a:ext cx="28296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4B0C000-23CF-00D5-DBBD-E82A15BFA7A4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6E487F-04C8-B39F-9FC3-221DFC84A90F}"/>
              </a:ext>
            </a:extLst>
          </p:cNvPr>
          <p:cNvSpPr txBox="1"/>
          <p:nvPr/>
        </p:nvSpPr>
        <p:spPr>
          <a:xfrm>
            <a:off x="4728943" y="3544019"/>
            <a:ext cx="25506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5AFBDA7-20FD-28E3-4C94-98D6F2562CC0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50B74A-5453-1A5B-4334-33909F9F005A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84D6702-CEE3-0ECC-DBD4-C6DCBF3A383C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CA6E1D-DC36-C3E6-E2B2-852A8CE1F553}"/>
              </a:ext>
            </a:extLst>
          </p:cNvPr>
          <p:cNvSpPr txBox="1"/>
          <p:nvPr/>
        </p:nvSpPr>
        <p:spPr>
          <a:xfrm>
            <a:off x="4728943" y="4918493"/>
            <a:ext cx="1968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A47CB55-7AA1-E070-C7A0-582195363D35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FDC7F5-7566-D22F-AD66-F881F6BF252D}"/>
              </a:ext>
            </a:extLst>
          </p:cNvPr>
          <p:cNvSpPr txBox="1"/>
          <p:nvPr/>
        </p:nvSpPr>
        <p:spPr>
          <a:xfrm>
            <a:off x="4728943" y="5605730"/>
            <a:ext cx="3291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119163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B5890-FC0F-0459-E243-3DE1DA0B4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07F13-DC8C-F0CA-D226-782EA287B532}"/>
              </a:ext>
            </a:extLst>
          </p:cNvPr>
          <p:cNvSpPr txBox="1">
            <a:spLocks/>
          </p:cNvSpPr>
          <p:nvPr/>
        </p:nvSpPr>
        <p:spPr>
          <a:xfrm>
            <a:off x="3345863" y="411900"/>
            <a:ext cx="5505033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动态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算子的核函数实现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457E05-897C-D66A-1D0F-FF629092FD72}"/>
              </a:ext>
            </a:extLst>
          </p:cNvPr>
          <p:cNvSpPr txBox="1">
            <a:spLocks/>
          </p:cNvSpPr>
          <p:nvPr/>
        </p:nvSpPr>
        <p:spPr>
          <a:xfrm>
            <a:off x="590550" y="1406319"/>
            <a:ext cx="11015663" cy="7576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简单的固定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加法算子的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侧实现，其算子的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、数据类型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都是固定的；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在实际的算子开发场景中，这些信息都是支持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动态变化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的，场景会更加灵活和复杂。动态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的算子可以将形状通过核函数的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入参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传入核函数内，参与内部逻辑计算，从而符合不同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下的使用场景。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126617-9A52-864B-DD3F-B23022FA9BFB}"/>
              </a:ext>
            </a:extLst>
          </p:cNvPr>
          <p:cNvSpPr txBox="1"/>
          <p:nvPr/>
        </p:nvSpPr>
        <p:spPr>
          <a:xfrm>
            <a:off x="590550" y="1127011"/>
            <a:ext cx="5414128" cy="5170646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constexpr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BUFFER_NUM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 // tensor num for each queue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KernelAdd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public: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KernelAdd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 {}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(GM_ADDR x, GM_ADDR y, GM_ADDR z,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...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}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...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private: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...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};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"C"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__global__ 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(GM_ADDR x, GM_ADDR y, GM_ADDR z, GM_ADDR workspace, GM_ADDR tiling){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#ifndef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__CCE_KT_TEST__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add_custom_do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blockDim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l2ctrl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stream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uint8_t*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&lt;&lt;&lt;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blockDim,l2ctrl,stream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&gt;&gt;&gt;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(x, y, z, workspace, tiling);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#endif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20882E-653E-D900-BA1A-1F8403DBD935}"/>
              </a:ext>
            </a:extLst>
          </p:cNvPr>
          <p:cNvSpPr txBox="1"/>
          <p:nvPr/>
        </p:nvSpPr>
        <p:spPr>
          <a:xfrm>
            <a:off x="6337526" y="5031452"/>
            <a:ext cx="5268687" cy="1277273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1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extern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1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"C"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__global__ __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1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1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(GM_ADDR x, GM_ADDR y, GM_ADDR z, GM_ADDR workspace, GM_ADDR tiling){</a:t>
            </a:r>
          </a:p>
          <a:p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1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GET_TILING_DATA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tiling_data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tiling);</a:t>
            </a:r>
          </a:p>
          <a:p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KernelAdd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op;</a:t>
            </a:r>
          </a:p>
          <a:p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1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1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(x, y, z, </a:t>
            </a:r>
            <a:r>
              <a:rPr lang="en-US" altLang="zh-CN" sz="11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tiling_data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1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1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tiling_data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1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1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</a:t>
            </a:r>
            <a:r>
              <a:rPr lang="en-US" altLang="zh-CN" sz="11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1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Process</a:t>
            </a:r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</a:p>
          <a:p>
            <a:r>
              <a:rPr lang="en-US" altLang="zh-CN" sz="11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直接箭头连接符 9">
            <a:extLst>
              <a:ext uri="{FF2B5EF4-FFF2-40B4-BE49-F238E27FC236}">
                <a16:creationId xmlns:a16="http://schemas.microsoft.com/office/drawing/2014/main" id="{17FA7417-53F7-8BD3-4443-9D25C9705F1A}"/>
              </a:ext>
            </a:extLst>
          </p:cNvPr>
          <p:cNvSpPr/>
          <p:nvPr/>
        </p:nvSpPr>
        <p:spPr>
          <a:xfrm>
            <a:off x="9342015" y="5451681"/>
            <a:ext cx="329721" cy="153549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24DCA5-A31E-A4C9-DE7C-C9BE38C67076}"/>
              </a:ext>
            </a:extLst>
          </p:cNvPr>
          <p:cNvSpPr/>
          <p:nvPr/>
        </p:nvSpPr>
        <p:spPr>
          <a:xfrm>
            <a:off x="9739369" y="5404956"/>
            <a:ext cx="1173826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获取</a:t>
            </a: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tiling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信息</a:t>
            </a:r>
          </a:p>
        </p:txBody>
      </p:sp>
      <p:sp>
        <p:nvSpPr>
          <p:cNvPr id="9" name="直接箭头连接符 9">
            <a:extLst>
              <a:ext uri="{FF2B5EF4-FFF2-40B4-BE49-F238E27FC236}">
                <a16:creationId xmlns:a16="http://schemas.microsoft.com/office/drawing/2014/main" id="{4DF82D11-C650-223E-6C3F-77CED45B243A}"/>
              </a:ext>
            </a:extLst>
          </p:cNvPr>
          <p:cNvSpPr/>
          <p:nvPr/>
        </p:nvSpPr>
        <p:spPr>
          <a:xfrm>
            <a:off x="7885464" y="5950341"/>
            <a:ext cx="293633" cy="128479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C54F5F-F72A-1AA3-1C0E-C7CD9C7FE299}"/>
              </a:ext>
            </a:extLst>
          </p:cNvPr>
          <p:cNvSpPr/>
          <p:nvPr/>
        </p:nvSpPr>
        <p:spPr>
          <a:xfrm>
            <a:off x="8179098" y="6009279"/>
            <a:ext cx="2417824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实例化算子类并调用相关函数</a:t>
            </a:r>
          </a:p>
        </p:txBody>
      </p:sp>
      <p:sp>
        <p:nvSpPr>
          <p:cNvPr id="11" name="直接箭头连接符 9">
            <a:extLst>
              <a:ext uri="{FF2B5EF4-FFF2-40B4-BE49-F238E27FC236}">
                <a16:creationId xmlns:a16="http://schemas.microsoft.com/office/drawing/2014/main" id="{CC400721-473A-A703-FE31-53CAF5BC5856}"/>
              </a:ext>
            </a:extLst>
          </p:cNvPr>
          <p:cNvSpPr/>
          <p:nvPr/>
        </p:nvSpPr>
        <p:spPr>
          <a:xfrm>
            <a:off x="1663699" y="5908764"/>
            <a:ext cx="270573" cy="111120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8563F7-C537-5241-DF6A-C98F7895E741}"/>
              </a:ext>
            </a:extLst>
          </p:cNvPr>
          <p:cNvSpPr/>
          <p:nvPr/>
        </p:nvSpPr>
        <p:spPr>
          <a:xfrm>
            <a:off x="1934273" y="5950342"/>
            <a:ext cx="1705272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封装核函数</a:t>
            </a:r>
          </a:p>
        </p:txBody>
      </p:sp>
      <p:sp>
        <p:nvSpPr>
          <p:cNvPr id="13" name="直接箭头连接符 9">
            <a:extLst>
              <a:ext uri="{FF2B5EF4-FFF2-40B4-BE49-F238E27FC236}">
                <a16:creationId xmlns:a16="http://schemas.microsoft.com/office/drawing/2014/main" id="{4A4AB490-2590-ED5C-5B89-9BA062D10553}"/>
              </a:ext>
            </a:extLst>
          </p:cNvPr>
          <p:cNvSpPr/>
          <p:nvPr/>
        </p:nvSpPr>
        <p:spPr>
          <a:xfrm>
            <a:off x="2087592" y="3958865"/>
            <a:ext cx="931114" cy="298386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9DB761-7475-042E-A529-B1E147C48B00}"/>
              </a:ext>
            </a:extLst>
          </p:cNvPr>
          <p:cNvSpPr/>
          <p:nvPr/>
        </p:nvSpPr>
        <p:spPr>
          <a:xfrm>
            <a:off x="3018705" y="4187709"/>
            <a:ext cx="2927643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00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与数据大小和切分策略相关的私有类成员</a:t>
            </a:r>
            <a:endParaRPr kumimoji="0" lang="zh-CN" altLang="en-US" sz="1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1894B2-DA9F-6C3C-3B18-59928C4856F3}"/>
              </a:ext>
            </a:extLst>
          </p:cNvPr>
          <p:cNvSpPr txBox="1"/>
          <p:nvPr/>
        </p:nvSpPr>
        <p:spPr>
          <a:xfrm>
            <a:off x="6004678" y="1132464"/>
            <a:ext cx="5601535" cy="2708434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__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inline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void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(GM_ADDR x, GM_ADDR y, GM_ADDR z,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GetBlockNum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!=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"block dim can not be zero!"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GetBlockNum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ASSERT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!=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"tile num can not be zero!"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BUFFER_NUM;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xGm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((__gm__ DTYPE_X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)x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GetBlockIdx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yGm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((__gm__ DTYPE_Y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)y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GetBlockIdx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zGm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SetGlobalBuffer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((__gm__ DTYPE_Z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)z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GetBlockIdx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BUFFER_NUM,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sizeof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(DTYPE_X));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inQueueY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BUFFER_NUM,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sizeof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(DTYPE_Y));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pipe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InitBuffer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outQueueZ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BUFFER_NUM,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sizeof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(DTYPE_Z));}</a:t>
            </a:r>
          </a:p>
        </p:txBody>
      </p:sp>
      <p:sp>
        <p:nvSpPr>
          <p:cNvPr id="16" name="直接箭头连接符 9">
            <a:extLst>
              <a:ext uri="{FF2B5EF4-FFF2-40B4-BE49-F238E27FC236}">
                <a16:creationId xmlns:a16="http://schemas.microsoft.com/office/drawing/2014/main" id="{858C2FAC-47D2-8F66-07E9-EF137DC758F7}"/>
              </a:ext>
            </a:extLst>
          </p:cNvPr>
          <p:cNvSpPr/>
          <p:nvPr/>
        </p:nvSpPr>
        <p:spPr>
          <a:xfrm flipV="1">
            <a:off x="5471887" y="1534635"/>
            <a:ext cx="624113" cy="442361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7DF26D-67BC-7AF5-4F95-A8D8FC426B32}"/>
              </a:ext>
            </a:extLst>
          </p:cNvPr>
          <p:cNvSpPr/>
          <p:nvPr/>
        </p:nvSpPr>
        <p:spPr>
          <a:xfrm>
            <a:off x="2854390" y="2371346"/>
            <a:ext cx="2846877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通过</a:t>
            </a: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tiling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信息以及硬件感知获取所需的切分信息</a:t>
            </a:r>
          </a:p>
        </p:txBody>
      </p:sp>
      <p:sp>
        <p:nvSpPr>
          <p:cNvPr id="18" name="直接箭头连接符 9">
            <a:extLst>
              <a:ext uri="{FF2B5EF4-FFF2-40B4-BE49-F238E27FC236}">
                <a16:creationId xmlns:a16="http://schemas.microsoft.com/office/drawing/2014/main" id="{738D315C-9AC6-FBD2-0FAA-AF8525D299C0}"/>
              </a:ext>
            </a:extLst>
          </p:cNvPr>
          <p:cNvSpPr/>
          <p:nvPr/>
        </p:nvSpPr>
        <p:spPr>
          <a:xfrm flipH="1">
            <a:off x="5701266" y="1927119"/>
            <a:ext cx="570932" cy="442361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直接箭头连接符 9">
            <a:extLst>
              <a:ext uri="{FF2B5EF4-FFF2-40B4-BE49-F238E27FC236}">
                <a16:creationId xmlns:a16="http://schemas.microsoft.com/office/drawing/2014/main" id="{CD63A014-3047-B0F9-BF16-6A587A6EE49E}"/>
              </a:ext>
            </a:extLst>
          </p:cNvPr>
          <p:cNvSpPr/>
          <p:nvPr/>
        </p:nvSpPr>
        <p:spPr>
          <a:xfrm flipH="1">
            <a:off x="5699872" y="3071176"/>
            <a:ext cx="393696" cy="353773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19E138D-3872-EEAC-6933-A3746BFCD940}"/>
              </a:ext>
            </a:extLst>
          </p:cNvPr>
          <p:cNvSpPr/>
          <p:nvPr/>
        </p:nvSpPr>
        <p:spPr>
          <a:xfrm>
            <a:off x="2772229" y="3486504"/>
            <a:ext cx="2927644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查找入参地址以及分配内存</a:t>
            </a:r>
          </a:p>
        </p:txBody>
      </p:sp>
      <p:sp>
        <p:nvSpPr>
          <p:cNvPr id="21" name="直接箭头连接符 9">
            <a:extLst>
              <a:ext uri="{FF2B5EF4-FFF2-40B4-BE49-F238E27FC236}">
                <a16:creationId xmlns:a16="http://schemas.microsoft.com/office/drawing/2014/main" id="{B2AA2FA4-522F-171F-D6CC-D22394E76D8F}"/>
              </a:ext>
            </a:extLst>
          </p:cNvPr>
          <p:cNvSpPr/>
          <p:nvPr/>
        </p:nvSpPr>
        <p:spPr>
          <a:xfrm flipH="1" flipV="1">
            <a:off x="5699871" y="3652291"/>
            <a:ext cx="469123" cy="141985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49F343-90F9-69DC-623F-123D749935E8}"/>
              </a:ext>
            </a:extLst>
          </p:cNvPr>
          <p:cNvSpPr txBox="1"/>
          <p:nvPr/>
        </p:nvSpPr>
        <p:spPr>
          <a:xfrm>
            <a:off x="9112888" y="5363124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①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F4C55A-19A7-F6E9-7253-151CBA02A677}"/>
              </a:ext>
            </a:extLst>
          </p:cNvPr>
          <p:cNvSpPr txBox="1"/>
          <p:nvPr/>
        </p:nvSpPr>
        <p:spPr>
          <a:xfrm>
            <a:off x="7792152" y="6021870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②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10EBB7B-6143-78DC-7450-88126107EF61}"/>
              </a:ext>
            </a:extLst>
          </p:cNvPr>
          <p:cNvSpPr txBox="1"/>
          <p:nvPr/>
        </p:nvSpPr>
        <p:spPr>
          <a:xfrm>
            <a:off x="1499383" y="5886545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1491D19-EA94-8ED7-F9B1-678E017139DC}"/>
              </a:ext>
            </a:extLst>
          </p:cNvPr>
          <p:cNvSpPr txBox="1"/>
          <p:nvPr/>
        </p:nvSpPr>
        <p:spPr>
          <a:xfrm>
            <a:off x="2457552" y="3799461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④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04DDC5C-824C-0C17-8366-9D7D5EBDB4F4}"/>
              </a:ext>
            </a:extLst>
          </p:cNvPr>
          <p:cNvSpPr txBox="1"/>
          <p:nvPr/>
        </p:nvSpPr>
        <p:spPr>
          <a:xfrm>
            <a:off x="5830193" y="1798351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⑤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9D53FDB-B484-918C-345D-5FCFBE1EB195}"/>
              </a:ext>
            </a:extLst>
          </p:cNvPr>
          <p:cNvSpPr txBox="1"/>
          <p:nvPr/>
        </p:nvSpPr>
        <p:spPr>
          <a:xfrm>
            <a:off x="5719686" y="3358157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⑥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28" name="直接箭头连接符 9">
            <a:extLst>
              <a:ext uri="{FF2B5EF4-FFF2-40B4-BE49-F238E27FC236}">
                <a16:creationId xmlns:a16="http://schemas.microsoft.com/office/drawing/2014/main" id="{73C2333D-F62B-861E-D271-6D3B0A9C5AA2}"/>
              </a:ext>
            </a:extLst>
          </p:cNvPr>
          <p:cNvSpPr/>
          <p:nvPr/>
        </p:nvSpPr>
        <p:spPr>
          <a:xfrm>
            <a:off x="906976" y="3071175"/>
            <a:ext cx="712569" cy="32293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EA236D-2872-5B72-7042-A62D71A770DB}"/>
              </a:ext>
            </a:extLst>
          </p:cNvPr>
          <p:cNvSpPr/>
          <p:nvPr/>
        </p:nvSpPr>
        <p:spPr>
          <a:xfrm>
            <a:off x="1619545" y="3033928"/>
            <a:ext cx="3113820" cy="246217"/>
          </a:xfrm>
          <a:prstGeom prst="rect">
            <a:avLst/>
          </a:prstGeom>
          <a:solidFill>
            <a:srgbClr val="C00000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修改获取切分数据的方式即可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04EE74C-49D1-448B-1BFD-A560A57A54A5}"/>
              </a:ext>
            </a:extLst>
          </p:cNvPr>
          <p:cNvSpPr txBox="1"/>
          <p:nvPr/>
        </p:nvSpPr>
        <p:spPr>
          <a:xfrm>
            <a:off x="1108224" y="2794180"/>
            <a:ext cx="293633" cy="276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⑦</a:t>
            </a: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</p:txBody>
      </p:sp>
      <p:sp>
        <p:nvSpPr>
          <p:cNvPr id="5" name="直接箭头连接符 9">
            <a:extLst>
              <a:ext uri="{FF2B5EF4-FFF2-40B4-BE49-F238E27FC236}">
                <a16:creationId xmlns:a16="http://schemas.microsoft.com/office/drawing/2014/main" id="{DAE27EB0-32B5-D553-41A8-9757757789DA}"/>
              </a:ext>
            </a:extLst>
          </p:cNvPr>
          <p:cNvSpPr/>
          <p:nvPr/>
        </p:nvSpPr>
        <p:spPr>
          <a:xfrm>
            <a:off x="5327801" y="4974170"/>
            <a:ext cx="1045025" cy="149374"/>
          </a:xfrm>
          <a:prstGeom prst="line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48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 animBg="1"/>
      <p:bldP spid="29" grpId="0" animBg="1"/>
      <p:bldP spid="30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26C0-3624-9C9B-CA42-509270DDB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98C8FCC7-DF8C-CC94-BE29-02A7E4830535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7E57794-4901-945F-B072-F327CF83FC75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AE1C31-ADBA-3528-E3AE-B04E5080B2A8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6BA3EC4-D510-0DE6-B38E-C1534CFD6BF7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15E033-7783-9D65-2EF8-16C0A7633FA2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C2C9AE2-0A70-68C9-B8E1-C2E8D5125501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8B87000-E230-8C90-6070-A2EEADD2E82D}"/>
              </a:ext>
            </a:extLst>
          </p:cNvPr>
          <p:cNvSpPr txBox="1"/>
          <p:nvPr/>
        </p:nvSpPr>
        <p:spPr>
          <a:xfrm>
            <a:off x="4728943" y="2856782"/>
            <a:ext cx="2698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B867101-F6BC-DFC0-519E-33626B8ADB73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56EEDF3-04FD-1F96-E7A6-4FCDDBBED880}"/>
              </a:ext>
            </a:extLst>
          </p:cNvPr>
          <p:cNvSpPr txBox="1"/>
          <p:nvPr/>
        </p:nvSpPr>
        <p:spPr>
          <a:xfrm>
            <a:off x="4728943" y="3544019"/>
            <a:ext cx="25827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5866BC9-D3E9-C458-9CF9-5498B08E5406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4D7227-7A48-B5C9-1BD9-717F64766897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D674DF9-1D1C-2B7A-D0DC-523371F9C34C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8A8F93-B26A-912E-167D-5AC2BD368D9C}"/>
              </a:ext>
            </a:extLst>
          </p:cNvPr>
          <p:cNvSpPr txBox="1"/>
          <p:nvPr/>
        </p:nvSpPr>
        <p:spPr>
          <a:xfrm>
            <a:off x="4728943" y="4918493"/>
            <a:ext cx="1968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7AA3030-EC01-D763-4957-1261AF00F49D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D8B255-CA82-E11A-1885-662CB16D3A58}"/>
              </a:ext>
            </a:extLst>
          </p:cNvPr>
          <p:cNvSpPr txBox="1"/>
          <p:nvPr/>
        </p:nvSpPr>
        <p:spPr>
          <a:xfrm>
            <a:off x="4728943" y="5605730"/>
            <a:ext cx="3291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47898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DF61-B141-A260-BEED-C59FDBDB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3328C-AF95-73BC-8405-4554E70D33DE}"/>
              </a:ext>
            </a:extLst>
          </p:cNvPr>
          <p:cNvSpPr txBox="1">
            <a:spLocks/>
          </p:cNvSpPr>
          <p:nvPr/>
        </p:nvSpPr>
        <p:spPr>
          <a:xfrm>
            <a:off x="4491209" y="411900"/>
            <a:ext cx="321434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侧算子实现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4245D1-0A13-46FB-C624-1F863A0AF629}"/>
              </a:ext>
            </a:extLst>
          </p:cNvPr>
          <p:cNvSpPr txBox="1"/>
          <p:nvPr/>
        </p:nvSpPr>
        <p:spPr>
          <a:xfrm>
            <a:off x="1512095" y="2482589"/>
            <a:ext cx="9172573" cy="18928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77" rtl="0" fontAlgn="auto" latinLnBrk="0" hangingPunct="0">
              <a:lnSpc>
                <a:spcPct val="150000"/>
              </a:lnSpc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Host</a:t>
            </a:r>
            <a:r>
              <a: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侧算子实现开发包括</a:t>
            </a:r>
            <a:r>
              <a:rPr kumimoji="0" lang="en-US" altLang="zh-CN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Tiling</a:t>
            </a:r>
            <a:r>
              <a: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实现</a:t>
            </a:r>
            <a:r>
              <a: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、</a:t>
            </a: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Shape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推导等函数实现</a:t>
            </a:r>
            <a:r>
              <a:rPr kumimoji="0" lang="zh-CN" alt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以及</a:t>
            </a:r>
            <a:r>
              <a:rPr lang="zh-CN" altLang="en-US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elvetica"/>
              </a:rPr>
              <a:t>算子原型注册</a:t>
            </a:r>
            <a:endParaRPr lang="en-US" altLang="zh-CN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elvetica"/>
            </a:endParaRP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。计算数据切分过程相关的参数，比如每次计算的数据量大小。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推导等函数实现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。根据算子的输入张量描述、算子逻辑及算子属性，推理出算子的输出张量描述，包括张量的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、数据类型及数据排布格式等信息。这样算子构图准备阶段就可以为所有的张量静态分配内存，避免动态内存分配带来的开销。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算子原型注册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。除了上述函数的开发，还需要进行算子原型定义，原型定义描述了算子的输入输出、属性等信息以及算子在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处理器链接上相关实现信息，算子原型注册会关联算子原型定义和上述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实现等函数，将其组合成一个整体。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6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B7B3D-AFA0-2D9E-C12B-65F21B3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D92C6-A50C-9681-8881-46D575F8E9B0}"/>
              </a:ext>
            </a:extLst>
          </p:cNvPr>
          <p:cNvSpPr txBox="1">
            <a:spLocks/>
          </p:cNvSpPr>
          <p:nvPr/>
        </p:nvSpPr>
        <p:spPr>
          <a:xfrm>
            <a:off x="4491209" y="411900"/>
            <a:ext cx="321434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侧算子实现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3F75D6-32B5-05E7-BAD0-204CAF2394D1}"/>
              </a:ext>
            </a:extLst>
          </p:cNvPr>
          <p:cNvSpPr txBox="1">
            <a:spLocks/>
          </p:cNvSpPr>
          <p:nvPr/>
        </p:nvSpPr>
        <p:spPr>
          <a:xfrm>
            <a:off x="1064594" y="1322814"/>
            <a:ext cx="6338915" cy="2552365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名称：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add_custom_tiling.h</a:t>
            </a:r>
            <a:endParaRPr lang="en-US" altLang="zh-CN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作用：定义和注册算子需要使用的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参数：如数据全长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和切分块数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tileNum</a:t>
            </a:r>
            <a:endParaRPr lang="en-US" altLang="zh-CN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生成代码：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修改代码：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99EAAB-3079-F4E3-3C1C-3D8794E6839A}"/>
              </a:ext>
            </a:extLst>
          </p:cNvPr>
          <p:cNvSpPr txBox="1"/>
          <p:nvPr/>
        </p:nvSpPr>
        <p:spPr>
          <a:xfrm>
            <a:off x="2159225" y="2039607"/>
            <a:ext cx="3892736" cy="1323439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"register/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tilingdata_base.h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BEGIN_TILING_DATA_DEF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TILING_DATA_FIELD_DEF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size);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END_TILING_DATA_DEF;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REGISTER_TILING_DATA_CLASS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70B2102-B731-CAF4-3440-BD59FF315A67}"/>
              </a:ext>
            </a:extLst>
          </p:cNvPr>
          <p:cNvGrpSpPr/>
          <p:nvPr/>
        </p:nvGrpSpPr>
        <p:grpSpPr>
          <a:xfrm>
            <a:off x="2159225" y="3661414"/>
            <a:ext cx="3855348" cy="2400657"/>
            <a:chOff x="2442963" y="4183038"/>
            <a:chExt cx="3855348" cy="2400657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741565B-E862-252A-A5B5-49E132D96F83}"/>
                </a:ext>
              </a:extLst>
            </p:cNvPr>
            <p:cNvSpPr txBox="1"/>
            <p:nvPr/>
          </p:nvSpPr>
          <p:spPr>
            <a:xfrm>
              <a:off x="2442963" y="4183038"/>
              <a:ext cx="3855348" cy="2400657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altLang="zh-CN" sz="1000" b="0" dirty="0">
                  <a:solidFill>
                    <a:srgbClr val="C586C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#ifndef</a:t>
              </a: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ADD_CUSTOM_TILING_H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000" b="0" dirty="0">
                  <a:solidFill>
                    <a:srgbClr val="C586C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#define</a:t>
              </a: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ADD_CUSTOM_TILING_H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sz="1000" b="0" dirty="0">
                  <a:solidFill>
                    <a:srgbClr val="C586C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#include</a:t>
              </a: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00" b="0" dirty="0">
                  <a:solidFill>
                    <a:srgbClr val="CE9178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"register/</a:t>
              </a:r>
              <a:r>
                <a:rPr lang="en-US" altLang="zh-CN" sz="1000" b="0" dirty="0" err="1">
                  <a:solidFill>
                    <a:srgbClr val="CE9178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tilingdata_base.h</a:t>
              </a:r>
              <a:r>
                <a:rPr lang="en-US" altLang="zh-CN" sz="1000" b="0" dirty="0">
                  <a:solidFill>
                    <a:srgbClr val="CE9178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"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namespace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00" b="0" dirty="0" err="1">
                  <a:solidFill>
                    <a:srgbClr val="4EC9B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optiling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{</a:t>
              </a:r>
            </a:p>
            <a:p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BEGIN_TILING_DATA_DEF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TilingData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  </a:t>
              </a:r>
              <a:r>
                <a:rPr lang="en-US" altLang="zh-CN" sz="1000" b="0" dirty="0">
                  <a:solidFill>
                    <a:srgbClr val="DCDCAA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TILING_DATA_FIELD_DEF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uint32_t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totalLength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  </a:t>
              </a: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TILING_DATA_FIELD_DEF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000" b="0" dirty="0">
                  <a:solidFill>
                    <a:srgbClr val="569CD6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uint32_t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tileNum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);</a:t>
              </a:r>
            </a:p>
            <a:p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END_TILING_DATA_DEF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;</a:t>
              </a:r>
            </a:p>
            <a:p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1000" b="0" dirty="0">
                  <a:solidFill>
                    <a:srgbClr val="9CDCFE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REGISTER_TILING_DATA_CLASS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AddCustom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altLang="zh-CN" sz="1000" b="0" dirty="0" err="1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TilingData</a:t>
              </a:r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}</a:t>
              </a:r>
            </a:p>
            <a:p>
              <a:r>
                <a:rPr lang="en-US" altLang="zh-CN" sz="1000" b="0" dirty="0">
                  <a:solidFill>
                    <a:srgbClr val="C586C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#endif</a:t>
              </a: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br>
                <a:rPr lang="en-US" altLang="zh-CN" sz="1000" b="0" dirty="0">
                  <a:solidFill>
                    <a:srgbClr val="CCCCC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4957E2F-CFAA-B07E-4B8B-BA04D0CEE712}"/>
                </a:ext>
              </a:extLst>
            </p:cNvPr>
            <p:cNvSpPr/>
            <p:nvPr/>
          </p:nvSpPr>
          <p:spPr>
            <a:xfrm>
              <a:off x="2648161" y="5136841"/>
              <a:ext cx="3262611" cy="302906"/>
            </a:xfrm>
            <a:prstGeom prst="rect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noAutofit/>
            </a:bodyPr>
            <a:lstStyle/>
            <a:p>
              <a:pPr marL="0" marR="0" indent="0" algn="l" defTabSz="914477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"/>
              </a:endParaRPr>
            </a:p>
          </p:txBody>
        </p:sp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EC03D20-E250-E72D-E47D-E4C530FD4D00}"/>
              </a:ext>
            </a:extLst>
          </p:cNvPr>
          <p:cNvCxnSpPr>
            <a:cxnSpLocks/>
          </p:cNvCxnSpPr>
          <p:nvPr/>
        </p:nvCxnSpPr>
        <p:spPr>
          <a:xfrm>
            <a:off x="5541973" y="1968640"/>
            <a:ext cx="0" cy="264657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5AFC814-80D3-F395-5714-D88BBBF60CA2}"/>
              </a:ext>
            </a:extLst>
          </p:cNvPr>
          <p:cNvGrpSpPr/>
          <p:nvPr/>
        </p:nvGrpSpPr>
        <p:grpSpPr>
          <a:xfrm>
            <a:off x="7403509" y="1459756"/>
            <a:ext cx="3728660" cy="4604622"/>
            <a:chOff x="7065726" y="1459756"/>
            <a:chExt cx="3728660" cy="460462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E8858E-115C-6D05-5226-AE27B664F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5728" y="1459756"/>
              <a:ext cx="3728658" cy="4604622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B5716F1-EB3E-484E-AE20-CB212C01C9DB}"/>
                </a:ext>
              </a:extLst>
            </p:cNvPr>
            <p:cNvSpPr/>
            <p:nvPr/>
          </p:nvSpPr>
          <p:spPr>
            <a:xfrm>
              <a:off x="7065726" y="2000819"/>
              <a:ext cx="1221167" cy="1234812"/>
            </a:xfrm>
            <a:prstGeom prst="rect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77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395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4530-5969-88A3-3328-F367D34D7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390349-E3D1-2BDC-272F-7AE29DC65D99}"/>
              </a:ext>
            </a:extLst>
          </p:cNvPr>
          <p:cNvSpPr txBox="1">
            <a:spLocks/>
          </p:cNvSpPr>
          <p:nvPr/>
        </p:nvSpPr>
        <p:spPr>
          <a:xfrm>
            <a:off x="4491209" y="411900"/>
            <a:ext cx="321434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侧算子实现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52BF1B-F165-FFE3-C1DB-D51EB959DEAF}"/>
              </a:ext>
            </a:extLst>
          </p:cNvPr>
          <p:cNvSpPr txBox="1">
            <a:spLocks/>
          </p:cNvSpPr>
          <p:nvPr/>
        </p:nvSpPr>
        <p:spPr>
          <a:xfrm>
            <a:off x="1585457" y="1125538"/>
            <a:ext cx="4735912" cy="89037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名称：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add_custom.cpp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作用：算子原型注册、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推导、信息库、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实现等内容文件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生成代码框架：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A85624-62D5-7E0C-11C6-61AFC3B9095D}"/>
              </a:ext>
            </a:extLst>
          </p:cNvPr>
          <p:cNvSpPr txBox="1"/>
          <p:nvPr/>
        </p:nvSpPr>
        <p:spPr>
          <a:xfrm>
            <a:off x="1585457" y="2059312"/>
            <a:ext cx="9025849" cy="4247317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add_custom_tiling.h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"register/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op_def_registry.h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static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graphStatus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TilingContext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//Tiling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函数的定义与实现，即计算数据切分过程相关的参数，比如每次计算的数据量大小。</a:t>
            </a: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该部分开发者需要重点修改</a:t>
            </a:r>
            <a:endParaRPr lang="en-US" altLang="zh-CN" sz="100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static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graphStatus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InferShape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InferShapeContext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//Shape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推导函数的定义与实现，即根据算子的输入张量描述、算子逻辑及算子属性，推理出算子的输出张量描述，减少动态分配内存带来的资源损耗</a:t>
            </a:r>
            <a:endParaRPr lang="en-US" altLang="zh-CN" sz="100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该部分开发者无须修改</a:t>
            </a:r>
            <a:endParaRPr lang="en-US" altLang="zh-CN" sz="100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: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public: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explicit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char*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: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(name)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{</a:t>
            </a:r>
          </a:p>
          <a:p>
            <a:pPr lvl="2"/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定义输入输出的格式；关联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实现和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Shape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推导函数</a:t>
            </a:r>
            <a:r>
              <a:rPr lang="zh-CN" altLang="en-US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注册算子支持的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处理器型号</a:t>
            </a:r>
            <a:endParaRPr lang="zh-CN" altLang="en-US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该部分开发者只需修改输入和输出的名称、排布、数据格式等内容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};</a:t>
            </a:r>
          </a:p>
          <a:p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OP_ADD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49509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F478-EA7D-1258-5BD4-262224031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9908A-F1F1-5FB1-4DCA-2F5C96A69D02}"/>
              </a:ext>
            </a:extLst>
          </p:cNvPr>
          <p:cNvSpPr txBox="1">
            <a:spLocks/>
          </p:cNvSpPr>
          <p:nvPr/>
        </p:nvSpPr>
        <p:spPr>
          <a:xfrm>
            <a:off x="4491209" y="411900"/>
            <a:ext cx="321434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侧算子实现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292BD3-9A0C-A4F6-F8FD-414F9529EF6E}"/>
              </a:ext>
            </a:extLst>
          </p:cNvPr>
          <p:cNvSpPr txBox="1">
            <a:spLocks/>
          </p:cNvSpPr>
          <p:nvPr/>
        </p:nvSpPr>
        <p:spPr>
          <a:xfrm>
            <a:off x="1010442" y="1412056"/>
            <a:ext cx="1996380" cy="613373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名称：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add_custom.cpp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修改代码：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F167F9-2E22-9887-2597-A32AC5EAA0CB}"/>
              </a:ext>
            </a:extLst>
          </p:cNvPr>
          <p:cNvSpPr txBox="1"/>
          <p:nvPr/>
        </p:nvSpPr>
        <p:spPr>
          <a:xfrm>
            <a:off x="1010442" y="2101151"/>
            <a:ext cx="6121142" cy="3939540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定义切分块数与核数</a:t>
            </a:r>
            <a:endParaRPr lang="en-US" altLang="zh-CN" sz="100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BLOCK_DIM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TILE_NUM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static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graphStatus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TilingContext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导入数据全长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tiling;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uint32_t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GetInputTensor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GetShapeSize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SetBlockDim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(BLOCK_DIM);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设置数据全长与切分块数等数据切分过程相关参数</a:t>
            </a:r>
            <a:endParaRPr lang="en-US" altLang="zh-CN" sz="100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set_totalLength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totalLength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set_tileNum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(TILE_NUM);</a:t>
            </a: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保存</a:t>
            </a:r>
            <a:r>
              <a:rPr lang="en-US" altLang="zh-CN" sz="1000" dirty="0" err="1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TilingData</a:t>
            </a:r>
            <a:endParaRPr lang="en-US" altLang="zh-CN" sz="1000" dirty="0">
              <a:solidFill>
                <a:srgbClr val="6A9955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SaveToBuffer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GetRawTilingData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(),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GetRawTilingData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GetCapacity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GetRawTilingData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SetDataSize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GetDataSize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SetTilingKey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//</a:t>
            </a:r>
            <a:r>
              <a:rPr lang="zh-CN" altLang="en-US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设置</a:t>
            </a:r>
            <a:r>
              <a:rPr lang="en-US" altLang="zh-CN" sz="1000" dirty="0">
                <a:solidFill>
                  <a:srgbClr val="6A995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workspace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size_t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currentWorkspace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GetWorkspaceSizes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currentWorkspace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]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::GRAPH_SUCCESS;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41B86B-E1EB-CB68-A637-A24F47875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594" y="1412056"/>
            <a:ext cx="3808727" cy="47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86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B718-C3C8-2073-149F-8E249DA5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48BA7-DCB3-1FCB-281E-55AA753F7A36}"/>
              </a:ext>
            </a:extLst>
          </p:cNvPr>
          <p:cNvSpPr txBox="1">
            <a:spLocks/>
          </p:cNvSpPr>
          <p:nvPr/>
        </p:nvSpPr>
        <p:spPr>
          <a:xfrm>
            <a:off x="4491209" y="411900"/>
            <a:ext cx="321434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侧算子实现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A7B0A1-1E34-5A3E-8FC3-5BB0005DE29B}"/>
              </a:ext>
            </a:extLst>
          </p:cNvPr>
          <p:cNvSpPr txBox="1"/>
          <p:nvPr/>
        </p:nvSpPr>
        <p:spPr>
          <a:xfrm>
            <a:off x="6246146" y="1360789"/>
            <a:ext cx="4766194" cy="4708981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class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: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public: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explicit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char*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: 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OpDef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(name)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"x"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(REQUIRED)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::DT_FLOAT})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::FORMAT_ND})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UnknownShapeFormat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::FORMAT_ND});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Input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"y"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(REQUIRED)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::DT_FLOAT})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::FORMAT_ND})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UnknownShapeFormat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::FORMAT_ND});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Output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"z"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ParamType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(REQUIRED)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DataType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::DT_FLOAT})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::FORMAT_ND})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UnknownShapeFormat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({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::FORMAT_ND});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SetInferShape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InferShape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    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SetTiling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optiling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TilingFunc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AddConfig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"ascend910"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AICore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().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AddConfig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"ascend310p"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};</a:t>
            </a:r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OP_ADD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9EA699-AEDA-8A98-F00C-EE33BD95A9BC}"/>
              </a:ext>
            </a:extLst>
          </p:cNvPr>
          <p:cNvSpPr txBox="1">
            <a:spLocks/>
          </p:cNvSpPr>
          <p:nvPr/>
        </p:nvSpPr>
        <p:spPr>
          <a:xfrm>
            <a:off x="1184423" y="2587541"/>
            <a:ext cx="3389389" cy="613373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名称：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add_custom.cpp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本代码中余下部分由工具自动生成，无须修改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98C3E2-3359-5E7C-197E-2D5D041A6B8E}"/>
              </a:ext>
            </a:extLst>
          </p:cNvPr>
          <p:cNvSpPr txBox="1"/>
          <p:nvPr/>
        </p:nvSpPr>
        <p:spPr>
          <a:xfrm>
            <a:off x="1184423" y="3305304"/>
            <a:ext cx="4766194" cy="1477328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static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graphStatus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InferShape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InferShapeContext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::Shape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x1_shape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GetInputShape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gert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::Shape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y_shape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GetOutputShape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y_shape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x1_shape;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GRAPH_SUCCESS;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r>
              <a:rPr lang="en-US" altLang="zh-CN" sz="1000" dirty="0">
                <a:solidFill>
                  <a:srgbClr val="CCCCCC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631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D472-FD6D-12BB-A011-696B31C1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6F298487-6C94-D054-D0D3-3F639E88DA7C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E9ACFEE-231F-24C5-48D0-B161AC31586B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A73B1E-12E6-9FB9-227A-97D7DF5A9DB0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E3B6EEA-5012-9BDA-3C0E-A508A657DD9D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7AB526-13E4-136A-47B6-111FF8BD1AE2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19B7584-C8BE-4021-6844-B8BAA212BAD1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D1BB6C-097E-C7D5-E9FC-98CC58F50612}"/>
              </a:ext>
            </a:extLst>
          </p:cNvPr>
          <p:cNvSpPr txBox="1"/>
          <p:nvPr/>
        </p:nvSpPr>
        <p:spPr>
          <a:xfrm>
            <a:off x="4728943" y="2856782"/>
            <a:ext cx="2698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373A256-2A79-C9A9-2695-FD75722B4D63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0C3B19-EEF5-1DD9-4207-244B8A5A12D1}"/>
              </a:ext>
            </a:extLst>
          </p:cNvPr>
          <p:cNvSpPr txBox="1"/>
          <p:nvPr/>
        </p:nvSpPr>
        <p:spPr>
          <a:xfrm>
            <a:off x="4728943" y="3544019"/>
            <a:ext cx="25506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A120680-4A21-BCA3-A226-FC59CDC9C32B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0558AF-DF1B-41BE-69E9-4FD5860E18BE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09D9581-4A8F-5D88-37F9-DA5FE390A4EA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73F5FD-59EE-5912-C021-8A9BE47A6F5A}"/>
              </a:ext>
            </a:extLst>
          </p:cNvPr>
          <p:cNvSpPr txBox="1"/>
          <p:nvPr/>
        </p:nvSpPr>
        <p:spPr>
          <a:xfrm>
            <a:off x="4728943" y="4918493"/>
            <a:ext cx="1968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6956E5-21C1-E17A-CEF8-2BD9D8EA8902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3FDD2E-DBC2-AC5D-0133-7431E4070513}"/>
              </a:ext>
            </a:extLst>
          </p:cNvPr>
          <p:cNvSpPr txBox="1"/>
          <p:nvPr/>
        </p:nvSpPr>
        <p:spPr>
          <a:xfrm>
            <a:off x="4728943" y="5605730"/>
            <a:ext cx="3291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159320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A311-4550-B89B-726E-42401182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3CFE3-F53A-4E37-4D7B-82EE8CB14F15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编译操作概述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EBDAA-211F-1798-EB08-14517B34551D}"/>
              </a:ext>
            </a:extLst>
          </p:cNvPr>
          <p:cNvSpPr txBox="1">
            <a:spLocks/>
          </p:cNvSpPr>
          <p:nvPr/>
        </p:nvSpPr>
        <p:spPr>
          <a:xfrm>
            <a:off x="1218879" y="2476270"/>
            <a:ext cx="5138997" cy="199836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编译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侧代码实现文件的方式可以分为两种：源码发布和二进制发布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源码发布不对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侧实现进行编译，保留相关文件，支持算子在线编译或通过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模型转换方式编译算子。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lvl="1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二进制发布生成描述算子相关信息的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json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文件和二进制文件，支持单算子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执行、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框架下的单算子调用、动态网络中的算子调用场景。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7A077B-AAF2-84B2-A83C-A8A6E6440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19" y="1944321"/>
            <a:ext cx="4427464" cy="306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471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DEF5-670C-1D4E-81D6-CB070451E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F7F46-E504-820D-029B-5586BB3624BF}"/>
              </a:ext>
            </a:extLst>
          </p:cNvPr>
          <p:cNvSpPr txBox="1">
            <a:spLocks/>
          </p:cNvSpPr>
          <p:nvPr/>
        </p:nvSpPr>
        <p:spPr>
          <a:xfrm>
            <a:off x="4064201" y="411900"/>
            <a:ext cx="406835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CMakePresets.json</a:t>
            </a:r>
            <a:endParaRPr lang="zh-CN" altLang="en-US" sz="3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11C006-8A57-7B7F-3FD2-D5FD22577603}"/>
              </a:ext>
            </a:extLst>
          </p:cNvPr>
          <p:cNvSpPr txBox="1">
            <a:spLocks/>
          </p:cNvSpPr>
          <p:nvPr/>
        </p:nvSpPr>
        <p:spPr>
          <a:xfrm>
            <a:off x="3222957" y="1529088"/>
            <a:ext cx="3208251" cy="89037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名称：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CMakePresets.json</a:t>
            </a:r>
            <a:endParaRPr lang="en-US" altLang="zh-CN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作用：编译配置项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——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修改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安装路径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修改代码：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852E7E-0257-8165-FCB9-DD2F1208A595}"/>
              </a:ext>
            </a:extLst>
          </p:cNvPr>
          <p:cNvSpPr txBox="1"/>
          <p:nvPr/>
        </p:nvSpPr>
        <p:spPr>
          <a:xfrm>
            <a:off x="3222957" y="2496481"/>
            <a:ext cx="5750849" cy="2862322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</a:p>
          <a:p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"ASCEND_CANN_PACKAGE_PATH"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"type"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"PATH"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"value"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usr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/local/Ascend/latest"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替换为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CANN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软件包安装后的实际路径</a:t>
            </a:r>
            <a:endParaRPr lang="zh-CN" altLang="en-US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},</a:t>
            </a:r>
          </a:p>
          <a:p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"ENABLE_CROSS_COMPILE"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{               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使能交叉编译，请根据实际环境进行配置</a:t>
            </a:r>
            <a:endParaRPr lang="zh-CN" altLang="en-US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"type"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"BOOL"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"value"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"False"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},</a:t>
            </a:r>
          </a:p>
          <a:p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"CMAKE_CROSS_PLATFORM_COMPILER"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{    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en-US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请替换为交叉编译工具安装后的实际路径</a:t>
            </a:r>
            <a:endParaRPr lang="zh-CN" altLang="en-US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en-US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"type"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"PATH"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"value"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usr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/bin/aarch64-linux-gnu-g++"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vendor_name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"type"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"STRING"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"value"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"customize"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},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5" name="直接箭头连接符 9">
            <a:extLst>
              <a:ext uri="{FF2B5EF4-FFF2-40B4-BE49-F238E27FC236}">
                <a16:creationId xmlns:a16="http://schemas.microsoft.com/office/drawing/2014/main" id="{36F263F1-27AA-F880-097F-3B3B95AFBD3C}"/>
              </a:ext>
            </a:extLst>
          </p:cNvPr>
          <p:cNvSpPr/>
          <p:nvPr/>
        </p:nvSpPr>
        <p:spPr>
          <a:xfrm>
            <a:off x="4489230" y="4610372"/>
            <a:ext cx="1611980" cy="902473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462198-690E-1641-D74B-FEA941BC78EB}"/>
              </a:ext>
            </a:extLst>
          </p:cNvPr>
          <p:cNvSpPr/>
          <p:nvPr/>
        </p:nvSpPr>
        <p:spPr>
          <a:xfrm>
            <a:off x="3222957" y="5512846"/>
            <a:ext cx="5750849" cy="323161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其取值会影响后续部署算子包时对应的部署目录</a:t>
            </a:r>
          </a:p>
        </p:txBody>
      </p:sp>
    </p:spTree>
    <p:extLst>
      <p:ext uri="{BB962C8B-B14F-4D97-AF65-F5344CB8AC3E}">
        <p14:creationId xmlns:p14="http://schemas.microsoft.com/office/powerpoint/2010/main" val="727164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31C8-B045-C3B1-51BE-0341194D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1C71B-596B-4D6D-897D-A68D02C80578}"/>
              </a:ext>
            </a:extLst>
          </p:cNvPr>
          <p:cNvSpPr txBox="1">
            <a:spLocks/>
          </p:cNvSpPr>
          <p:nvPr/>
        </p:nvSpPr>
        <p:spPr>
          <a:xfrm>
            <a:off x="4980125" y="41190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编译算子包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CBEA5B-EEA5-D34D-4E33-005943045DE9}"/>
              </a:ext>
            </a:extLst>
          </p:cNvPr>
          <p:cNvSpPr txBox="1">
            <a:spLocks/>
          </p:cNvSpPr>
          <p:nvPr/>
        </p:nvSpPr>
        <p:spPr>
          <a:xfrm>
            <a:off x="2133193" y="2208707"/>
            <a:ext cx="7930376" cy="674544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完成上述所有代码修改后，在工程文件夹下执行算子工程编译脚本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./build.sh</a:t>
            </a:r>
          </a:p>
          <a:p>
            <a:pPr marL="0" indent="0" algn="ctr"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编译时，会在算子工程根目录下生成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build_out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目录，编译完成后，生成的算子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run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包会存放到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build_out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E06771-91CA-60A3-064C-592A4213512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2F1F0"/>
              </a:clrFrom>
              <a:clrTo>
                <a:srgbClr val="F2F1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48887" y="2999081"/>
            <a:ext cx="6698988" cy="6550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5BC696-7A50-1FF3-76D7-610F806195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2F1F0"/>
              </a:clrFrom>
              <a:clrTo>
                <a:srgbClr val="F2F1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9875" y="3885754"/>
            <a:ext cx="10737012" cy="104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1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2B84-7C8D-694E-B28E-1BB241ACF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FBC6E-6B23-6441-EE9F-FF728E491C3C}"/>
              </a:ext>
            </a:extLst>
          </p:cNvPr>
          <p:cNvSpPr txBox="1">
            <a:spLocks/>
          </p:cNvSpPr>
          <p:nvPr/>
        </p:nvSpPr>
        <p:spPr>
          <a:xfrm>
            <a:off x="4980125" y="411900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部署算子包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3CB74D-D27E-4171-291B-9C3458A06BD1}"/>
              </a:ext>
            </a:extLst>
          </p:cNvPr>
          <p:cNvSpPr txBox="1">
            <a:spLocks/>
          </p:cNvSpPr>
          <p:nvPr/>
        </p:nvSpPr>
        <p:spPr>
          <a:xfrm>
            <a:off x="931337" y="2619419"/>
            <a:ext cx="8611716" cy="207531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默认部署（推荐）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直接执行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./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custom_opp_xxx.run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执行完成后算子会部署在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&lt;ASCEND_CANN_PACKAGE_PATH&gt;/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opp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/vendors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目录下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指定算子包部署目录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执行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./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custom_opp_xxx.run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--install-path=xxx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算子部署到指定目录下，此时需要将自定义安装目录添加到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ASCEND_CUSTOM_OPP_PATH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变量才能使算子在当前环境生效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8316AB-B05D-ED8D-7877-3C841C635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193" y="2796593"/>
            <a:ext cx="4381232" cy="8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18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A9C85-F437-40D7-9B3F-A8B585090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F932C-7C14-5DC2-6E03-F707EEB01DDC}"/>
              </a:ext>
            </a:extLst>
          </p:cNvPr>
          <p:cNvSpPr txBox="1">
            <a:spLocks/>
          </p:cNvSpPr>
          <p:nvPr/>
        </p:nvSpPr>
        <p:spPr>
          <a:xfrm>
            <a:off x="3749019" y="411900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算子包部署后的工程目录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DAF945-B302-2204-4EBA-E7EC4AD72391}"/>
              </a:ext>
            </a:extLst>
          </p:cNvPr>
          <p:cNvSpPr txBox="1"/>
          <p:nvPr/>
        </p:nvSpPr>
        <p:spPr>
          <a:xfrm>
            <a:off x="3516585" y="1665987"/>
            <a:ext cx="5163593" cy="4037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none">
            <a:spAutoFit/>
          </a:bodyPr>
          <a:lstStyle/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opp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//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算子库目录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vendors     //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自定义算子所在目录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config.ini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vendor_name1   //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存储对应厂商部署的自定义算子，默认值为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customize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framework     //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自定义算子插件库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op_api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include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aclnn_xx.h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//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声明文件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lib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libcust_opapi.so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op_impl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ai_core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tbe</a:t>
            </a:r>
            <a:endParaRPr lang="en-US" altLang="zh-CN" sz="1000" kern="0" dirty="0">
              <a:solidFill>
                <a:srgbClr val="000000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└──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op_proto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//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自定义算子原型库所在目录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indent="266700">
              <a:lnSpc>
                <a:spcPct val="125000"/>
              </a:lnSpc>
              <a:spcBef>
                <a:spcPts val="600"/>
              </a:spcBef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│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├──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vendor_name2   // 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存储厂商</a:t>
            </a:r>
            <a:r>
              <a:rPr lang="en-US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vendor_name2</a:t>
            </a:r>
            <a:r>
              <a:rPr lang="zh-CN" altLang="zh-CN" sz="10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部署的自定义算子</a:t>
            </a:r>
            <a:endParaRPr lang="zh-CN" altLang="zh-CN" sz="1000" kern="100" dirty="0"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009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AA0C-03D3-D76E-63BD-91E1F039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B11A5C98-4C72-8B1A-C6DA-670757462205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2A6112-8A71-E763-0A4B-44DB6430A00A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892315-EFC9-28AF-418F-0B86838E18CB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809C1F9-1F14-46F6-92AC-6954DC6A779E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212C43-7B20-9ACB-2101-DE4E5E745E7E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16C940D-38D0-DE81-2771-292D0D956C03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9FBEE8-CD28-E7E4-902F-FF39892C9AF8}"/>
              </a:ext>
            </a:extLst>
          </p:cNvPr>
          <p:cNvSpPr txBox="1"/>
          <p:nvPr/>
        </p:nvSpPr>
        <p:spPr>
          <a:xfrm>
            <a:off x="4728943" y="2856782"/>
            <a:ext cx="2698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5BB7EC9-A787-6464-6CD7-896D51D16C0C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FB8E48E-11FA-6BA3-BC5D-156BD663E891}"/>
              </a:ext>
            </a:extLst>
          </p:cNvPr>
          <p:cNvSpPr txBox="1"/>
          <p:nvPr/>
        </p:nvSpPr>
        <p:spPr>
          <a:xfrm>
            <a:off x="4728943" y="3544019"/>
            <a:ext cx="25506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BAD677E-D413-24D5-F98E-15720C785D1B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83AAC5-97A4-ADDC-04D9-DD2142CE82FB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144E2C-458A-1953-E804-9551E99280F2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7E0800-EC0E-1269-E179-ACFA83D8A646}"/>
              </a:ext>
            </a:extLst>
          </p:cNvPr>
          <p:cNvSpPr txBox="1"/>
          <p:nvPr/>
        </p:nvSpPr>
        <p:spPr>
          <a:xfrm>
            <a:off x="4728943" y="4918493"/>
            <a:ext cx="203145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ACC2FA-E61A-D8BB-F02C-0D35A7C6F1B7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0385DA9-24E0-ED11-9B11-6FF95685CD1F}"/>
              </a:ext>
            </a:extLst>
          </p:cNvPr>
          <p:cNvSpPr txBox="1"/>
          <p:nvPr/>
        </p:nvSpPr>
        <p:spPr>
          <a:xfrm>
            <a:off x="4728943" y="5605730"/>
            <a:ext cx="32912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392431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F419-2DBB-45EC-FDC7-82666EDD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5D4E6-402D-2C80-DEB8-669A09E85F69}"/>
              </a:ext>
            </a:extLst>
          </p:cNvPr>
          <p:cNvSpPr txBox="1">
            <a:spLocks/>
          </p:cNvSpPr>
          <p:nvPr/>
        </p:nvSpPr>
        <p:spPr>
          <a:xfrm>
            <a:off x="3339836" y="411900"/>
            <a:ext cx="551708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适配框架与前期流程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35B66-BEC2-8511-D77B-850D1EE3EBAD}"/>
              </a:ext>
            </a:extLst>
          </p:cNvPr>
          <p:cNvSpPr txBox="1">
            <a:spLocks/>
          </p:cNvSpPr>
          <p:nvPr/>
        </p:nvSpPr>
        <p:spPr>
          <a:xfrm>
            <a:off x="2170988" y="2298162"/>
            <a:ext cx="6027737" cy="22753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8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的适配流程，主要包括两个步骤：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算子注册分发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适配插件实现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。而在进行</a:t>
            </a:r>
            <a:r>
              <a:rPr lang="en-US" altLang="zh-CN" sz="18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的适配实现前，需要：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确定已经完成自定义算子的编译部署；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在编译部署时，将编译配置项文件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CMakePresets.json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ENABLE_BINARY_PACKAGE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设置为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True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，将算子的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二进制部署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到当前环境中，便于后续调用；</a:t>
            </a:r>
            <a:endParaRPr lang="en-US" altLang="zh-CN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编译部署后，将算子接口库的路径设置到共享库的查找路径下。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493F6B-1223-F531-3450-3491489C3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207" y="2305007"/>
            <a:ext cx="1585568" cy="2261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2059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EF62-3D45-8FE3-1F74-6D8D2D63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02ED7-2663-737A-0E64-6D5593AFE37B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算子注册开发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5FA94A-E690-25D4-CB3F-6F75B013CE45}"/>
              </a:ext>
            </a:extLst>
          </p:cNvPr>
          <p:cNvSpPr txBox="1">
            <a:spLocks/>
          </p:cNvSpPr>
          <p:nvPr/>
        </p:nvSpPr>
        <p:spPr>
          <a:xfrm>
            <a:off x="950744" y="1847753"/>
            <a:ext cx="4626069" cy="8903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对于自定义算子，由于没有具体的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算子定义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，我们需要在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npu_native_functions.yaml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文件中给出定义，以便对算子进行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结构化解析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从而实现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自动化注册和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Python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接口绑定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562EE9-9D67-3436-5668-CDF7F9C14AA8}"/>
              </a:ext>
            </a:extLst>
          </p:cNvPr>
          <p:cNvSpPr txBox="1"/>
          <p:nvPr/>
        </p:nvSpPr>
        <p:spPr>
          <a:xfrm>
            <a:off x="6160894" y="2527930"/>
            <a:ext cx="5085124" cy="2862322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backend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</a:t>
            </a:r>
          </a:p>
          <a:p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cpp_namespace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at_npu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::native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 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supported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   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add.Tensor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add.Scalar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autograd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   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maxpool2d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 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npu_dtype_cast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(Tensor self,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ScalarType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dtype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-&gt; Tensor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variants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function, method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npu_dtype_cast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_(Tensor(a!) self, Tensor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src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-&gt; Tensor(a!)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variants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method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npu_add_custom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(Tensor x, Tensor y) -&gt; Tensor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</a:t>
            </a:r>
            <a:r>
              <a:rPr lang="en-US" altLang="zh-CN" sz="1000" b="0" dirty="0">
                <a:solidFill>
                  <a:srgbClr val="B5CEA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...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custom_autograd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  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- </a:t>
            </a:r>
            <a:r>
              <a:rPr lang="en-US" altLang="zh-CN" sz="1000" b="0" dirty="0" err="1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func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npu_convolution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(Tensor input, Tensor weight, Tensor? bias, ...) -&gt; Tensor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直接箭头连接符 9">
            <a:extLst>
              <a:ext uri="{FF2B5EF4-FFF2-40B4-BE49-F238E27FC236}">
                <a16:creationId xmlns:a16="http://schemas.microsoft.com/office/drawing/2014/main" id="{0656AD52-B0A8-7AB9-30AB-A1485DC3F4C4}"/>
              </a:ext>
            </a:extLst>
          </p:cNvPr>
          <p:cNvSpPr/>
          <p:nvPr/>
        </p:nvSpPr>
        <p:spPr>
          <a:xfrm flipV="1">
            <a:off x="8101816" y="2351752"/>
            <a:ext cx="612980" cy="410525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44A033-FE92-8E80-E4B9-B3A6C2C09184}"/>
              </a:ext>
            </a:extLst>
          </p:cNvPr>
          <p:cNvSpPr/>
          <p:nvPr/>
        </p:nvSpPr>
        <p:spPr>
          <a:xfrm>
            <a:off x="6160894" y="1847753"/>
            <a:ext cx="5085124" cy="50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声明插件中开发算子的命名空间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570D25-4386-F665-5842-86CEAD1315C3}"/>
              </a:ext>
            </a:extLst>
          </p:cNvPr>
          <p:cNvSpPr/>
          <p:nvPr/>
        </p:nvSpPr>
        <p:spPr>
          <a:xfrm>
            <a:off x="950744" y="3117511"/>
            <a:ext cx="4626069" cy="50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声明已支持</a:t>
            </a:r>
            <a:r>
              <a:rPr lang="zh-CN" altLang="en-US" sz="12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的和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Pytorch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原生函数对齐的算子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C2F015-41CB-0EEA-F009-F52B121192F2}"/>
              </a:ext>
            </a:extLst>
          </p:cNvPr>
          <p:cNvSpPr/>
          <p:nvPr/>
        </p:nvSpPr>
        <p:spPr>
          <a:xfrm>
            <a:off x="950744" y="3707092"/>
            <a:ext cx="4626069" cy="50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声明已支持的和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PyTorch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Huawei Sans"/>
              </a:rPr>
              <a:t>原生函数对齐的具有前反向操作的算子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C0195F-8DC4-4122-17C4-C28CDD89CE0D}"/>
              </a:ext>
            </a:extLst>
          </p:cNvPr>
          <p:cNvSpPr/>
          <p:nvPr/>
        </p:nvSpPr>
        <p:spPr>
          <a:xfrm>
            <a:off x="950744" y="4296672"/>
            <a:ext cx="4626069" cy="50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声明自定义算子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4BEF93-A834-2800-D751-8D6E749FAC85}"/>
              </a:ext>
            </a:extLst>
          </p:cNvPr>
          <p:cNvSpPr/>
          <p:nvPr/>
        </p:nvSpPr>
        <p:spPr>
          <a:xfrm>
            <a:off x="950744" y="4886252"/>
            <a:ext cx="4626069" cy="504000"/>
          </a:xfrm>
          <a:prstGeom prst="rect">
            <a:avLst/>
          </a:prstGeom>
          <a:gradFill>
            <a:gsLst>
              <a:gs pos="0">
                <a:schemeClr val="bg1">
                  <a:lumMod val="20000"/>
                  <a:lumOff val="80000"/>
                  <a:alpha val="50000"/>
                </a:schemeClr>
              </a:gs>
              <a:gs pos="100000">
                <a:schemeClr val="bg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3175">
            <a:gradFill>
              <a:gsLst>
                <a:gs pos="0">
                  <a:schemeClr val="bg1">
                    <a:lumMod val="20000"/>
                    <a:lumOff val="80000"/>
                    <a:alpha val="0"/>
                  </a:schemeClr>
                </a:gs>
                <a:gs pos="100000">
                  <a:schemeClr val="bg1">
                    <a:lumMod val="20000"/>
                    <a:lumOff val="80000"/>
                    <a:alpha val="50000"/>
                  </a:schemeClr>
                </a:gs>
              </a:gsLst>
              <a:lin ang="5400000" scaled="0"/>
            </a:gradFill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600"/>
              </a:spcAft>
            </a:pPr>
            <a:r>
              <a:rPr lang="zh-CN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声明自定义继承自原生函数的自定义算子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Huawei Sans"/>
            </a:endParaRPr>
          </a:p>
        </p:txBody>
      </p:sp>
      <p:sp>
        <p:nvSpPr>
          <p:cNvPr id="7" name="直接箭头连接符 9">
            <a:extLst>
              <a:ext uri="{FF2B5EF4-FFF2-40B4-BE49-F238E27FC236}">
                <a16:creationId xmlns:a16="http://schemas.microsoft.com/office/drawing/2014/main" id="{B96F9CD1-E7F9-77B3-4C26-7A115B61FE46}"/>
              </a:ext>
            </a:extLst>
          </p:cNvPr>
          <p:cNvSpPr/>
          <p:nvPr/>
        </p:nvSpPr>
        <p:spPr>
          <a:xfrm flipH="1">
            <a:off x="5576811" y="3076609"/>
            <a:ext cx="644950" cy="324078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直接箭头连接符 9">
            <a:extLst>
              <a:ext uri="{FF2B5EF4-FFF2-40B4-BE49-F238E27FC236}">
                <a16:creationId xmlns:a16="http://schemas.microsoft.com/office/drawing/2014/main" id="{FDD7EBF0-CF31-2613-90BB-DC598A84AF11}"/>
              </a:ext>
            </a:extLst>
          </p:cNvPr>
          <p:cNvSpPr/>
          <p:nvPr/>
        </p:nvSpPr>
        <p:spPr>
          <a:xfrm flipH="1">
            <a:off x="5576811" y="3707092"/>
            <a:ext cx="644949" cy="242274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直接箭头连接符 9">
            <a:extLst>
              <a:ext uri="{FF2B5EF4-FFF2-40B4-BE49-F238E27FC236}">
                <a16:creationId xmlns:a16="http://schemas.microsoft.com/office/drawing/2014/main" id="{B16A794F-D28B-E089-6C51-A146FE6E4CE6}"/>
              </a:ext>
            </a:extLst>
          </p:cNvPr>
          <p:cNvSpPr/>
          <p:nvPr/>
        </p:nvSpPr>
        <p:spPr>
          <a:xfrm flipH="1">
            <a:off x="5576810" y="4207347"/>
            <a:ext cx="644950" cy="335189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直接箭头连接符 9">
            <a:extLst>
              <a:ext uri="{FF2B5EF4-FFF2-40B4-BE49-F238E27FC236}">
                <a16:creationId xmlns:a16="http://schemas.microsoft.com/office/drawing/2014/main" id="{97CC8340-0540-1E85-0114-48DE8EFDB7F1}"/>
              </a:ext>
            </a:extLst>
          </p:cNvPr>
          <p:cNvSpPr/>
          <p:nvPr/>
        </p:nvSpPr>
        <p:spPr>
          <a:xfrm flipH="1">
            <a:off x="5576810" y="5091215"/>
            <a:ext cx="644951" cy="0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 sz="100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949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80A2-9F40-5880-2C63-C63A63E4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2E63AE-3203-6D81-35F2-FE6008B36897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适配插件开发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0254B8-E9D4-FE70-83F2-3A186339A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513" y="1045637"/>
            <a:ext cx="2172665" cy="5153489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034E13-57DA-456D-D5F5-380BA1917242}"/>
              </a:ext>
            </a:extLst>
          </p:cNvPr>
          <p:cNvSpPr txBox="1">
            <a:spLocks/>
          </p:cNvSpPr>
          <p:nvPr/>
        </p:nvSpPr>
        <p:spPr>
          <a:xfrm>
            <a:off x="935585" y="2080095"/>
            <a:ext cx="6846746" cy="2585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适配插件文件的命名格式一般为：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算子名称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&gt;+&lt;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KernelNpu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&gt;.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cpp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，如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AddCustomKernelNpu.cpp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8F1995-1714-31B1-33C4-70A56C92C08E}"/>
              </a:ext>
            </a:extLst>
          </p:cNvPr>
          <p:cNvSpPr txBox="1"/>
          <p:nvPr/>
        </p:nvSpPr>
        <p:spPr>
          <a:xfrm>
            <a:off x="935585" y="2456233"/>
            <a:ext cx="7514652" cy="2708434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&lt;torch/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csrc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autograd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custom_function.h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torch_npu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csrc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/framework/utils/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OpAdapter.h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torch_npu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csrc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aten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NPUNativeFunctions.h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#include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torch_npu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csrc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aten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/ops/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op_api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000" b="0" dirty="0" err="1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op_api_common.h</a:t>
            </a:r>
            <a:r>
              <a:rPr lang="en-US" altLang="zh-CN" sz="1000" b="0" dirty="0">
                <a:solidFill>
                  <a:srgbClr val="CE9178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at_npu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namespace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native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{</a:t>
            </a: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torch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autograd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::Function;</a:t>
            </a:r>
          </a:p>
          <a:p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using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torch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autograd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AutogradContext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</a:t>
            </a:r>
          </a:p>
          <a:p>
            <a:b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NPUNativeFunctions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npu_add_custom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Tensor</a:t>
            </a:r>
            <a:r>
              <a:rPr lang="en-US" altLang="zh-CN" sz="1000" b="0" dirty="0">
                <a:solidFill>
                  <a:srgbClr val="569CD6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&amp;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000" b="0" dirty="0">
                <a:solidFill>
                  <a:srgbClr val="9CDCFE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{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::Tensor result </a:t>
            </a:r>
            <a:r>
              <a:rPr lang="en-US" altLang="zh-CN" sz="1000" b="0" dirty="0">
                <a:solidFill>
                  <a:srgbClr val="D4D4D4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 </a:t>
            </a:r>
            <a:r>
              <a:rPr lang="en-US" altLang="zh-CN" sz="1000" b="0" dirty="0" err="1">
                <a:solidFill>
                  <a:srgbClr val="4EC9B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OpPreparation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1000" b="0" dirty="0" err="1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ApplyTensor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(x);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DCDCAA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EXEC_NPU_CMD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000" b="0" dirty="0" err="1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aclnnAddCustom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x, y, result);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    </a:t>
            </a:r>
            <a:r>
              <a:rPr lang="en-US" altLang="zh-CN" sz="1000" b="0" dirty="0">
                <a:solidFill>
                  <a:srgbClr val="C586C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return</a:t>
            </a:r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result;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// namespace native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000" b="0" dirty="0">
                <a:solidFill>
                  <a:srgbClr val="CCCCCC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r>
              <a:rPr lang="en-US" altLang="zh-CN" sz="1000" b="0" dirty="0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// namespace </a:t>
            </a:r>
            <a:r>
              <a:rPr lang="en-US" altLang="zh-CN" sz="1000" b="0" dirty="0" err="1">
                <a:solidFill>
                  <a:srgbClr val="6A9955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at_npu</a:t>
            </a:r>
            <a:endParaRPr lang="en-US" altLang="zh-CN" sz="1000" b="0" dirty="0">
              <a:solidFill>
                <a:srgbClr val="CCCCCC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直接箭头连接符 9">
            <a:extLst>
              <a:ext uri="{FF2B5EF4-FFF2-40B4-BE49-F238E27FC236}">
                <a16:creationId xmlns:a16="http://schemas.microsoft.com/office/drawing/2014/main" id="{8175FD59-F495-A3B2-DD60-B85D62396DED}"/>
              </a:ext>
            </a:extLst>
          </p:cNvPr>
          <p:cNvSpPr/>
          <p:nvPr/>
        </p:nvSpPr>
        <p:spPr>
          <a:xfrm>
            <a:off x="4239276" y="2878957"/>
            <a:ext cx="5141344" cy="267420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" name="直接箭头连接符 9">
            <a:extLst>
              <a:ext uri="{FF2B5EF4-FFF2-40B4-BE49-F238E27FC236}">
                <a16:creationId xmlns:a16="http://schemas.microsoft.com/office/drawing/2014/main" id="{84851A78-898B-BF72-B0BB-224D44C6C8BF}"/>
              </a:ext>
            </a:extLst>
          </p:cNvPr>
          <p:cNvSpPr/>
          <p:nvPr/>
        </p:nvSpPr>
        <p:spPr>
          <a:xfrm flipV="1">
            <a:off x="6326869" y="4026273"/>
            <a:ext cx="3053751" cy="117973"/>
          </a:xfrm>
          <a:prstGeom prst="line">
            <a:avLst/>
          </a:prstGeom>
          <a:ln w="12700">
            <a:solidFill>
              <a:srgbClr val="C0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8321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5EACE-4BB0-5386-86A1-A5CA001A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3319BBB3-E45F-4F1B-7460-8342E97D7E1B}"/>
              </a:ext>
            </a:extLst>
          </p:cNvPr>
          <p:cNvSpPr txBox="1">
            <a:spLocks/>
          </p:cNvSpPr>
          <p:nvPr/>
        </p:nvSpPr>
        <p:spPr>
          <a:xfrm>
            <a:off x="5185309" y="411900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本章内容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6565032-BC25-E485-229C-64ACBC117320}"/>
              </a:ext>
            </a:extLst>
          </p:cNvPr>
          <p:cNvSpPr/>
          <p:nvPr/>
        </p:nvSpPr>
        <p:spPr>
          <a:xfrm>
            <a:off x="4176534" y="1438374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2E4D8E-9AE9-1A08-E8BC-61CA6EAE73C9}"/>
              </a:ext>
            </a:extLst>
          </p:cNvPr>
          <p:cNvSpPr txBox="1"/>
          <p:nvPr/>
        </p:nvSpPr>
        <p:spPr>
          <a:xfrm>
            <a:off x="4728943" y="1482308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算子开发流程概述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829FC94-C1F6-1C77-93BB-40C87E43B43A}"/>
              </a:ext>
            </a:extLst>
          </p:cNvPr>
          <p:cNvSpPr/>
          <p:nvPr/>
        </p:nvSpPr>
        <p:spPr>
          <a:xfrm>
            <a:off x="4176534" y="2125611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983314-B99A-0BB5-00AF-2B8EA93F8E3E}"/>
              </a:ext>
            </a:extLst>
          </p:cNvPr>
          <p:cNvSpPr txBox="1"/>
          <p:nvPr/>
        </p:nvSpPr>
        <p:spPr>
          <a:xfrm>
            <a:off x="4728943" y="2169545"/>
            <a:ext cx="203132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自动生成算子工程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E6C0E41-1FC4-7C09-747C-0747BF2DE458}"/>
              </a:ext>
            </a:extLst>
          </p:cNvPr>
          <p:cNvSpPr/>
          <p:nvPr/>
        </p:nvSpPr>
        <p:spPr>
          <a:xfrm>
            <a:off x="4176534" y="2812848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E7F9C37-A47C-736E-F2EC-57A94DEE12B3}"/>
              </a:ext>
            </a:extLst>
          </p:cNvPr>
          <p:cNvSpPr txBox="1"/>
          <p:nvPr/>
        </p:nvSpPr>
        <p:spPr>
          <a:xfrm>
            <a:off x="4728943" y="2856782"/>
            <a:ext cx="26981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Kernel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030F133-E3BB-3817-E746-F5019E677898}"/>
              </a:ext>
            </a:extLst>
          </p:cNvPr>
          <p:cNvSpPr/>
          <p:nvPr/>
        </p:nvSpPr>
        <p:spPr>
          <a:xfrm>
            <a:off x="4176534" y="3500085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19D208-BCB5-8805-60DB-473E2D15870C}"/>
              </a:ext>
            </a:extLst>
          </p:cNvPr>
          <p:cNvSpPr txBox="1"/>
          <p:nvPr/>
        </p:nvSpPr>
        <p:spPr>
          <a:xfrm>
            <a:off x="4728943" y="3544019"/>
            <a:ext cx="25506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算子开发流程：</a:t>
            </a:r>
            <a:r>
              <a:rPr lang="en-US" altLang="zh-CN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Host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侧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4161A4D-A4C5-4175-B619-734CE4A67C84}"/>
              </a:ext>
            </a:extLst>
          </p:cNvPr>
          <p:cNvSpPr/>
          <p:nvPr/>
        </p:nvSpPr>
        <p:spPr>
          <a:xfrm>
            <a:off x="4176534" y="4187322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962E26-99FF-3767-0034-83A0EADDB845}"/>
              </a:ext>
            </a:extLst>
          </p:cNvPr>
          <p:cNvSpPr txBox="1"/>
          <p:nvPr/>
        </p:nvSpPr>
        <p:spPr>
          <a:xfrm>
            <a:off x="4728943" y="4231256"/>
            <a:ext cx="22621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算子工程的编译部署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09D9412-48DF-2575-C69F-EB7DF3E628AB}"/>
              </a:ext>
            </a:extLst>
          </p:cNvPr>
          <p:cNvSpPr/>
          <p:nvPr/>
        </p:nvSpPr>
        <p:spPr>
          <a:xfrm>
            <a:off x="4176534" y="4874559"/>
            <a:ext cx="457200" cy="457200"/>
          </a:xfrm>
          <a:prstGeom prst="roundRect">
            <a:avLst/>
          </a:prstGeom>
          <a:solidFill>
            <a:schemeClr val="bg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zh-CN" altLang="en-US" b="1" dirty="0">
              <a:solidFill>
                <a:schemeClr val="bg1">
                  <a:lumMod val="60000"/>
                  <a:lumOff val="4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B139E8-B689-0995-B7DC-C1C5AE7CE255}"/>
              </a:ext>
            </a:extLst>
          </p:cNvPr>
          <p:cNvSpPr txBox="1"/>
          <p:nvPr/>
        </p:nvSpPr>
        <p:spPr>
          <a:xfrm>
            <a:off x="4728943" y="4918493"/>
            <a:ext cx="1968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FF2600"/>
                </a:solidFill>
              </a:defRPr>
            </a:pPr>
            <a:r>
              <a:rPr lang="en-US" altLang="zh-CN" sz="1800" dirty="0" err="1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dirty="0">
                <a:solidFill>
                  <a:schemeClr val="bg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7A86055-07A7-2F77-B02B-701B75FBF98A}"/>
              </a:ext>
            </a:extLst>
          </p:cNvPr>
          <p:cNvSpPr/>
          <p:nvPr/>
        </p:nvSpPr>
        <p:spPr>
          <a:xfrm>
            <a:off x="4176534" y="5561796"/>
            <a:ext cx="457200" cy="4572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38B0A3-34A5-FE8A-4A2E-F2E2F1123955}"/>
              </a:ext>
            </a:extLst>
          </p:cNvPr>
          <p:cNvSpPr txBox="1"/>
          <p:nvPr/>
        </p:nvSpPr>
        <p:spPr>
          <a:xfrm>
            <a:off x="4728943" y="5605730"/>
            <a:ext cx="33297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42915" indent="-822915">
              <a:buSzTx/>
              <a:buNone/>
              <a:defRPr sz="3600">
                <a:solidFill>
                  <a:srgbClr val="0433FF"/>
                </a:solidFill>
              </a:defRPr>
            </a:pP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算子在整网中的替换</a:t>
            </a:r>
          </a:p>
        </p:txBody>
      </p:sp>
    </p:spTree>
    <p:extLst>
      <p:ext uri="{BB962C8B-B14F-4D97-AF65-F5344CB8AC3E}">
        <p14:creationId xmlns:p14="http://schemas.microsoft.com/office/powerpoint/2010/main" val="297586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E0C2-3E9D-E243-18A2-1D2E54ED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53792-D613-E99A-CD85-EAF782CCD6BC}"/>
              </a:ext>
            </a:extLst>
          </p:cNvPr>
          <p:cNvSpPr txBox="1">
            <a:spLocks/>
          </p:cNvSpPr>
          <p:nvPr/>
        </p:nvSpPr>
        <p:spPr>
          <a:xfrm>
            <a:off x="2405990" y="411900"/>
            <a:ext cx="7384779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适配昇腾芯片的</a:t>
            </a: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PyTorch-YOLOV3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网络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3488F9-ACD9-4F48-7288-545724ACF16E}"/>
              </a:ext>
            </a:extLst>
          </p:cNvPr>
          <p:cNvSpPr txBox="1">
            <a:spLocks/>
          </p:cNvSpPr>
          <p:nvPr/>
        </p:nvSpPr>
        <p:spPr>
          <a:xfrm>
            <a:off x="1503726" y="2954313"/>
            <a:ext cx="9189310" cy="1520096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本节将展示一个</a:t>
            </a:r>
            <a:r>
              <a:rPr lang="en-US" altLang="zh-CN" sz="18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算子调用样例。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在已经对昇腾芯片进行适配的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PyTorch-YOLOV3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网络中，将其中的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加法算子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替换成使用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Ascend C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实现的</a:t>
            </a: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自定义加法算子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endParaRPr lang="en-US" altLang="zh-CN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适配昇腾芯片的</a:t>
            </a:r>
            <a:r>
              <a:rPr lang="en-US" altLang="zh-CN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PyTorch-YOLOV3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网络获取网址：</a:t>
            </a:r>
            <a:endParaRPr lang="en-US" altLang="zh-CN" sz="1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https://gitee.com/ascend/ModelZoo-PyTorch/tree/master/PyTorch/built-in/cv/detection/YoloV3_ID1790_for_PyTorch</a:t>
            </a:r>
            <a:endParaRPr lang="zh-CN" altLang="en-US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190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E9E7F-8B46-AF80-3A11-9089FCAB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31AE2-0152-0512-B9CA-598AC74E7A0C}"/>
              </a:ext>
            </a:extLst>
          </p:cNvPr>
          <p:cNvSpPr txBox="1">
            <a:spLocks/>
          </p:cNvSpPr>
          <p:nvPr/>
        </p:nvSpPr>
        <p:spPr>
          <a:xfrm>
            <a:off x="3749019" y="411900"/>
            <a:ext cx="4698722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算子工程开发及编译部署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C1E9E8-81A6-340E-300B-16A498ED5A58}"/>
              </a:ext>
            </a:extLst>
          </p:cNvPr>
          <p:cNvGrpSpPr/>
          <p:nvPr/>
        </p:nvGrpSpPr>
        <p:grpSpPr>
          <a:xfrm>
            <a:off x="2535386" y="2178617"/>
            <a:ext cx="7125990" cy="2875531"/>
            <a:chOff x="3105254" y="1980209"/>
            <a:chExt cx="7125990" cy="2875531"/>
          </a:xfrm>
        </p:grpSpPr>
        <p:sp>
          <p:nvSpPr>
            <p:cNvPr id="3" name="文本占位符 2">
              <a:extLst>
                <a:ext uri="{FF2B5EF4-FFF2-40B4-BE49-F238E27FC236}">
                  <a16:creationId xmlns:a16="http://schemas.microsoft.com/office/drawing/2014/main" id="{461A2B36-666D-5206-BFF3-E64AFC4F7276}"/>
                </a:ext>
              </a:extLst>
            </p:cNvPr>
            <p:cNvSpPr txBox="1">
              <a:spLocks/>
            </p:cNvSpPr>
            <p:nvPr/>
          </p:nvSpPr>
          <p:spPr>
            <a:xfrm>
              <a:off x="3105254" y="1980209"/>
              <a:ext cx="7125990" cy="287553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96950" indent="-296950" algn="l" defTabSz="1187798" rtl="0" eaLnBrk="1" latinLnBrk="0" hangingPunct="1">
                <a:lnSpc>
                  <a:spcPct val="90000"/>
                </a:lnSpc>
                <a:spcBef>
                  <a:spcPts val="1299"/>
                </a:spcBef>
                <a:buFont typeface="Arial" panose="020B0604020202020204" pitchFamily="34" charset="0"/>
                <a:buChar char="•"/>
                <a:defRPr sz="363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90849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31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484748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5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078648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672547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66447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860346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454245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048144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使用的算子工程即为前文已经完整介绍的加法算子</a:t>
              </a:r>
              <a:r>
                <a:rPr lang="en-US" altLang="zh-CN" sz="1200" b="1" dirty="0" err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AddCustom</a:t>
              </a:r>
              <a:r>
                <a:rPr lang="zh-CN" altLang="en-US" sz="12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完整工程样例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。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YOLOV3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网络中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add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算子的输入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shape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较大，需调整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tiling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策略以满足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Kernel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中单核数据大小处理要求。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对原工程中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host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侧</a:t>
              </a:r>
              <a:r>
                <a:rPr lang="en-US" altLang="zh-CN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tiling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实现代码进行修改：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indent="0">
                <a:lnSpc>
                  <a:spcPct val="170000"/>
                </a:lnSpc>
                <a:spcBef>
                  <a:spcPts val="0"/>
                </a:spcBef>
                <a:buNone/>
              </a:pP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>
                <a:lnSpc>
                  <a:spcPct val="170000"/>
                </a:lnSpc>
                <a:spcBef>
                  <a:spcPts val="0"/>
                </a:spcBef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其余内容不需要修改。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B29F969-7F25-DF4D-2EFC-D3B7B475F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9581" y="3016156"/>
              <a:ext cx="4495566" cy="14431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8896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253E-E384-AD6C-0B05-49EF65DC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AB58F7-886C-D2FF-0D4E-1875C14F2652}"/>
              </a:ext>
            </a:extLst>
          </p:cNvPr>
          <p:cNvSpPr txBox="1">
            <a:spLocks/>
          </p:cNvSpPr>
          <p:nvPr/>
        </p:nvSpPr>
        <p:spPr>
          <a:xfrm>
            <a:off x="3955389" y="411900"/>
            <a:ext cx="42859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适配插件开发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933341-2495-3DDD-5DCA-C3A241EDFEF0}"/>
              </a:ext>
            </a:extLst>
          </p:cNvPr>
          <p:cNvSpPr txBox="1">
            <a:spLocks/>
          </p:cNvSpPr>
          <p:nvPr/>
        </p:nvSpPr>
        <p:spPr>
          <a:xfrm>
            <a:off x="2587195" y="2820813"/>
            <a:ext cx="7022372" cy="75187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算子接口库路径设置：</a:t>
            </a:r>
            <a:endParaRPr lang="en-US" altLang="zh-CN" sz="18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算子工程编译部署后，执行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脚本前，需要将算子接口库的路径设置到共享库的查找路径中。</a:t>
            </a:r>
            <a:endParaRPr lang="en-US" altLang="zh-CN" sz="1200" dirty="0">
              <a:solidFill>
                <a:srgbClr val="0432FF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346AAA-3678-DB3B-6CE0-A66CFEECC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370" y="3746712"/>
            <a:ext cx="6882022" cy="2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16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E3F7-B543-F84F-7CA0-DC5B0508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038F3-7EE6-C100-02A4-36A5BBDB05C9}"/>
              </a:ext>
            </a:extLst>
          </p:cNvPr>
          <p:cNvSpPr txBox="1">
            <a:spLocks/>
          </p:cNvSpPr>
          <p:nvPr/>
        </p:nvSpPr>
        <p:spPr>
          <a:xfrm>
            <a:off x="3955389" y="411900"/>
            <a:ext cx="42859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适配插件开发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62836E9-BB2A-C750-BA7C-797E4A28EED6}"/>
              </a:ext>
            </a:extLst>
          </p:cNvPr>
          <p:cNvGrpSpPr/>
          <p:nvPr/>
        </p:nvGrpSpPr>
        <p:grpSpPr>
          <a:xfrm>
            <a:off x="2587195" y="2390170"/>
            <a:ext cx="7022372" cy="2422202"/>
            <a:chOff x="3139718" y="1650717"/>
            <a:chExt cx="7022372" cy="2422202"/>
          </a:xfrm>
        </p:grpSpPr>
        <p:sp>
          <p:nvSpPr>
            <p:cNvPr id="3" name="文本占位符 2">
              <a:extLst>
                <a:ext uri="{FF2B5EF4-FFF2-40B4-BE49-F238E27FC236}">
                  <a16:creationId xmlns:a16="http://schemas.microsoft.com/office/drawing/2014/main" id="{7AB132CA-AE8A-EEE2-9438-C378863CE1A1}"/>
                </a:ext>
              </a:extLst>
            </p:cNvPr>
            <p:cNvSpPr txBox="1">
              <a:spLocks/>
            </p:cNvSpPr>
            <p:nvPr/>
          </p:nvSpPr>
          <p:spPr>
            <a:xfrm>
              <a:off x="3139718" y="1650717"/>
              <a:ext cx="7022372" cy="2422202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 marL="296950" indent="-296950" algn="l" defTabSz="1187798" rtl="0" eaLnBrk="1" latinLnBrk="0" hangingPunct="1">
                <a:lnSpc>
                  <a:spcPct val="90000"/>
                </a:lnSpc>
                <a:spcBef>
                  <a:spcPts val="1299"/>
                </a:spcBef>
                <a:buFont typeface="Arial" panose="020B0604020202020204" pitchFamily="34" charset="0"/>
                <a:buChar char="•"/>
                <a:defRPr sz="363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90849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311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484748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59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078648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672547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266447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860346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454245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5048144" indent="-296950" algn="l" defTabSz="1187798" rtl="0" eaLnBrk="1" latinLnBrk="0" hangingPunct="1">
                <a:lnSpc>
                  <a:spcPct val="90000"/>
                </a:lnSpc>
                <a:spcBef>
                  <a:spcPts val="650"/>
                </a:spcBef>
                <a:buFont typeface="Arial" panose="020B0604020202020204" pitchFamily="34" charset="0"/>
                <a:buChar char="•"/>
                <a:defRPr sz="233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26000" indent="-126000"/>
              <a:r>
                <a:rPr lang="zh-CN" altLang="en-US" sz="1800" b="1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算子接口库路径设置：</a:t>
              </a:r>
              <a:endPara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0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算子工程编译部署后，执行</a:t>
              </a:r>
              <a:r>
                <a:rPr lang="en-US" altLang="zh-CN" sz="1200" dirty="0" err="1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PyTorch</a:t>
              </a: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脚本前，需要将算子接口库的路径设置到共享库的查找路径中。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0" indent="0">
                <a:buNone/>
              </a:pP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-126000"/>
              <a:r>
                <a:rPr lang="zh-CN" altLang="en-US" sz="1800" b="1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安装适配昇腾芯片的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PyTorch</a:t>
              </a:r>
              <a:r>
                <a:rPr lang="zh-CN" altLang="en-US" sz="1800" b="1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环境，并获取</a:t>
              </a:r>
              <a:r>
                <a:rPr lang="en-US" altLang="zh-CN" sz="1800" b="1" dirty="0" err="1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OpPlugin</a:t>
              </a:r>
              <a:r>
                <a:rPr lang="zh-CN" altLang="en-US" sz="1800" b="1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插件。</a:t>
              </a:r>
              <a:endPara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0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适配昇腾芯片</a:t>
              </a:r>
              <a:r>
                <a:rPr lang="en-US" altLang="zh-CN" sz="1200" dirty="0" err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PyTorch</a:t>
              </a:r>
              <a:r>
                <a:rPr lang="zh-CN" altLang="en-US" sz="12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安装：</a:t>
              </a:r>
              <a:r>
                <a:rPr lang="en-US" altLang="zh-CN" sz="1200" dirty="0">
                  <a:solidFill>
                    <a:srgbClr val="C7000B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README.zh.md · Ascend/</a:t>
              </a:r>
              <a:r>
                <a:rPr lang="en-US" altLang="zh-CN" sz="1200" dirty="0" err="1">
                  <a:solidFill>
                    <a:srgbClr val="C7000B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pytorch</a:t>
              </a:r>
              <a:r>
                <a:rPr lang="en-US" altLang="zh-CN" sz="12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- Gitee.com</a:t>
              </a:r>
              <a:endPara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0">
                <a:buFont typeface="Arial" panose="020B0604020202020204" pitchFamily="34" charset="0"/>
                <a:buNone/>
              </a:pPr>
              <a:r>
                <a:rPr lang="en-US" altLang="zh-CN" sz="1200" dirty="0" err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OpPlugin</a:t>
              </a:r>
              <a:r>
                <a:rPr lang="zh-CN" altLang="en-US" sz="12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插件安装：</a:t>
              </a:r>
              <a:r>
                <a:rPr lang="en-US" altLang="zh-CN" sz="1200" dirty="0">
                  <a:solidFill>
                    <a:srgbClr val="C7000B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op-plugin: </a:t>
              </a:r>
              <a:r>
                <a:rPr lang="en-US" altLang="zh-CN" sz="1200" dirty="0" err="1">
                  <a:solidFill>
                    <a:srgbClr val="C7000B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OpPlugin</a:t>
              </a:r>
              <a:r>
                <a:rPr lang="en-US" altLang="zh-CN" sz="1200" dirty="0">
                  <a:solidFill>
                    <a:srgbClr val="C7000B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of Ascend Extension for </a:t>
              </a:r>
              <a:r>
                <a:rPr lang="en-US" altLang="zh-CN" sz="1200" dirty="0" err="1">
                  <a:solidFill>
                    <a:srgbClr val="C7000B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PyTorch</a:t>
              </a:r>
              <a:r>
                <a:rPr lang="en-US" altLang="zh-CN" sz="120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(gitee.com)</a:t>
              </a:r>
              <a:endParaRPr lang="en-US" altLang="zh-CN" sz="12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26000" indent="0">
                <a:buFont typeface="Arial" panose="020B0604020202020204" pitchFamily="34" charset="0"/>
                <a:buNone/>
              </a:pPr>
              <a:r>
                <a:rPr lang="zh-CN" altLang="en-US" sz="12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按照内容进行编译安装</a:t>
              </a:r>
              <a:endPara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4C1C19D-AD68-A9A2-B526-7226DA7BD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1516" y="2338884"/>
              <a:ext cx="6433586" cy="271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1268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246B-4B4F-81F8-EEA0-E4C9115A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D2D89-A4C8-CE11-F329-306D4A99E8B9}"/>
              </a:ext>
            </a:extLst>
          </p:cNvPr>
          <p:cNvSpPr txBox="1">
            <a:spLocks/>
          </p:cNvSpPr>
          <p:nvPr/>
        </p:nvSpPr>
        <p:spPr>
          <a:xfrm>
            <a:off x="3955389" y="411900"/>
            <a:ext cx="42859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适配插件开发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988A2D-01F2-39F7-BA86-623EB9D86F8A}"/>
              </a:ext>
            </a:extLst>
          </p:cNvPr>
          <p:cNvSpPr txBox="1">
            <a:spLocks/>
          </p:cNvSpPr>
          <p:nvPr/>
        </p:nvSpPr>
        <p:spPr>
          <a:xfrm>
            <a:off x="1767002" y="1648519"/>
            <a:ext cx="8662758" cy="14443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实现算子适配插件文件：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用户通过开发算子适配插件，实现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原生算子的输入参数、输出参数和属性的格式转换，使转换后的格式与自定义算子的输入参数、输出参数和属性的格式相同。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针对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算子，其算子适配插件文件为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AddCustomKernelNpu.cpp</a:t>
            </a: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op-plugin/build/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third_party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/op-plugin/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op_plugin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/ops/v1r11/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opapi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目录下，新建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AddCustomKernelNpu.cpp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文件并实现算子适配插件文件主体函数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C6F65D-D12A-89A4-7E0A-115C5CAC0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758" y="3290089"/>
            <a:ext cx="5419246" cy="252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5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6A0E-587D-FA7D-B320-8B275417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59657-45CD-A4BF-E63C-1852E780BAE4}"/>
              </a:ext>
            </a:extLst>
          </p:cNvPr>
          <p:cNvSpPr txBox="1">
            <a:spLocks/>
          </p:cNvSpPr>
          <p:nvPr/>
        </p:nvSpPr>
        <p:spPr>
          <a:xfrm>
            <a:off x="3955389" y="411900"/>
            <a:ext cx="42859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zh-CN" sz="32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适配插件开发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0F364007-CBDB-9ABF-AA81-AB269C60251B}"/>
              </a:ext>
            </a:extLst>
          </p:cNvPr>
          <p:cNvSpPr txBox="1">
            <a:spLocks/>
          </p:cNvSpPr>
          <p:nvPr/>
        </p:nvSpPr>
        <p:spPr>
          <a:xfrm>
            <a:off x="3373116" y="2682497"/>
            <a:ext cx="5450531" cy="2585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编译插件及安装：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进入到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op-plugin/build/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pytorch</a:t>
            </a:r>
            <a:r>
              <a:rPr lang="zh-CN" altLang="en-US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文件夹中，进行编译及安装</a:t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FFCB16-AE0F-55CB-6E7F-6E729592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13" y="3198471"/>
            <a:ext cx="3759730" cy="68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29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A12AD-B91A-9460-0E49-66C2372FE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B737A-C37D-8FF8-60B7-9D9A82C3A795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整网算子替换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522F46-385C-4F6D-CB75-0D1A47634800}"/>
              </a:ext>
            </a:extLst>
          </p:cNvPr>
          <p:cNvSpPr txBox="1">
            <a:spLocks/>
          </p:cNvSpPr>
          <p:nvPr/>
        </p:nvSpPr>
        <p:spPr>
          <a:xfrm>
            <a:off x="2973006" y="2128931"/>
            <a:ext cx="6250750" cy="1028871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梳理需要替换的</a:t>
            </a:r>
            <a:r>
              <a:rPr lang="zh-CN" altLang="en-US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加法</a:t>
            </a:r>
            <a:r>
              <a:rPr lang="en-US" altLang="zh-CN" sz="18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算子：</a:t>
            </a: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例如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YOLOV3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网络中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backbone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模块使用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Darknet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结构，用到的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ResBlock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块就用到了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26000" indent="-126000">
              <a:lnSpc>
                <a:spcPct val="150000"/>
              </a:lnSpc>
              <a:spcBef>
                <a:spcPts val="0"/>
              </a:spcBef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文件目录为：</a:t>
            </a:r>
            <a:r>
              <a:rPr lang="sv-SE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./mmdet/models/backbones/darknet.py</a:t>
            </a:r>
            <a:endParaRPr lang="en-US" altLang="zh-CN" sz="12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09250F-6667-4BA1-E367-1B61D75C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47" y="3299175"/>
            <a:ext cx="2477669" cy="153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85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E67C-FD67-9957-89AD-D84ECAEE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98AE7-A906-7392-FE7E-102444400596}"/>
              </a:ext>
            </a:extLst>
          </p:cNvPr>
          <p:cNvSpPr txBox="1">
            <a:spLocks/>
          </p:cNvSpPr>
          <p:nvPr/>
        </p:nvSpPr>
        <p:spPr>
          <a:xfrm>
            <a:off x="4774941" y="411900"/>
            <a:ext cx="2646878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defTabSz="118779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716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整网算子替换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9A1B3-B6C0-6292-5E02-AEA96DC0D06D}"/>
              </a:ext>
            </a:extLst>
          </p:cNvPr>
          <p:cNvSpPr txBox="1">
            <a:spLocks/>
          </p:cNvSpPr>
          <p:nvPr/>
        </p:nvSpPr>
        <p:spPr>
          <a:xfrm>
            <a:off x="2860957" y="2185191"/>
            <a:ext cx="6474849" cy="674544"/>
          </a:xfrm>
          <a:prstGeom prst="rect">
            <a:avLst/>
          </a:prstGeom>
        </p:spPr>
        <p:txBody>
          <a:bodyPr wrap="none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lang="en-US" altLang="zh-CN" sz="18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AddCustom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算子进行替换：</a:t>
            </a:r>
            <a:endParaRPr lang="en-US" altLang="zh-CN" sz="18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lang="en-US" altLang="zh-CN" sz="1200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torch_npu.npu_add_custom</a:t>
            </a:r>
            <a:r>
              <a:rPr lang="en-US" altLang="zh-CN" sz="12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(x, y)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接口调用自定义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add_custom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算子替换原有的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add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算子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E184C9-9BCE-6506-6BA8-16DEE03E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166" y="3105959"/>
            <a:ext cx="4146430" cy="177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224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77E3B732-DDF7-4011-B681-28F511DF8898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002891D3-441F-4843-9EAC-D44E0F2301F5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4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AFFA82CF-250F-4604-B0DF-1F7FF8D5115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1456</TotalTime>
  <Words>4867</Words>
  <Application>Microsoft Office PowerPoint</Application>
  <PresentationFormat>自定义</PresentationFormat>
  <Paragraphs>567</Paragraphs>
  <Slides>41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.AppleSystemUIFont</vt:lpstr>
      <vt:lpstr>微软雅黑</vt:lpstr>
      <vt:lpstr>微软雅黑</vt:lpstr>
      <vt:lpstr>Arial</vt:lpstr>
      <vt:lpstr>Calibri</vt:lpstr>
      <vt:lpstr>封面页_图片版 </vt:lpstr>
      <vt:lpstr>目录页</vt:lpstr>
      <vt:lpstr>章节页</vt:lpstr>
      <vt:lpstr>1_自定义设计方案</vt:lpstr>
      <vt:lpstr>结束页</vt:lpstr>
      <vt:lpstr>第4章 Ascend C算子开发流程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yusi (A)</dc:creator>
  <cp:lastModifiedBy>a92190</cp:lastModifiedBy>
  <cp:revision>89</cp:revision>
  <dcterms:created xsi:type="dcterms:W3CDTF">2022-02-10T15:02:30Z</dcterms:created>
  <dcterms:modified xsi:type="dcterms:W3CDTF">2024-12-04T02:21:57Z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(3)C96Z1hAKosym6EbdFlMCzRXUHiiwYE22PTU1N8/Nz2n/qDo6LJV7WzI53aocoscGy5cfQZpr
EMvDwD4llbAKwgozTlti4TwFVN2DturZbkcHevYO7h/StlxEiPmHEJ/4XH1O6vVS07brnKZD
WMeEhWuDu9x4s8CxTI9+bXJPVn9sarFCjeBytrONxqof7kh4d1rCLD9esbc6gh2kL9x4RRTj
b/cP7mJscMHv0GK31U</vt:lpwstr>
  </property>
  <property fmtid="{D5CDD505-2E9C-101B-9397-08002B2CF9AE}" pid="3" name="_2015_ms_pID_7253431">
    <vt:lpwstr>+G7EV3gMKk658DH/eee45Z3t+vtmf8yh0lsvSKv6yLCRbWNMnpX0U1
xzYAty90ETFfGfibDhssu0Mva4SxzXSoKPgcTG5SZxqTOweKBnPBV6d6kCN4pINXKT7ZUsPD
qU0gn8I9MQS1tysBDuxN1sc9883rAdqB86/EN1Okg0Kl9588Lz22Blx16F17zwlzeUmT4/7k
I1MM5cTLYYSisKizyYuH7Yb1BtTNmM+xcfle</vt:lpwstr>
  </property>
  <property fmtid="{D5CDD505-2E9C-101B-9397-08002B2CF9AE}" pid="4" name="_2015_ms_pID_7253432">
    <vt:lpwstr>2UHHCpPJjfFv3TbGNdgTG/Q=</vt:lpwstr>
  </property>
</Properties>
</file>